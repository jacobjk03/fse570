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embeddedFontLst>
    <p:embeddedFont>
      <p:font typeface="Liter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zgTAeJZ0tpFygTwiplJmecikd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Liter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" name="Google Shape;10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" name="Google Shape;21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0" name="Google Shape;32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0" name="Google Shape;37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5" name="Google Shape;415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4" name="Google Shape;474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bg>
      <p:bgPr>
        <a:solidFill>
          <a:srgbClr val="FFFFFF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images.stockcake.com/321b25537b93caf234c56745b055a7c5f86a0ab1.jpg" id="13" name="Google Shape;13;p1"/>
          <p:cNvPicPr preferRelativeResize="0"/>
          <p:nvPr/>
        </p:nvPicPr>
        <p:blipFill rotWithShape="1">
          <a:blip r:embed="rId3">
            <a:alphaModFix amt="20000"/>
          </a:blip>
          <a:srcRect b="21874" l="0" r="0" t="21875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4" name="Google Shape;14;p1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FFFFFF">
                  <a:alpha val="94901"/>
                </a:srgbClr>
              </a:gs>
              <a:gs pos="50000">
                <a:srgbClr val="FFFFFF">
                  <a:alpha val="89803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990600" y="781050"/>
            <a:ext cx="2219325" cy="381000"/>
          </a:xfrm>
          <a:custGeom>
            <a:rect b="b" l="l" r="r" t="t"/>
            <a:pathLst>
              <a:path extrusionOk="0" h="381000" w="2219325">
                <a:moveTo>
                  <a:pt x="190500" y="0"/>
                </a:moveTo>
                <a:lnTo>
                  <a:pt x="2028825" y="0"/>
                </a:lnTo>
                <a:cubicBezTo>
                  <a:pt x="2133965" y="0"/>
                  <a:pt x="2219325" y="85360"/>
                  <a:pt x="2219325" y="190500"/>
                </a:cubicBezTo>
                <a:lnTo>
                  <a:pt x="2219325" y="190500"/>
                </a:lnTo>
                <a:cubicBezTo>
                  <a:pt x="2219325" y="295640"/>
                  <a:pt x="2133965" y="381000"/>
                  <a:pt x="2028825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7AFF">
              <a:alpha val="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1143000" y="881063"/>
            <a:ext cx="198149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7AFF"/>
                </a:solidFill>
                <a:latin typeface="Liter"/>
                <a:ea typeface="Liter"/>
                <a:cs typeface="Liter"/>
                <a:sym typeface="Liter"/>
              </a:rPr>
              <a:t>AI-Powered Intelligence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990600" y="1695450"/>
            <a:ext cx="6391275" cy="2571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Autonomous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OSINT Investigation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Swarm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990600" y="4495800"/>
            <a:ext cx="56007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Transforming weeks of manual research into minutes of autonomous analysis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990600" y="5695950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7AFF">
              <a:alpha val="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097756" y="5800725"/>
            <a:ext cx="171450" cy="171450"/>
          </a:xfrm>
          <a:custGeom>
            <a:rect b="b" l="l" r="r" t="t"/>
            <a:pathLst>
              <a:path extrusionOk="0" h="171450" w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007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485900" y="5791200"/>
            <a:ext cx="15335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Multi-Agent Architecture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259857" y="5695950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856D6">
              <a:alpha val="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367013" y="5800725"/>
            <a:ext cx="171450" cy="171450"/>
          </a:xfrm>
          <a:custGeom>
            <a:rect b="b" l="l" r="r" t="t"/>
            <a:pathLst>
              <a:path extrusionOk="0" h="171450" w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5856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755157" y="5791200"/>
            <a:ext cx="1666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Court-Admissible Evidence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7AFF"/>
                </a:solidFill>
                <a:latin typeface="Liter"/>
                <a:ea typeface="Liter"/>
                <a:cs typeface="Liter"/>
                <a:sym typeface="Liter"/>
              </a:rPr>
              <a:t>Navigation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Overview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81000" y="1524000"/>
            <a:ext cx="533400" cy="533400"/>
          </a:xfrm>
          <a:custGeom>
            <a:rect b="b" l="l" r="r" t="t"/>
            <a:pathLst>
              <a:path extrusionOk="0" h="533400" w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>
            <a:gsLst>
              <a:gs pos="0">
                <a:srgbClr val="007AFF"/>
              </a:gs>
              <a:gs pos="100000">
                <a:srgbClr val="5856D6"/>
              </a:gs>
            </a:gsLst>
            <a:lin ang="2700000" scaled="0"/>
          </a:gra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33375" y="1524000"/>
            <a:ext cx="6286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01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104900" y="1562100"/>
            <a:ext cx="4857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The Investigation Paradox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104900" y="1905000"/>
            <a:ext cx="48387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Understanding the inefficiency of current manual investigative workflows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324600" y="1524000"/>
            <a:ext cx="533400" cy="533400"/>
          </a:xfrm>
          <a:custGeom>
            <a:rect b="b" l="l" r="r" t="t"/>
            <a:pathLst>
              <a:path extrusionOk="0" h="533400" w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>
            <a:gsLst>
              <a:gs pos="0">
                <a:srgbClr val="007AFF"/>
              </a:gs>
              <a:gs pos="100000">
                <a:srgbClr val="5856D6"/>
              </a:gs>
            </a:gsLst>
            <a:lin ang="2700000" scaled="0"/>
          </a:gra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276975" y="1524000"/>
            <a:ext cx="6286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02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7048500" y="1562100"/>
            <a:ext cx="4610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Introducing the Swarm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7048500" y="1905000"/>
            <a:ext cx="45910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Autonomous multi-agent system for comprehensive entity research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81000" y="3024188"/>
            <a:ext cx="533400" cy="533400"/>
          </a:xfrm>
          <a:custGeom>
            <a:rect b="b" l="l" r="r" t="t"/>
            <a:pathLst>
              <a:path extrusionOk="0" h="533400" w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>
            <a:gsLst>
              <a:gs pos="0">
                <a:srgbClr val="007AFF"/>
              </a:gs>
              <a:gs pos="100000">
                <a:srgbClr val="5856D6"/>
              </a:gs>
            </a:gsLst>
            <a:lin ang="2700000" scaled="0"/>
          </a:gra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33375" y="3024188"/>
            <a:ext cx="6286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03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104900" y="3062288"/>
            <a:ext cx="41814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Lead Agent Orchestrator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104900" y="3405188"/>
            <a:ext cx="41624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Chain-of-Thought planning for intelligent task decomposition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324600" y="3024188"/>
            <a:ext cx="533400" cy="533400"/>
          </a:xfrm>
          <a:custGeom>
            <a:rect b="b" l="l" r="r" t="t"/>
            <a:pathLst>
              <a:path extrusionOk="0" h="533400" w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>
            <a:gsLst>
              <a:gs pos="0">
                <a:srgbClr val="007AFF"/>
              </a:gs>
              <a:gs pos="100000">
                <a:srgbClr val="5856D6"/>
              </a:gs>
            </a:gsLst>
            <a:lin ang="2700000" scaled="0"/>
          </a:gra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276975" y="3024188"/>
            <a:ext cx="6286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04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048500" y="3062288"/>
            <a:ext cx="3695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Specialist Agent Ecosystem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7048500" y="3405188"/>
            <a:ext cx="36766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Corporate, Social Graph, and Legal intelligence agents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381000" y="4276725"/>
            <a:ext cx="533400" cy="533400"/>
          </a:xfrm>
          <a:custGeom>
            <a:rect b="b" l="l" r="r" t="t"/>
            <a:pathLst>
              <a:path extrusionOk="0" h="533400" w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>
            <a:gsLst>
              <a:gs pos="0">
                <a:srgbClr val="007AFF"/>
              </a:gs>
              <a:gs pos="100000">
                <a:srgbClr val="5856D6"/>
              </a:gs>
            </a:gsLst>
            <a:lin ang="2700000" scaled="0"/>
          </a:gra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333375" y="4276725"/>
            <a:ext cx="6286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05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104900" y="4314825"/>
            <a:ext cx="3771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MCP Integration Layer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104900" y="4657725"/>
            <a:ext cx="37528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Seamless data connectivity via Model Context Protocol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6324600" y="4276725"/>
            <a:ext cx="533400" cy="533400"/>
          </a:xfrm>
          <a:custGeom>
            <a:rect b="b" l="l" r="r" t="t"/>
            <a:pathLst>
              <a:path extrusionOk="0" h="533400" w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>
            <a:gsLst>
              <a:gs pos="0">
                <a:srgbClr val="007AFF"/>
              </a:gs>
              <a:gs pos="100000">
                <a:srgbClr val="5856D6"/>
              </a:gs>
            </a:gsLst>
            <a:lin ang="2700000" scaled="0"/>
          </a:gra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276975" y="4276725"/>
            <a:ext cx="6286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06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7048500" y="4314825"/>
            <a:ext cx="35337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Self-Correction &amp; QA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7048500" y="4657725"/>
            <a:ext cx="35147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Reflexion pattern for autonomous quality assurance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381000" y="5529263"/>
            <a:ext cx="533400" cy="533400"/>
          </a:xfrm>
          <a:custGeom>
            <a:rect b="b" l="l" r="r" t="t"/>
            <a:pathLst>
              <a:path extrusionOk="0" h="533400" w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>
            <a:gsLst>
              <a:gs pos="0">
                <a:srgbClr val="007AFF"/>
              </a:gs>
              <a:gs pos="100000">
                <a:srgbClr val="5856D6"/>
              </a:gs>
            </a:gsLst>
            <a:lin ang="2700000" scaled="0"/>
          </a:gra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333375" y="5529263"/>
            <a:ext cx="6286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07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104900" y="5567363"/>
            <a:ext cx="44386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Live Demonstration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1104900" y="5910263"/>
            <a:ext cx="44196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Investigation with interactive knowledge graph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324600" y="5529263"/>
            <a:ext cx="533400" cy="533400"/>
          </a:xfrm>
          <a:custGeom>
            <a:rect b="b" l="l" r="r" t="t"/>
            <a:pathLst>
              <a:path extrusionOk="0" h="533400" w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>
            <a:gsLst>
              <a:gs pos="0">
                <a:srgbClr val="007AFF"/>
              </a:gs>
              <a:gs pos="100000">
                <a:srgbClr val="5856D6"/>
              </a:gs>
            </a:gsLst>
            <a:lin ang="2700000" scaled="0"/>
          </a:gra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276975" y="5529263"/>
            <a:ext cx="6286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08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7048500" y="5567363"/>
            <a:ext cx="3238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The Future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7048500" y="5910263"/>
            <a:ext cx="32194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Transforming investigative intelligence at scale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7AFF"/>
                </a:solidFill>
                <a:latin typeface="Liter"/>
                <a:ea typeface="Liter"/>
                <a:cs typeface="Liter"/>
                <a:sym typeface="Liter"/>
              </a:rPr>
              <a:t>The Challenge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The Investigation Paradox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81000" y="1543050"/>
            <a:ext cx="5562600" cy="2209800"/>
          </a:xfrm>
          <a:custGeom>
            <a:rect b="b" l="l" r="r" t="t"/>
            <a:pathLst>
              <a:path extrusionOk="0" h="2209800" w="5562600">
                <a:moveTo>
                  <a:pt x="228604" y="0"/>
                </a:moveTo>
                <a:lnTo>
                  <a:pt x="5333996" y="0"/>
                </a:lnTo>
                <a:cubicBezTo>
                  <a:pt x="5460251" y="0"/>
                  <a:pt x="5562600" y="102349"/>
                  <a:pt x="5562600" y="228604"/>
                </a:cubicBezTo>
                <a:lnTo>
                  <a:pt x="5562600" y="1981196"/>
                </a:lnTo>
                <a:cubicBezTo>
                  <a:pt x="5562600" y="2107451"/>
                  <a:pt x="5460251" y="2209800"/>
                  <a:pt x="5333996" y="2209800"/>
                </a:cubicBezTo>
                <a:lnTo>
                  <a:pt x="228604" y="2209800"/>
                </a:lnTo>
                <a:cubicBezTo>
                  <a:pt x="102349" y="2209800"/>
                  <a:pt x="0" y="2107451"/>
                  <a:pt x="0" y="1981196"/>
                </a:cubicBezTo>
                <a:lnTo>
                  <a:pt x="0" y="228604"/>
                </a:lnTo>
                <a:cubicBezTo>
                  <a:pt x="0" y="102434"/>
                  <a:pt x="102434" y="0"/>
                  <a:pt x="22860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85800" y="1847850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3B30">
              <a:alpha val="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819150" y="1981200"/>
            <a:ext cx="190500" cy="190500"/>
          </a:xfrm>
          <a:custGeom>
            <a:rect b="b" l="l" r="r" t="t"/>
            <a:pathLst>
              <a:path extrusionOk="0" h="190500" w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FF3B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295400" y="1943100"/>
            <a:ext cx="25050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Time-Intensive Manual Work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685800" y="2457450"/>
            <a:ext cx="50292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Investigative journalists, fraud examiners, and due diligence teams spend extensive hours manually piecing together entity relationships from fragmented data sources scattered across the open web, public records, and proprietary databases.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81000" y="3981450"/>
            <a:ext cx="5562600" cy="2209800"/>
          </a:xfrm>
          <a:custGeom>
            <a:rect b="b" l="l" r="r" t="t"/>
            <a:pathLst>
              <a:path extrusionOk="0" h="2209800" w="5562600">
                <a:moveTo>
                  <a:pt x="228604" y="0"/>
                </a:moveTo>
                <a:lnTo>
                  <a:pt x="5333996" y="0"/>
                </a:lnTo>
                <a:cubicBezTo>
                  <a:pt x="5460251" y="0"/>
                  <a:pt x="5562600" y="102349"/>
                  <a:pt x="5562600" y="228604"/>
                </a:cubicBezTo>
                <a:lnTo>
                  <a:pt x="5562600" y="1981196"/>
                </a:lnTo>
                <a:cubicBezTo>
                  <a:pt x="5562600" y="2107451"/>
                  <a:pt x="5460251" y="2209800"/>
                  <a:pt x="5333996" y="2209800"/>
                </a:cubicBezTo>
                <a:lnTo>
                  <a:pt x="228604" y="2209800"/>
                </a:lnTo>
                <a:cubicBezTo>
                  <a:pt x="102349" y="2209800"/>
                  <a:pt x="0" y="2107451"/>
                  <a:pt x="0" y="1981196"/>
                </a:cubicBezTo>
                <a:lnTo>
                  <a:pt x="0" y="228604"/>
                </a:lnTo>
                <a:cubicBezTo>
                  <a:pt x="0" y="102434"/>
                  <a:pt x="102434" y="0"/>
                  <a:pt x="22860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85800" y="4286250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9500">
              <a:alpha val="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819150" y="4419600"/>
            <a:ext cx="190500" cy="190500"/>
          </a:xfrm>
          <a:custGeom>
            <a:rect b="b" l="l" r="r" t="t"/>
            <a:pathLst>
              <a:path extrusionOk="0" h="190500" w="190500">
                <a:moveTo>
                  <a:pt x="83344" y="0"/>
                </a:moveTo>
                <a:cubicBezTo>
                  <a:pt x="96478" y="0"/>
                  <a:pt x="107156" y="8000"/>
                  <a:pt x="107156" y="17859"/>
                </a:cubicBezTo>
                <a:cubicBezTo>
                  <a:pt x="107156" y="21729"/>
                  <a:pt x="105519" y="25301"/>
                  <a:pt x="102691" y="28240"/>
                </a:cubicBezTo>
                <a:cubicBezTo>
                  <a:pt x="100236" y="30807"/>
                  <a:pt x="98227" y="33933"/>
                  <a:pt x="98227" y="37505"/>
                </a:cubicBezTo>
                <a:cubicBezTo>
                  <a:pt x="98227" y="43086"/>
                  <a:pt x="102766" y="47625"/>
                  <a:pt x="108347" y="47625"/>
                </a:cubicBezTo>
                <a:lnTo>
                  <a:pt x="125016" y="47625"/>
                </a:lnTo>
                <a:cubicBezTo>
                  <a:pt x="134875" y="47625"/>
                  <a:pt x="142875" y="55625"/>
                  <a:pt x="142875" y="65484"/>
                </a:cubicBezTo>
                <a:lnTo>
                  <a:pt x="142875" y="82153"/>
                </a:lnTo>
                <a:cubicBezTo>
                  <a:pt x="142875" y="87734"/>
                  <a:pt x="147414" y="92273"/>
                  <a:pt x="152995" y="92273"/>
                </a:cubicBezTo>
                <a:cubicBezTo>
                  <a:pt x="156530" y="92273"/>
                  <a:pt x="159693" y="90264"/>
                  <a:pt x="162260" y="87809"/>
                </a:cubicBezTo>
                <a:cubicBezTo>
                  <a:pt x="165199" y="85018"/>
                  <a:pt x="168771" y="83344"/>
                  <a:pt x="172641" y="83344"/>
                </a:cubicBezTo>
                <a:cubicBezTo>
                  <a:pt x="182500" y="83344"/>
                  <a:pt x="190500" y="94022"/>
                  <a:pt x="190500" y="107156"/>
                </a:cubicBezTo>
                <a:cubicBezTo>
                  <a:pt x="190500" y="120290"/>
                  <a:pt x="182500" y="130969"/>
                  <a:pt x="172641" y="130969"/>
                </a:cubicBezTo>
                <a:cubicBezTo>
                  <a:pt x="168771" y="130969"/>
                  <a:pt x="165162" y="129332"/>
                  <a:pt x="162260" y="126504"/>
                </a:cubicBezTo>
                <a:cubicBezTo>
                  <a:pt x="159693" y="124048"/>
                  <a:pt x="156567" y="122039"/>
                  <a:pt x="152995" y="122039"/>
                </a:cubicBezTo>
                <a:cubicBezTo>
                  <a:pt x="147414" y="122039"/>
                  <a:pt x="142875" y="126578"/>
                  <a:pt x="142875" y="132159"/>
                </a:cubicBezTo>
                <a:lnTo>
                  <a:pt x="142875" y="172641"/>
                </a:lnTo>
                <a:cubicBezTo>
                  <a:pt x="142875" y="182500"/>
                  <a:pt x="134875" y="190500"/>
                  <a:pt x="125016" y="190500"/>
                </a:cubicBezTo>
                <a:lnTo>
                  <a:pt x="103882" y="190500"/>
                </a:lnTo>
                <a:cubicBezTo>
                  <a:pt x="99120" y="190500"/>
                  <a:pt x="95250" y="186630"/>
                  <a:pt x="95250" y="181868"/>
                </a:cubicBezTo>
                <a:cubicBezTo>
                  <a:pt x="95250" y="178445"/>
                  <a:pt x="97408" y="175431"/>
                  <a:pt x="100161" y="173385"/>
                </a:cubicBezTo>
                <a:cubicBezTo>
                  <a:pt x="104477" y="170148"/>
                  <a:pt x="107156" y="165683"/>
                  <a:pt x="107156" y="160734"/>
                </a:cubicBezTo>
                <a:cubicBezTo>
                  <a:pt x="107156" y="150875"/>
                  <a:pt x="96478" y="142875"/>
                  <a:pt x="83344" y="142875"/>
                </a:cubicBezTo>
                <a:cubicBezTo>
                  <a:pt x="70210" y="142875"/>
                  <a:pt x="59531" y="150875"/>
                  <a:pt x="59531" y="160734"/>
                </a:cubicBezTo>
                <a:cubicBezTo>
                  <a:pt x="59531" y="165683"/>
                  <a:pt x="62210" y="170148"/>
                  <a:pt x="66526" y="173385"/>
                </a:cubicBezTo>
                <a:cubicBezTo>
                  <a:pt x="69279" y="175431"/>
                  <a:pt x="71438" y="178408"/>
                  <a:pt x="71438" y="181868"/>
                </a:cubicBezTo>
                <a:cubicBezTo>
                  <a:pt x="71438" y="186630"/>
                  <a:pt x="67568" y="190500"/>
                  <a:pt x="62805" y="190500"/>
                </a:cubicBezTo>
                <a:lnTo>
                  <a:pt x="17859" y="190500"/>
                </a:lnTo>
                <a:cubicBezTo>
                  <a:pt x="8000" y="190500"/>
                  <a:pt x="0" y="182500"/>
                  <a:pt x="0" y="172641"/>
                </a:cubicBezTo>
                <a:lnTo>
                  <a:pt x="0" y="127695"/>
                </a:lnTo>
                <a:cubicBezTo>
                  <a:pt x="0" y="122932"/>
                  <a:pt x="3870" y="119063"/>
                  <a:pt x="8632" y="119063"/>
                </a:cubicBezTo>
                <a:cubicBezTo>
                  <a:pt x="12055" y="119063"/>
                  <a:pt x="15069" y="121221"/>
                  <a:pt x="17115" y="123974"/>
                </a:cubicBezTo>
                <a:cubicBezTo>
                  <a:pt x="20352" y="128290"/>
                  <a:pt x="24817" y="130969"/>
                  <a:pt x="29766" y="130969"/>
                </a:cubicBezTo>
                <a:cubicBezTo>
                  <a:pt x="39625" y="130969"/>
                  <a:pt x="47625" y="120290"/>
                  <a:pt x="47625" y="107156"/>
                </a:cubicBezTo>
                <a:cubicBezTo>
                  <a:pt x="47625" y="94022"/>
                  <a:pt x="39625" y="83344"/>
                  <a:pt x="29766" y="83344"/>
                </a:cubicBezTo>
                <a:cubicBezTo>
                  <a:pt x="24817" y="83344"/>
                  <a:pt x="20352" y="86023"/>
                  <a:pt x="17115" y="90339"/>
                </a:cubicBezTo>
                <a:cubicBezTo>
                  <a:pt x="15069" y="93092"/>
                  <a:pt x="12092" y="95250"/>
                  <a:pt x="8632" y="95250"/>
                </a:cubicBezTo>
                <a:cubicBezTo>
                  <a:pt x="3870" y="95250"/>
                  <a:pt x="0" y="91380"/>
                  <a:pt x="0" y="86618"/>
                </a:cubicBezTo>
                <a:lnTo>
                  <a:pt x="0" y="65484"/>
                </a:lnTo>
                <a:cubicBezTo>
                  <a:pt x="0" y="55625"/>
                  <a:pt x="8000" y="47625"/>
                  <a:pt x="17859" y="47625"/>
                </a:cubicBezTo>
                <a:lnTo>
                  <a:pt x="58341" y="47625"/>
                </a:lnTo>
                <a:cubicBezTo>
                  <a:pt x="63922" y="47625"/>
                  <a:pt x="68461" y="43086"/>
                  <a:pt x="68461" y="37505"/>
                </a:cubicBezTo>
                <a:cubicBezTo>
                  <a:pt x="68461" y="33970"/>
                  <a:pt x="66452" y="30807"/>
                  <a:pt x="63996" y="28240"/>
                </a:cubicBezTo>
                <a:cubicBezTo>
                  <a:pt x="61206" y="25301"/>
                  <a:pt x="59531" y="21729"/>
                  <a:pt x="59531" y="17859"/>
                </a:cubicBezTo>
                <a:cubicBezTo>
                  <a:pt x="59531" y="8000"/>
                  <a:pt x="70210" y="0"/>
                  <a:pt x="83344" y="0"/>
                </a:cubicBezTo>
                <a:close/>
              </a:path>
            </a:pathLst>
          </a:custGeom>
          <a:solidFill>
            <a:srgbClr val="FF95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1295400" y="4381500"/>
            <a:ext cx="2133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Fragmented Intelligence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85800" y="4895850"/>
            <a:ext cx="50292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Critical connections between entities remain hidden in disconnected datasets SEC filings, court records, social networks, and news archives requiring analysts to context-switch between dozens of platforms and interfaces.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6248400" y="1666875"/>
            <a:ext cx="5562600" cy="1962150"/>
          </a:xfrm>
          <a:custGeom>
            <a:rect b="b" l="l" r="r" t="t"/>
            <a:pathLst>
              <a:path extrusionOk="0" h="1962150" w="5562600">
                <a:moveTo>
                  <a:pt x="228590" y="0"/>
                </a:moveTo>
                <a:lnTo>
                  <a:pt x="5334010" y="0"/>
                </a:lnTo>
                <a:cubicBezTo>
                  <a:pt x="5460257" y="0"/>
                  <a:pt x="5562600" y="102343"/>
                  <a:pt x="5562600" y="228590"/>
                </a:cubicBezTo>
                <a:lnTo>
                  <a:pt x="5562600" y="1733560"/>
                </a:lnTo>
                <a:cubicBezTo>
                  <a:pt x="5562600" y="1859807"/>
                  <a:pt x="5460257" y="1962150"/>
                  <a:pt x="5334010" y="1962150"/>
                </a:cubicBezTo>
                <a:lnTo>
                  <a:pt x="228590" y="1962150"/>
                </a:lnTo>
                <a:cubicBezTo>
                  <a:pt x="102343" y="1962150"/>
                  <a:pt x="0" y="1859807"/>
                  <a:pt x="0" y="1733560"/>
                </a:cubicBezTo>
                <a:lnTo>
                  <a:pt x="0" y="228590"/>
                </a:lnTo>
                <a:cubicBezTo>
                  <a:pt x="0" y="102343"/>
                  <a:pt x="102343" y="0"/>
                  <a:pt x="22859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553200" y="1971675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856D6">
              <a:alpha val="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6686550" y="2105025"/>
            <a:ext cx="190500" cy="190500"/>
          </a:xfrm>
          <a:custGeom>
            <a:rect b="b" l="l" r="r" t="t"/>
            <a:pathLst>
              <a:path extrusionOk="0" h="190500" w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5856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7162800" y="2066925"/>
            <a:ext cx="1762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Risk of Human Error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6553200" y="2581275"/>
            <a:ext cx="50292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Manual investigation processes are susceptible to oversight, cognitive biases, and incomplete coverage, especially when dealing with complex corporate structures spanning multiple jurisdictions and shell companies.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6248400" y="3857625"/>
            <a:ext cx="5562600" cy="2209800"/>
          </a:xfrm>
          <a:custGeom>
            <a:rect b="b" l="l" r="r" t="t"/>
            <a:pathLst>
              <a:path extrusionOk="0" h="2209800" w="5562600">
                <a:moveTo>
                  <a:pt x="228604" y="0"/>
                </a:moveTo>
                <a:lnTo>
                  <a:pt x="5333996" y="0"/>
                </a:lnTo>
                <a:cubicBezTo>
                  <a:pt x="5460251" y="0"/>
                  <a:pt x="5562600" y="102349"/>
                  <a:pt x="5562600" y="228604"/>
                </a:cubicBezTo>
                <a:lnTo>
                  <a:pt x="5562600" y="1981196"/>
                </a:lnTo>
                <a:cubicBezTo>
                  <a:pt x="5562600" y="2107451"/>
                  <a:pt x="5460251" y="2209800"/>
                  <a:pt x="5333996" y="2209800"/>
                </a:cubicBezTo>
                <a:lnTo>
                  <a:pt x="228604" y="2209800"/>
                </a:lnTo>
                <a:cubicBezTo>
                  <a:pt x="102349" y="2209800"/>
                  <a:pt x="0" y="2107451"/>
                  <a:pt x="0" y="1981196"/>
                </a:cubicBezTo>
                <a:lnTo>
                  <a:pt x="0" y="228604"/>
                </a:lnTo>
                <a:cubicBezTo>
                  <a:pt x="0" y="102434"/>
                  <a:pt x="102434" y="0"/>
                  <a:pt x="228604" y="0"/>
                </a:cubicBezTo>
                <a:close/>
              </a:path>
            </a:pathLst>
          </a:custGeom>
          <a:gradFill>
            <a:gsLst>
              <a:gs pos="0">
                <a:srgbClr val="007AFF"/>
              </a:gs>
              <a:gs pos="100000">
                <a:srgbClr val="5856D6"/>
              </a:gs>
            </a:gsLst>
            <a:lin ang="2700000" scaled="0"/>
          </a:gra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6553200" y="4162425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6710363" y="4295775"/>
            <a:ext cx="142875" cy="190500"/>
          </a:xfrm>
          <a:custGeom>
            <a:rect b="b" l="l" r="r" t="t"/>
            <a:pathLst>
              <a:path extrusionOk="0" h="190500" w="142875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7162800" y="4257675"/>
            <a:ext cx="14668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The Opportunity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6553200" y="4772025"/>
            <a:ext cx="50292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What if AI agents could autonomously research, connect, and verify entity relationships across all data sources simultaneously delivering comprehensive, court-admissible evidence reports in minutes instead of weeks?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7AFF"/>
                </a:solidFill>
                <a:latin typeface="Liter"/>
                <a:ea typeface="Liter"/>
                <a:cs typeface="Liter"/>
                <a:sym typeface="Liter"/>
              </a:rPr>
              <a:t>Our Solution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Introducing the Autonomous Swarm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A multi-agent AI system that revolutionizes investigative intelligence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381000" y="1638300"/>
            <a:ext cx="3657600" cy="3638550"/>
          </a:xfrm>
          <a:custGeom>
            <a:rect b="b" l="l" r="r" t="t"/>
            <a:pathLst>
              <a:path extrusionOk="0" h="3638550" w="3657600">
                <a:moveTo>
                  <a:pt x="228610" y="0"/>
                </a:moveTo>
                <a:lnTo>
                  <a:pt x="3428990" y="0"/>
                </a:lnTo>
                <a:cubicBezTo>
                  <a:pt x="3555248" y="0"/>
                  <a:pt x="3657600" y="102352"/>
                  <a:pt x="3657600" y="228610"/>
                </a:cubicBezTo>
                <a:lnTo>
                  <a:pt x="3657600" y="3409940"/>
                </a:lnTo>
                <a:cubicBezTo>
                  <a:pt x="3657600" y="3536198"/>
                  <a:pt x="3555248" y="3638550"/>
                  <a:pt x="3428990" y="3638550"/>
                </a:cubicBezTo>
                <a:lnTo>
                  <a:pt x="228610" y="3638550"/>
                </a:lnTo>
                <a:cubicBezTo>
                  <a:pt x="102352" y="3638550"/>
                  <a:pt x="0" y="3536198"/>
                  <a:pt x="0" y="3409940"/>
                </a:cubicBezTo>
                <a:lnTo>
                  <a:pt x="0" y="228610"/>
                </a:lnTo>
                <a:cubicBezTo>
                  <a:pt x="0" y="102437"/>
                  <a:pt x="102437" y="0"/>
                  <a:pt x="2286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09600" y="1866900"/>
            <a:ext cx="533400" cy="533400"/>
          </a:xfrm>
          <a:custGeom>
            <a:rect b="b" l="l" r="r" t="t"/>
            <a:pathLst>
              <a:path extrusionOk="0" h="533400" w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>
            <a:gsLst>
              <a:gs pos="0">
                <a:srgbClr val="007AFF"/>
              </a:gs>
              <a:gs pos="100000">
                <a:srgbClr val="5856D6"/>
              </a:gs>
            </a:gsLst>
            <a:lin ang="2700000" scaled="0"/>
          </a:gra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733425" y="2019300"/>
            <a:ext cx="285750" cy="228600"/>
          </a:xfrm>
          <a:custGeom>
            <a:rect b="b" l="l" r="r" t="t"/>
            <a:pathLst>
              <a:path extrusionOk="0" h="228600" w="28575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609600" y="2590800"/>
            <a:ext cx="32956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Autonomous Research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09600" y="2971800"/>
            <a:ext cx="32766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AI agents independently navigate the open web, and public records to gather intelligence on complex entities companies, individuals, and organizations without human intervention.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609600" y="4700588"/>
            <a:ext cx="3200400" cy="9525"/>
          </a:xfrm>
          <a:custGeom>
            <a:rect b="b" l="l" r="r" t="t"/>
            <a:pathLst>
              <a:path extrusionOk="0" h="9525" w="3200400">
                <a:moveTo>
                  <a:pt x="0" y="0"/>
                </a:moveTo>
                <a:lnTo>
                  <a:pt x="3200400" y="0"/>
                </a:lnTo>
                <a:lnTo>
                  <a:pt x="32004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28650" y="4886325"/>
            <a:ext cx="133350" cy="133350"/>
          </a:xfrm>
          <a:custGeom>
            <a:rect b="b" l="l" r="r" t="t"/>
            <a:pathLst>
              <a:path extrusionOk="0" h="133350" w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007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852488" y="4857750"/>
            <a:ext cx="16478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7AFF"/>
                </a:solidFill>
                <a:latin typeface="Liter"/>
                <a:ea typeface="Liter"/>
                <a:cs typeface="Liter"/>
                <a:sym typeface="Liter"/>
              </a:rPr>
              <a:t>24/7 Continuous Operation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267200" y="1638300"/>
            <a:ext cx="3657600" cy="3638550"/>
          </a:xfrm>
          <a:custGeom>
            <a:rect b="b" l="l" r="r" t="t"/>
            <a:pathLst>
              <a:path extrusionOk="0" h="3638550" w="3657600">
                <a:moveTo>
                  <a:pt x="228610" y="0"/>
                </a:moveTo>
                <a:lnTo>
                  <a:pt x="3428990" y="0"/>
                </a:lnTo>
                <a:cubicBezTo>
                  <a:pt x="3555248" y="0"/>
                  <a:pt x="3657600" y="102352"/>
                  <a:pt x="3657600" y="228610"/>
                </a:cubicBezTo>
                <a:lnTo>
                  <a:pt x="3657600" y="3409940"/>
                </a:lnTo>
                <a:cubicBezTo>
                  <a:pt x="3657600" y="3536198"/>
                  <a:pt x="3555248" y="3638550"/>
                  <a:pt x="3428990" y="3638550"/>
                </a:cubicBezTo>
                <a:lnTo>
                  <a:pt x="228610" y="3638550"/>
                </a:lnTo>
                <a:cubicBezTo>
                  <a:pt x="102352" y="3638550"/>
                  <a:pt x="0" y="3536198"/>
                  <a:pt x="0" y="3409940"/>
                </a:cubicBezTo>
                <a:lnTo>
                  <a:pt x="0" y="228610"/>
                </a:lnTo>
                <a:cubicBezTo>
                  <a:pt x="0" y="102437"/>
                  <a:pt x="102437" y="0"/>
                  <a:pt x="2286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495800" y="1866900"/>
            <a:ext cx="533400" cy="533400"/>
          </a:xfrm>
          <a:custGeom>
            <a:rect b="b" l="l" r="r" t="t"/>
            <a:pathLst>
              <a:path extrusionOk="0" h="533400" w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>
            <a:gsLst>
              <a:gs pos="0">
                <a:srgbClr val="34C759"/>
              </a:gs>
              <a:gs pos="100000">
                <a:srgbClr val="30D158"/>
              </a:gs>
            </a:gsLst>
            <a:lin ang="2700000" scaled="0"/>
          </a:gra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4648200" y="2019300"/>
            <a:ext cx="228600" cy="228600"/>
          </a:xfrm>
          <a:custGeom>
            <a:rect b="b" l="l" r="r" t="t"/>
            <a:pathLst>
              <a:path extrusionOk="0" h="228600" w="228600">
                <a:moveTo>
                  <a:pt x="0" y="35719"/>
                </a:moveTo>
                <a:cubicBezTo>
                  <a:pt x="0" y="23887"/>
                  <a:pt x="9599" y="14288"/>
                  <a:pt x="21431" y="14288"/>
                </a:cubicBezTo>
                <a:lnTo>
                  <a:pt x="64294" y="14288"/>
                </a:lnTo>
                <a:cubicBezTo>
                  <a:pt x="76126" y="14288"/>
                  <a:pt x="85725" y="23887"/>
                  <a:pt x="85725" y="35719"/>
                </a:cubicBezTo>
                <a:lnTo>
                  <a:pt x="85725" y="42863"/>
                </a:lnTo>
                <a:lnTo>
                  <a:pt x="142875" y="42863"/>
                </a:lnTo>
                <a:lnTo>
                  <a:pt x="142875" y="35719"/>
                </a:lnTo>
                <a:cubicBezTo>
                  <a:pt x="142875" y="23887"/>
                  <a:pt x="152474" y="14288"/>
                  <a:pt x="164306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78581"/>
                </a:lnTo>
                <a:cubicBezTo>
                  <a:pt x="228600" y="90413"/>
                  <a:pt x="219001" y="100013"/>
                  <a:pt x="207169" y="100013"/>
                </a:cubicBezTo>
                <a:lnTo>
                  <a:pt x="164306" y="100013"/>
                </a:lnTo>
                <a:cubicBezTo>
                  <a:pt x="152474" y="100013"/>
                  <a:pt x="142875" y="90413"/>
                  <a:pt x="142875" y="78581"/>
                </a:cubicBezTo>
                <a:lnTo>
                  <a:pt x="142875" y="71438"/>
                </a:lnTo>
                <a:lnTo>
                  <a:pt x="85725" y="71438"/>
                </a:lnTo>
                <a:lnTo>
                  <a:pt x="85725" y="78581"/>
                </a:lnTo>
                <a:cubicBezTo>
                  <a:pt x="85725" y="81841"/>
                  <a:pt x="84966" y="84966"/>
                  <a:pt x="83671" y="87734"/>
                </a:cubicBezTo>
                <a:lnTo>
                  <a:pt x="114300" y="128588"/>
                </a:lnTo>
                <a:lnTo>
                  <a:pt x="150019" y="128588"/>
                </a:lnTo>
                <a:cubicBezTo>
                  <a:pt x="161851" y="128588"/>
                  <a:pt x="171450" y="138187"/>
                  <a:pt x="171450" y="150019"/>
                </a:cubicBezTo>
                <a:lnTo>
                  <a:pt x="171450" y="192881"/>
                </a:lnTo>
                <a:cubicBezTo>
                  <a:pt x="171450" y="204713"/>
                  <a:pt x="161851" y="214313"/>
                  <a:pt x="150019" y="214313"/>
                </a:cubicBezTo>
                <a:lnTo>
                  <a:pt x="107156" y="214313"/>
                </a:lnTo>
                <a:cubicBezTo>
                  <a:pt x="95324" y="214313"/>
                  <a:pt x="85725" y="204713"/>
                  <a:pt x="85725" y="192881"/>
                </a:cubicBezTo>
                <a:lnTo>
                  <a:pt x="85725" y="150019"/>
                </a:lnTo>
                <a:cubicBezTo>
                  <a:pt x="85725" y="146759"/>
                  <a:pt x="86484" y="143634"/>
                  <a:pt x="87779" y="140866"/>
                </a:cubicBezTo>
                <a:lnTo>
                  <a:pt x="57150" y="100013"/>
                </a:lnTo>
                <a:lnTo>
                  <a:pt x="21431" y="100013"/>
                </a:lnTo>
                <a:cubicBezTo>
                  <a:pt x="9599" y="100013"/>
                  <a:pt x="0" y="90413"/>
                  <a:pt x="0" y="78581"/>
                </a:cubicBezTo>
                <a:lnTo>
                  <a:pt x="0" y="3571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495800" y="2590800"/>
            <a:ext cx="32956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Relationship Mapping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495800" y="2971800"/>
            <a:ext cx="32766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Advanced graph algorithms and neural networks uncover hidden connections, ownership structures, and influence patterns that traditional investigation methods fail to detect.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495800" y="4700588"/>
            <a:ext cx="3200400" cy="9525"/>
          </a:xfrm>
          <a:custGeom>
            <a:rect b="b" l="l" r="r" t="t"/>
            <a:pathLst>
              <a:path extrusionOk="0" h="9525" w="3200400">
                <a:moveTo>
                  <a:pt x="0" y="0"/>
                </a:moveTo>
                <a:lnTo>
                  <a:pt x="3200400" y="0"/>
                </a:lnTo>
                <a:lnTo>
                  <a:pt x="32004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514850" y="4886325"/>
            <a:ext cx="133350" cy="133350"/>
          </a:xfrm>
          <a:custGeom>
            <a:rect b="b" l="l" r="r" t="t"/>
            <a:pathLst>
              <a:path extrusionOk="0" h="133350" w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34C75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738688" y="4857750"/>
            <a:ext cx="20383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4C759"/>
                </a:solidFill>
                <a:latin typeface="Liter"/>
                <a:ea typeface="Liter"/>
                <a:cs typeface="Liter"/>
                <a:sym typeface="Liter"/>
              </a:rPr>
              <a:t>Multi-Hop Relationship Discovery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8153400" y="1638300"/>
            <a:ext cx="3657600" cy="3638550"/>
          </a:xfrm>
          <a:custGeom>
            <a:rect b="b" l="l" r="r" t="t"/>
            <a:pathLst>
              <a:path extrusionOk="0" h="3638550" w="3657600">
                <a:moveTo>
                  <a:pt x="228610" y="0"/>
                </a:moveTo>
                <a:lnTo>
                  <a:pt x="3428990" y="0"/>
                </a:lnTo>
                <a:cubicBezTo>
                  <a:pt x="3555248" y="0"/>
                  <a:pt x="3657600" y="102352"/>
                  <a:pt x="3657600" y="228610"/>
                </a:cubicBezTo>
                <a:lnTo>
                  <a:pt x="3657600" y="3409940"/>
                </a:lnTo>
                <a:cubicBezTo>
                  <a:pt x="3657600" y="3536198"/>
                  <a:pt x="3555248" y="3638550"/>
                  <a:pt x="3428990" y="3638550"/>
                </a:cubicBezTo>
                <a:lnTo>
                  <a:pt x="228610" y="3638550"/>
                </a:lnTo>
                <a:cubicBezTo>
                  <a:pt x="102352" y="3638550"/>
                  <a:pt x="0" y="3536198"/>
                  <a:pt x="0" y="3409940"/>
                </a:cubicBezTo>
                <a:lnTo>
                  <a:pt x="0" y="228610"/>
                </a:lnTo>
                <a:cubicBezTo>
                  <a:pt x="0" y="102437"/>
                  <a:pt x="102437" y="0"/>
                  <a:pt x="2286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8382000" y="1866900"/>
            <a:ext cx="533400" cy="533400"/>
          </a:xfrm>
          <a:custGeom>
            <a:rect b="b" l="l" r="r" t="t"/>
            <a:pathLst>
              <a:path extrusionOk="0" h="533400" w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>
            <a:gsLst>
              <a:gs pos="0">
                <a:srgbClr val="FF9500"/>
              </a:gs>
              <a:gs pos="100000">
                <a:srgbClr val="FF6B00"/>
              </a:gs>
            </a:gsLst>
            <a:lin ang="2700000" scaled="0"/>
          </a:gra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8520113" y="2019300"/>
            <a:ext cx="257175" cy="228600"/>
          </a:xfrm>
          <a:custGeom>
            <a:rect b="b" l="l" r="r" t="t"/>
            <a:pathLst>
              <a:path extrusionOk="0" h="228600" w="257175">
                <a:moveTo>
                  <a:pt x="75724" y="68491"/>
                </a:moveTo>
                <a:lnTo>
                  <a:pt x="67374" y="60141"/>
                </a:lnTo>
                <a:cubicBezTo>
                  <a:pt x="61793" y="54560"/>
                  <a:pt x="61793" y="45497"/>
                  <a:pt x="67374" y="39916"/>
                </a:cubicBezTo>
                <a:lnTo>
                  <a:pt x="118586" y="-11341"/>
                </a:lnTo>
                <a:cubicBezTo>
                  <a:pt x="124167" y="-16922"/>
                  <a:pt x="133231" y="-16922"/>
                  <a:pt x="138812" y="-11341"/>
                </a:cubicBezTo>
                <a:lnTo>
                  <a:pt x="147161" y="-2947"/>
                </a:lnTo>
                <a:cubicBezTo>
                  <a:pt x="152742" y="2634"/>
                  <a:pt x="152742" y="11698"/>
                  <a:pt x="147161" y="17279"/>
                </a:cubicBezTo>
                <a:lnTo>
                  <a:pt x="95949" y="68491"/>
                </a:lnTo>
                <a:cubicBezTo>
                  <a:pt x="90368" y="74072"/>
                  <a:pt x="81305" y="74072"/>
                  <a:pt x="75724" y="68491"/>
                </a:cubicBezTo>
                <a:close/>
                <a:moveTo>
                  <a:pt x="123230" y="94521"/>
                </a:moveTo>
                <a:lnTo>
                  <a:pt x="109210" y="80501"/>
                </a:lnTo>
                <a:lnTo>
                  <a:pt x="159216" y="30495"/>
                </a:lnTo>
                <a:lnTo>
                  <a:pt x="212527" y="83805"/>
                </a:lnTo>
                <a:lnTo>
                  <a:pt x="162520" y="133811"/>
                </a:lnTo>
                <a:lnTo>
                  <a:pt x="148501" y="119792"/>
                </a:lnTo>
                <a:lnTo>
                  <a:pt x="44916" y="223376"/>
                </a:lnTo>
                <a:cubicBezTo>
                  <a:pt x="37951" y="230341"/>
                  <a:pt x="26655" y="230341"/>
                  <a:pt x="19645" y="223376"/>
                </a:cubicBezTo>
                <a:cubicBezTo>
                  <a:pt x="12636" y="216411"/>
                  <a:pt x="12680" y="205115"/>
                  <a:pt x="19645" y="198105"/>
                </a:cubicBezTo>
                <a:lnTo>
                  <a:pt x="123230" y="94521"/>
                </a:lnTo>
                <a:close/>
                <a:moveTo>
                  <a:pt x="174531" y="167253"/>
                </a:moveTo>
                <a:cubicBezTo>
                  <a:pt x="168950" y="161672"/>
                  <a:pt x="168950" y="152608"/>
                  <a:pt x="174531" y="147027"/>
                </a:cubicBezTo>
                <a:lnTo>
                  <a:pt x="225743" y="95816"/>
                </a:lnTo>
                <a:cubicBezTo>
                  <a:pt x="231324" y="90234"/>
                  <a:pt x="240387" y="90234"/>
                  <a:pt x="245968" y="95816"/>
                </a:cubicBezTo>
                <a:lnTo>
                  <a:pt x="254318" y="104165"/>
                </a:lnTo>
                <a:cubicBezTo>
                  <a:pt x="259899" y="109746"/>
                  <a:pt x="259899" y="118809"/>
                  <a:pt x="254318" y="124391"/>
                </a:cubicBezTo>
                <a:lnTo>
                  <a:pt x="203106" y="175647"/>
                </a:lnTo>
                <a:cubicBezTo>
                  <a:pt x="197525" y="181228"/>
                  <a:pt x="188461" y="181228"/>
                  <a:pt x="182880" y="175647"/>
                </a:cubicBezTo>
                <a:lnTo>
                  <a:pt x="174531" y="16729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8382000" y="2590800"/>
            <a:ext cx="32956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Court-Admissible Reports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8382000" y="2971800"/>
            <a:ext cx="32766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Every finding is backed by full audit trails, source citations, and confidence intervals ensuring evidence integrity and compliance with legal standards for litigation and regulatory proceedings.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8382000" y="4700588"/>
            <a:ext cx="3200400" cy="9525"/>
          </a:xfrm>
          <a:custGeom>
            <a:rect b="b" l="l" r="r" t="t"/>
            <a:pathLst>
              <a:path extrusionOk="0" h="9525" w="3200400">
                <a:moveTo>
                  <a:pt x="0" y="0"/>
                </a:moveTo>
                <a:lnTo>
                  <a:pt x="3200400" y="0"/>
                </a:lnTo>
                <a:lnTo>
                  <a:pt x="32004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8401050" y="4886325"/>
            <a:ext cx="133350" cy="133350"/>
          </a:xfrm>
          <a:custGeom>
            <a:rect b="b" l="l" r="r" t="t"/>
            <a:pathLst>
              <a:path extrusionOk="0" h="133350" w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FF95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8624888" y="4857750"/>
            <a:ext cx="1676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9500"/>
                </a:solidFill>
                <a:latin typeface="Liter"/>
                <a:ea typeface="Liter"/>
                <a:cs typeface="Liter"/>
                <a:sym typeface="Liter"/>
              </a:rPr>
              <a:t>Complete Chain of Custody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385763" y="5510213"/>
            <a:ext cx="11420475" cy="962025"/>
          </a:xfrm>
          <a:custGeom>
            <a:rect b="b" l="l" r="r" t="t"/>
            <a:pathLst>
              <a:path extrusionOk="0" h="962025" w="11420475">
                <a:moveTo>
                  <a:pt x="152404" y="0"/>
                </a:moveTo>
                <a:lnTo>
                  <a:pt x="11268071" y="0"/>
                </a:lnTo>
                <a:cubicBezTo>
                  <a:pt x="11352185" y="0"/>
                  <a:pt x="11420475" y="68290"/>
                  <a:pt x="11420475" y="152404"/>
                </a:cubicBezTo>
                <a:lnTo>
                  <a:pt x="11420475" y="809621"/>
                </a:lnTo>
                <a:cubicBezTo>
                  <a:pt x="11420475" y="893735"/>
                  <a:pt x="11352185" y="962025"/>
                  <a:pt x="11268071" y="962025"/>
                </a:cubicBezTo>
                <a:lnTo>
                  <a:pt x="152404" y="962025"/>
                </a:lnTo>
                <a:cubicBezTo>
                  <a:pt x="68290" y="962025"/>
                  <a:pt x="0" y="893735"/>
                  <a:pt x="0" y="809621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gradFill>
            <a:gsLst>
              <a:gs pos="0">
                <a:srgbClr val="007AFF">
                  <a:alpha val="4705"/>
                </a:srgbClr>
              </a:gs>
              <a:gs pos="100000">
                <a:srgbClr val="5856D6">
                  <a:alpha val="4705"/>
                </a:srgbClr>
              </a:gs>
            </a:gsLst>
            <a:lin ang="0" scaled="0"/>
          </a:gradFill>
          <a:ln cap="flat" cmpd="sng" w="12700">
            <a:solidFill>
              <a:srgbClr val="007AFF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581025" y="5762625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07AFF">
              <a:alpha val="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90563" y="5895975"/>
            <a:ext cx="238125" cy="190500"/>
          </a:xfrm>
          <a:custGeom>
            <a:rect b="b" l="l" r="r" t="t"/>
            <a:pathLst>
              <a:path extrusionOk="0" h="190500" w="238125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007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1190625" y="5781675"/>
            <a:ext cx="52292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Target Users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1190625" y="6010275"/>
            <a:ext cx="5219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Investigative Journalists • Fraud Examiners • Due Diligence Teams • Compliance Officers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9247436" y="5705475"/>
            <a:ext cx="2362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Theoretical Time Reduction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9171236" y="5934075"/>
            <a:ext cx="2438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7AFF"/>
                </a:solidFill>
                <a:latin typeface="Liter"/>
                <a:ea typeface="Liter"/>
                <a:cs typeface="Liter"/>
                <a:sym typeface="Liter"/>
              </a:rPr>
              <a:t>Weeks → Minutes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361780" y="361780"/>
            <a:ext cx="11531751" cy="180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97">
                <a:solidFill>
                  <a:srgbClr val="007AFF"/>
                </a:solidFill>
                <a:latin typeface="Liter"/>
                <a:ea typeface="Liter"/>
                <a:cs typeface="Liter"/>
                <a:sym typeface="Liter"/>
              </a:rPr>
              <a:t>Core Architecture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361780" y="615027"/>
            <a:ext cx="11631240" cy="361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64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Lead Agent: The Orchestrator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361780" y="1085341"/>
            <a:ext cx="11549840" cy="2532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2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Chain-of-Thought planning for intelligent task decomposition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361780" y="2233994"/>
            <a:ext cx="5589507" cy="3726338"/>
          </a:xfrm>
          <a:custGeom>
            <a:rect b="b" l="l" r="r" t="t"/>
            <a:pathLst>
              <a:path extrusionOk="0" h="3726338" w="5589507">
                <a:moveTo>
                  <a:pt x="217059" y="0"/>
                </a:moveTo>
                <a:lnTo>
                  <a:pt x="5372448" y="0"/>
                </a:lnTo>
                <a:cubicBezTo>
                  <a:pt x="5492327" y="0"/>
                  <a:pt x="5589507" y="97181"/>
                  <a:pt x="5589507" y="217059"/>
                </a:cubicBezTo>
                <a:lnTo>
                  <a:pt x="5589507" y="3509279"/>
                </a:lnTo>
                <a:cubicBezTo>
                  <a:pt x="5589507" y="3629158"/>
                  <a:pt x="5492327" y="3726338"/>
                  <a:pt x="5372448" y="3726338"/>
                </a:cubicBezTo>
                <a:lnTo>
                  <a:pt x="217059" y="3726338"/>
                </a:lnTo>
                <a:cubicBezTo>
                  <a:pt x="97181" y="3726338"/>
                  <a:pt x="0" y="3629158"/>
                  <a:pt x="0" y="3509279"/>
                </a:cubicBezTo>
                <a:lnTo>
                  <a:pt x="0" y="217059"/>
                </a:lnTo>
                <a:cubicBezTo>
                  <a:pt x="0" y="97261"/>
                  <a:pt x="97261" y="0"/>
                  <a:pt x="21705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651205" y="2523418"/>
            <a:ext cx="506493" cy="506493"/>
          </a:xfrm>
          <a:custGeom>
            <a:rect b="b" l="l" r="r" t="t"/>
            <a:pathLst>
              <a:path extrusionOk="0" h="506493" w="506493">
                <a:moveTo>
                  <a:pt x="144710" y="0"/>
                </a:moveTo>
                <a:lnTo>
                  <a:pt x="361783" y="0"/>
                </a:lnTo>
                <a:cubicBezTo>
                  <a:pt x="441650" y="0"/>
                  <a:pt x="506493" y="64842"/>
                  <a:pt x="506493" y="144710"/>
                </a:cubicBezTo>
                <a:lnTo>
                  <a:pt x="506493" y="361783"/>
                </a:lnTo>
                <a:cubicBezTo>
                  <a:pt x="506493" y="441650"/>
                  <a:pt x="441650" y="506493"/>
                  <a:pt x="361783" y="506493"/>
                </a:cubicBezTo>
                <a:lnTo>
                  <a:pt x="144710" y="506493"/>
                </a:lnTo>
                <a:cubicBezTo>
                  <a:pt x="64842" y="506493"/>
                  <a:pt x="0" y="441650"/>
                  <a:pt x="0" y="361783"/>
                </a:cubicBezTo>
                <a:lnTo>
                  <a:pt x="0" y="144710"/>
                </a:lnTo>
                <a:cubicBezTo>
                  <a:pt x="0" y="64842"/>
                  <a:pt x="64842" y="0"/>
                  <a:pt x="144710" y="0"/>
                </a:cubicBezTo>
                <a:close/>
              </a:path>
            </a:pathLst>
          </a:custGeom>
          <a:gradFill>
            <a:gsLst>
              <a:gs pos="0">
                <a:srgbClr val="007AFF"/>
              </a:gs>
              <a:gs pos="100000">
                <a:srgbClr val="5856D6"/>
              </a:gs>
            </a:gsLst>
            <a:lin ang="2700000" scaled="0"/>
          </a:gra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795917" y="2668131"/>
            <a:ext cx="217068" cy="217068"/>
          </a:xfrm>
          <a:custGeom>
            <a:rect b="b" l="l" r="r" t="t"/>
            <a:pathLst>
              <a:path extrusionOk="0" h="217068" w="217068">
                <a:moveTo>
                  <a:pt x="50875" y="23742"/>
                </a:moveTo>
                <a:cubicBezTo>
                  <a:pt x="50875" y="10641"/>
                  <a:pt x="61517" y="0"/>
                  <a:pt x="74617" y="0"/>
                </a:cubicBezTo>
                <a:lnTo>
                  <a:pt x="84792" y="0"/>
                </a:lnTo>
                <a:cubicBezTo>
                  <a:pt x="92296" y="0"/>
                  <a:pt x="98359" y="6063"/>
                  <a:pt x="98359" y="13567"/>
                </a:cubicBezTo>
                <a:lnTo>
                  <a:pt x="98359" y="203501"/>
                </a:lnTo>
                <a:cubicBezTo>
                  <a:pt x="98359" y="211006"/>
                  <a:pt x="92296" y="217068"/>
                  <a:pt x="84792" y="217068"/>
                </a:cubicBezTo>
                <a:lnTo>
                  <a:pt x="71226" y="217068"/>
                </a:lnTo>
                <a:cubicBezTo>
                  <a:pt x="58591" y="217068"/>
                  <a:pt x="47950" y="208419"/>
                  <a:pt x="44940" y="196718"/>
                </a:cubicBezTo>
                <a:cubicBezTo>
                  <a:pt x="44643" y="196718"/>
                  <a:pt x="44389" y="196718"/>
                  <a:pt x="44092" y="196718"/>
                </a:cubicBezTo>
                <a:cubicBezTo>
                  <a:pt x="25353" y="196718"/>
                  <a:pt x="10175" y="181540"/>
                  <a:pt x="10175" y="162801"/>
                </a:cubicBezTo>
                <a:cubicBezTo>
                  <a:pt x="10175" y="155170"/>
                  <a:pt x="12719" y="148132"/>
                  <a:pt x="16958" y="142451"/>
                </a:cubicBezTo>
                <a:cubicBezTo>
                  <a:pt x="8734" y="136261"/>
                  <a:pt x="3392" y="126425"/>
                  <a:pt x="3392" y="115318"/>
                </a:cubicBezTo>
                <a:cubicBezTo>
                  <a:pt x="3392" y="102217"/>
                  <a:pt x="10853" y="90813"/>
                  <a:pt x="21707" y="85174"/>
                </a:cubicBezTo>
                <a:cubicBezTo>
                  <a:pt x="18697" y="80086"/>
                  <a:pt x="16958" y="74151"/>
                  <a:pt x="16958" y="67834"/>
                </a:cubicBezTo>
                <a:cubicBezTo>
                  <a:pt x="16958" y="49095"/>
                  <a:pt x="32136" y="33917"/>
                  <a:pt x="50875" y="33917"/>
                </a:cubicBezTo>
                <a:lnTo>
                  <a:pt x="50875" y="23742"/>
                </a:lnTo>
                <a:close/>
                <a:moveTo>
                  <a:pt x="166193" y="23742"/>
                </a:moveTo>
                <a:lnTo>
                  <a:pt x="166193" y="33917"/>
                </a:lnTo>
                <a:cubicBezTo>
                  <a:pt x="184932" y="33917"/>
                  <a:pt x="200110" y="49095"/>
                  <a:pt x="200110" y="67834"/>
                </a:cubicBezTo>
                <a:cubicBezTo>
                  <a:pt x="200110" y="74193"/>
                  <a:pt x="198372" y="80129"/>
                  <a:pt x="195361" y="85174"/>
                </a:cubicBezTo>
                <a:cubicBezTo>
                  <a:pt x="206257" y="90813"/>
                  <a:pt x="213677" y="102175"/>
                  <a:pt x="213677" y="115318"/>
                </a:cubicBezTo>
                <a:cubicBezTo>
                  <a:pt x="213677" y="126425"/>
                  <a:pt x="208335" y="136261"/>
                  <a:pt x="200110" y="142451"/>
                </a:cubicBezTo>
                <a:cubicBezTo>
                  <a:pt x="204349" y="148132"/>
                  <a:pt x="206893" y="155170"/>
                  <a:pt x="206893" y="162801"/>
                </a:cubicBezTo>
                <a:cubicBezTo>
                  <a:pt x="206893" y="181540"/>
                  <a:pt x="191715" y="196718"/>
                  <a:pt x="172976" y="196718"/>
                </a:cubicBezTo>
                <a:cubicBezTo>
                  <a:pt x="172679" y="196718"/>
                  <a:pt x="172425" y="196718"/>
                  <a:pt x="172128" y="196718"/>
                </a:cubicBezTo>
                <a:cubicBezTo>
                  <a:pt x="169118" y="208419"/>
                  <a:pt x="158477" y="217068"/>
                  <a:pt x="145843" y="217068"/>
                </a:cubicBezTo>
                <a:lnTo>
                  <a:pt x="132276" y="217068"/>
                </a:lnTo>
                <a:cubicBezTo>
                  <a:pt x="124772" y="217068"/>
                  <a:pt x="118709" y="211006"/>
                  <a:pt x="118709" y="203501"/>
                </a:cubicBezTo>
                <a:lnTo>
                  <a:pt x="118709" y="13567"/>
                </a:lnTo>
                <a:cubicBezTo>
                  <a:pt x="118709" y="6063"/>
                  <a:pt x="124772" y="0"/>
                  <a:pt x="132276" y="0"/>
                </a:cubicBezTo>
                <a:lnTo>
                  <a:pt x="142451" y="0"/>
                </a:lnTo>
                <a:cubicBezTo>
                  <a:pt x="155551" y="0"/>
                  <a:pt x="166193" y="10641"/>
                  <a:pt x="166193" y="2374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1302409" y="2631953"/>
            <a:ext cx="2640997" cy="289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9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Intelligent Planning Engine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651205" y="3210801"/>
            <a:ext cx="5083015" cy="705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9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The Lead Agent employs Chain-of-Thought reasoning to break complex investigative queries into sequential, manageable sub-tasks each assigned to the most appropriate specialist agent.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651205" y="4097163"/>
            <a:ext cx="5010659" cy="1573745"/>
          </a:xfrm>
          <a:custGeom>
            <a:rect b="b" l="l" r="r" t="t"/>
            <a:pathLst>
              <a:path extrusionOk="0" h="1573745" w="5010659">
                <a:moveTo>
                  <a:pt x="144706" y="0"/>
                </a:moveTo>
                <a:lnTo>
                  <a:pt x="4865953" y="0"/>
                </a:lnTo>
                <a:cubicBezTo>
                  <a:pt x="4945872" y="0"/>
                  <a:pt x="5010659" y="64787"/>
                  <a:pt x="5010659" y="144706"/>
                </a:cubicBezTo>
                <a:lnTo>
                  <a:pt x="5010659" y="1429039"/>
                </a:lnTo>
                <a:cubicBezTo>
                  <a:pt x="5010659" y="1508958"/>
                  <a:pt x="4945872" y="1573745"/>
                  <a:pt x="4865953" y="1573745"/>
                </a:cubicBezTo>
                <a:lnTo>
                  <a:pt x="144706" y="1573745"/>
                </a:lnTo>
                <a:cubicBezTo>
                  <a:pt x="64787" y="1573745"/>
                  <a:pt x="0" y="1508958"/>
                  <a:pt x="0" y="1429039"/>
                </a:cubicBezTo>
                <a:lnTo>
                  <a:pt x="0" y="144706"/>
                </a:lnTo>
                <a:cubicBezTo>
                  <a:pt x="0" y="64841"/>
                  <a:pt x="64841" y="0"/>
                  <a:pt x="144706" y="0"/>
                </a:cubicBezTo>
                <a:close/>
              </a:path>
            </a:pathLst>
          </a:custGeom>
          <a:solidFill>
            <a:srgbClr val="F5F5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832095" y="4278053"/>
            <a:ext cx="4712190" cy="180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97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Example Decomposition: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832095" y="4585567"/>
            <a:ext cx="217068" cy="217068"/>
          </a:xfrm>
          <a:custGeom>
            <a:rect b="b" l="l" r="r" t="t"/>
            <a:pathLst>
              <a:path extrusionOk="0" h="217068" w="217068">
                <a:moveTo>
                  <a:pt x="108534" y="0"/>
                </a:moveTo>
                <a:lnTo>
                  <a:pt x="108534" y="0"/>
                </a:lnTo>
                <a:cubicBezTo>
                  <a:pt x="168436" y="0"/>
                  <a:pt x="217068" y="48633"/>
                  <a:pt x="217068" y="108534"/>
                </a:cubicBezTo>
                <a:lnTo>
                  <a:pt x="217068" y="108534"/>
                </a:lnTo>
                <a:cubicBezTo>
                  <a:pt x="217068" y="168436"/>
                  <a:pt x="168436" y="217068"/>
                  <a:pt x="108534" y="217068"/>
                </a:cubicBezTo>
                <a:lnTo>
                  <a:pt x="108534" y="217068"/>
                </a:lnTo>
                <a:cubicBezTo>
                  <a:pt x="48633" y="217068"/>
                  <a:pt x="0" y="168436"/>
                  <a:pt x="0" y="108534"/>
                </a:cubicBezTo>
                <a:lnTo>
                  <a:pt x="0" y="108534"/>
                </a:lnTo>
                <a:cubicBezTo>
                  <a:pt x="0" y="48633"/>
                  <a:pt x="48633" y="0"/>
                  <a:pt x="108534" y="0"/>
                </a:cubicBezTo>
                <a:close/>
              </a:path>
            </a:pathLst>
          </a:custGeom>
          <a:solidFill>
            <a:srgbClr val="007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804961" y="4585567"/>
            <a:ext cx="271335" cy="217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5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1157697" y="4567478"/>
            <a:ext cx="3002777" cy="217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9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"Find CEO connections" → </a:t>
            </a:r>
            <a:r>
              <a:rPr lang="en-US" sz="1139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Social Graph Agent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832095" y="4929258"/>
            <a:ext cx="217068" cy="217068"/>
          </a:xfrm>
          <a:custGeom>
            <a:rect b="b" l="l" r="r" t="t"/>
            <a:pathLst>
              <a:path extrusionOk="0" h="217068" w="217068">
                <a:moveTo>
                  <a:pt x="108534" y="0"/>
                </a:moveTo>
                <a:lnTo>
                  <a:pt x="108534" y="0"/>
                </a:lnTo>
                <a:cubicBezTo>
                  <a:pt x="168436" y="0"/>
                  <a:pt x="217068" y="48633"/>
                  <a:pt x="217068" y="108534"/>
                </a:cubicBezTo>
                <a:lnTo>
                  <a:pt x="217068" y="108534"/>
                </a:lnTo>
                <a:cubicBezTo>
                  <a:pt x="217068" y="168436"/>
                  <a:pt x="168436" y="217068"/>
                  <a:pt x="108534" y="217068"/>
                </a:cubicBezTo>
                <a:lnTo>
                  <a:pt x="108534" y="217068"/>
                </a:lnTo>
                <a:cubicBezTo>
                  <a:pt x="48633" y="217068"/>
                  <a:pt x="0" y="168436"/>
                  <a:pt x="0" y="108534"/>
                </a:cubicBezTo>
                <a:lnTo>
                  <a:pt x="0" y="108534"/>
                </a:lnTo>
                <a:cubicBezTo>
                  <a:pt x="0" y="48633"/>
                  <a:pt x="48633" y="0"/>
                  <a:pt x="108534" y="0"/>
                </a:cubicBezTo>
                <a:close/>
              </a:path>
            </a:pathLst>
          </a:custGeom>
          <a:solidFill>
            <a:srgbClr val="007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804961" y="4929258"/>
            <a:ext cx="271335" cy="217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5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1157697" y="4911169"/>
            <a:ext cx="2559596" cy="217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9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"Check SEC filings" → </a:t>
            </a:r>
            <a:r>
              <a:rPr lang="en-US" sz="1139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Corporate Agent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832095" y="5272950"/>
            <a:ext cx="217068" cy="217068"/>
          </a:xfrm>
          <a:custGeom>
            <a:rect b="b" l="l" r="r" t="t"/>
            <a:pathLst>
              <a:path extrusionOk="0" h="217068" w="217068">
                <a:moveTo>
                  <a:pt x="108534" y="0"/>
                </a:moveTo>
                <a:lnTo>
                  <a:pt x="108534" y="0"/>
                </a:lnTo>
                <a:cubicBezTo>
                  <a:pt x="168436" y="0"/>
                  <a:pt x="217068" y="48633"/>
                  <a:pt x="217068" y="108534"/>
                </a:cubicBezTo>
                <a:lnTo>
                  <a:pt x="217068" y="108534"/>
                </a:lnTo>
                <a:cubicBezTo>
                  <a:pt x="217068" y="168436"/>
                  <a:pt x="168436" y="217068"/>
                  <a:pt x="108534" y="217068"/>
                </a:cubicBezTo>
                <a:lnTo>
                  <a:pt x="108534" y="217068"/>
                </a:lnTo>
                <a:cubicBezTo>
                  <a:pt x="48633" y="217068"/>
                  <a:pt x="0" y="168436"/>
                  <a:pt x="0" y="108534"/>
                </a:cubicBezTo>
                <a:lnTo>
                  <a:pt x="0" y="108534"/>
                </a:lnTo>
                <a:cubicBezTo>
                  <a:pt x="0" y="48633"/>
                  <a:pt x="48633" y="0"/>
                  <a:pt x="108534" y="0"/>
                </a:cubicBezTo>
                <a:close/>
              </a:path>
            </a:pathLst>
          </a:custGeom>
          <a:solidFill>
            <a:srgbClr val="007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804961" y="5272950"/>
            <a:ext cx="271335" cy="217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5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1157697" y="5254861"/>
            <a:ext cx="3111312" cy="217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9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"Cross-reference sanctions lists" → </a:t>
            </a:r>
            <a:r>
              <a:rPr lang="en-US" sz="1139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Legal Agent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6238663" y="1555656"/>
            <a:ext cx="5589507" cy="1646101"/>
          </a:xfrm>
          <a:custGeom>
            <a:rect b="b" l="l" r="r" t="t"/>
            <a:pathLst>
              <a:path extrusionOk="0" h="1646101" w="5589507">
                <a:moveTo>
                  <a:pt x="217071" y="0"/>
                </a:moveTo>
                <a:lnTo>
                  <a:pt x="5372436" y="0"/>
                </a:lnTo>
                <a:cubicBezTo>
                  <a:pt x="5492321" y="0"/>
                  <a:pt x="5589507" y="97186"/>
                  <a:pt x="5589507" y="217071"/>
                </a:cubicBezTo>
                <a:lnTo>
                  <a:pt x="5589507" y="1429030"/>
                </a:lnTo>
                <a:cubicBezTo>
                  <a:pt x="5589507" y="1548915"/>
                  <a:pt x="5492321" y="1646101"/>
                  <a:pt x="5372436" y="1646101"/>
                </a:cubicBezTo>
                <a:lnTo>
                  <a:pt x="217071" y="1646101"/>
                </a:lnTo>
                <a:cubicBezTo>
                  <a:pt x="97186" y="1646101"/>
                  <a:pt x="0" y="1548915"/>
                  <a:pt x="0" y="1429030"/>
                </a:cubicBezTo>
                <a:lnTo>
                  <a:pt x="0" y="217071"/>
                </a:lnTo>
                <a:cubicBezTo>
                  <a:pt x="0" y="97266"/>
                  <a:pt x="97266" y="0"/>
                  <a:pt x="21707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6455731" y="1772724"/>
            <a:ext cx="361780" cy="361780"/>
          </a:xfrm>
          <a:custGeom>
            <a:rect b="b" l="l" r="r" t="t"/>
            <a:pathLst>
              <a:path extrusionOk="0" h="361780" w="361780">
                <a:moveTo>
                  <a:pt x="108534" y="0"/>
                </a:moveTo>
                <a:lnTo>
                  <a:pt x="253246" y="0"/>
                </a:lnTo>
                <a:cubicBezTo>
                  <a:pt x="313148" y="0"/>
                  <a:pt x="361780" y="48633"/>
                  <a:pt x="361780" y="108534"/>
                </a:cubicBezTo>
                <a:lnTo>
                  <a:pt x="361780" y="253246"/>
                </a:lnTo>
                <a:cubicBezTo>
                  <a:pt x="361780" y="313148"/>
                  <a:pt x="313148" y="361780"/>
                  <a:pt x="253246" y="361780"/>
                </a:cubicBezTo>
                <a:lnTo>
                  <a:pt x="108534" y="361780"/>
                </a:lnTo>
                <a:cubicBezTo>
                  <a:pt x="48633" y="361780"/>
                  <a:pt x="0" y="313148"/>
                  <a:pt x="0" y="253246"/>
                </a:cubicBezTo>
                <a:lnTo>
                  <a:pt x="0" y="108534"/>
                </a:lnTo>
                <a:cubicBezTo>
                  <a:pt x="0" y="48633"/>
                  <a:pt x="48633" y="0"/>
                  <a:pt x="108534" y="0"/>
                </a:cubicBezTo>
                <a:close/>
              </a:path>
            </a:pathLst>
          </a:custGeom>
          <a:solidFill>
            <a:srgbClr val="34C759">
              <a:alpha val="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6557482" y="1872214"/>
            <a:ext cx="162801" cy="162801"/>
          </a:xfrm>
          <a:custGeom>
            <a:rect b="b" l="l" r="r" t="t"/>
            <a:pathLst>
              <a:path extrusionOk="0" h="162801" w="162801">
                <a:moveTo>
                  <a:pt x="61050" y="20350"/>
                </a:moveTo>
                <a:cubicBezTo>
                  <a:pt x="61050" y="14722"/>
                  <a:pt x="65597" y="10175"/>
                  <a:pt x="71226" y="10175"/>
                </a:cubicBezTo>
                <a:lnTo>
                  <a:pt x="91576" y="10175"/>
                </a:lnTo>
                <a:cubicBezTo>
                  <a:pt x="97204" y="10175"/>
                  <a:pt x="101751" y="14722"/>
                  <a:pt x="101751" y="20350"/>
                </a:cubicBezTo>
                <a:lnTo>
                  <a:pt x="101751" y="40700"/>
                </a:lnTo>
                <a:cubicBezTo>
                  <a:pt x="101751" y="46328"/>
                  <a:pt x="97204" y="50875"/>
                  <a:pt x="91576" y="50875"/>
                </a:cubicBezTo>
                <a:lnTo>
                  <a:pt x="89032" y="50875"/>
                </a:lnTo>
                <a:lnTo>
                  <a:pt x="89032" y="71226"/>
                </a:lnTo>
                <a:lnTo>
                  <a:pt x="127188" y="71226"/>
                </a:lnTo>
                <a:cubicBezTo>
                  <a:pt x="139844" y="71226"/>
                  <a:pt x="150082" y="81464"/>
                  <a:pt x="150082" y="94119"/>
                </a:cubicBezTo>
                <a:lnTo>
                  <a:pt x="150082" y="111926"/>
                </a:lnTo>
                <a:lnTo>
                  <a:pt x="152626" y="111926"/>
                </a:lnTo>
                <a:cubicBezTo>
                  <a:pt x="158254" y="111926"/>
                  <a:pt x="162801" y="116473"/>
                  <a:pt x="162801" y="122101"/>
                </a:cubicBezTo>
                <a:lnTo>
                  <a:pt x="162801" y="142451"/>
                </a:lnTo>
                <a:cubicBezTo>
                  <a:pt x="162801" y="148079"/>
                  <a:pt x="158254" y="152626"/>
                  <a:pt x="152626" y="152626"/>
                </a:cubicBezTo>
                <a:lnTo>
                  <a:pt x="132276" y="152626"/>
                </a:lnTo>
                <a:cubicBezTo>
                  <a:pt x="126648" y="152626"/>
                  <a:pt x="122101" y="148079"/>
                  <a:pt x="122101" y="142451"/>
                </a:cubicBezTo>
                <a:lnTo>
                  <a:pt x="122101" y="122101"/>
                </a:lnTo>
                <a:cubicBezTo>
                  <a:pt x="122101" y="116473"/>
                  <a:pt x="126648" y="111926"/>
                  <a:pt x="132276" y="111926"/>
                </a:cubicBezTo>
                <a:lnTo>
                  <a:pt x="134820" y="111926"/>
                </a:lnTo>
                <a:lnTo>
                  <a:pt x="134820" y="94119"/>
                </a:lnTo>
                <a:cubicBezTo>
                  <a:pt x="134820" y="89890"/>
                  <a:pt x="131417" y="86488"/>
                  <a:pt x="127188" y="86488"/>
                </a:cubicBezTo>
                <a:lnTo>
                  <a:pt x="89032" y="86488"/>
                </a:lnTo>
                <a:lnTo>
                  <a:pt x="89032" y="111926"/>
                </a:lnTo>
                <a:lnTo>
                  <a:pt x="91576" y="111926"/>
                </a:lnTo>
                <a:cubicBezTo>
                  <a:pt x="97204" y="111926"/>
                  <a:pt x="101751" y="116473"/>
                  <a:pt x="101751" y="122101"/>
                </a:cubicBezTo>
                <a:lnTo>
                  <a:pt x="101751" y="142451"/>
                </a:lnTo>
                <a:cubicBezTo>
                  <a:pt x="101751" y="148079"/>
                  <a:pt x="97204" y="152626"/>
                  <a:pt x="91576" y="152626"/>
                </a:cubicBezTo>
                <a:lnTo>
                  <a:pt x="71226" y="152626"/>
                </a:lnTo>
                <a:cubicBezTo>
                  <a:pt x="65597" y="152626"/>
                  <a:pt x="61050" y="148079"/>
                  <a:pt x="61050" y="142451"/>
                </a:cubicBezTo>
                <a:lnTo>
                  <a:pt x="61050" y="122101"/>
                </a:lnTo>
                <a:cubicBezTo>
                  <a:pt x="61050" y="116473"/>
                  <a:pt x="65597" y="111926"/>
                  <a:pt x="71226" y="111926"/>
                </a:cubicBezTo>
                <a:lnTo>
                  <a:pt x="73769" y="111926"/>
                </a:lnTo>
                <a:lnTo>
                  <a:pt x="73769" y="86488"/>
                </a:lnTo>
                <a:lnTo>
                  <a:pt x="35613" y="86488"/>
                </a:lnTo>
                <a:cubicBezTo>
                  <a:pt x="31384" y="86488"/>
                  <a:pt x="27981" y="89890"/>
                  <a:pt x="27981" y="94119"/>
                </a:cubicBezTo>
                <a:lnTo>
                  <a:pt x="27981" y="111926"/>
                </a:lnTo>
                <a:lnTo>
                  <a:pt x="30525" y="111926"/>
                </a:lnTo>
                <a:cubicBezTo>
                  <a:pt x="36153" y="111926"/>
                  <a:pt x="40700" y="116473"/>
                  <a:pt x="40700" y="122101"/>
                </a:cubicBezTo>
                <a:lnTo>
                  <a:pt x="40700" y="142451"/>
                </a:lnTo>
                <a:cubicBezTo>
                  <a:pt x="40700" y="148079"/>
                  <a:pt x="36153" y="152626"/>
                  <a:pt x="30525" y="152626"/>
                </a:cubicBezTo>
                <a:lnTo>
                  <a:pt x="10175" y="152626"/>
                </a:lnTo>
                <a:cubicBezTo>
                  <a:pt x="4547" y="152626"/>
                  <a:pt x="0" y="148079"/>
                  <a:pt x="0" y="142451"/>
                </a:cubicBezTo>
                <a:lnTo>
                  <a:pt x="0" y="122101"/>
                </a:lnTo>
                <a:cubicBezTo>
                  <a:pt x="0" y="116473"/>
                  <a:pt x="4547" y="111926"/>
                  <a:pt x="10175" y="111926"/>
                </a:cubicBezTo>
                <a:lnTo>
                  <a:pt x="12719" y="111926"/>
                </a:lnTo>
                <a:lnTo>
                  <a:pt x="12719" y="94119"/>
                </a:lnTo>
                <a:cubicBezTo>
                  <a:pt x="12719" y="81464"/>
                  <a:pt x="22958" y="71226"/>
                  <a:pt x="35613" y="71226"/>
                </a:cubicBezTo>
                <a:lnTo>
                  <a:pt x="73769" y="71226"/>
                </a:lnTo>
                <a:lnTo>
                  <a:pt x="73769" y="50875"/>
                </a:lnTo>
                <a:lnTo>
                  <a:pt x="71226" y="50875"/>
                </a:lnTo>
                <a:cubicBezTo>
                  <a:pt x="65597" y="50875"/>
                  <a:pt x="61050" y="46328"/>
                  <a:pt x="61050" y="40700"/>
                </a:cubicBezTo>
                <a:lnTo>
                  <a:pt x="61050" y="20350"/>
                </a:lnTo>
                <a:close/>
              </a:path>
            </a:pathLst>
          </a:custGeom>
          <a:solidFill>
            <a:srgbClr val="34C75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6926046" y="1826991"/>
            <a:ext cx="1845080" cy="2532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82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Dynamic Task Allocation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6455731" y="2279217"/>
            <a:ext cx="5227727" cy="705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9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Automatically routes sub-tasks to specialist agents based on their domain expertise, current workload, and data source requirements optimizing for both accuracy and speed.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6238663" y="3382647"/>
            <a:ext cx="5589507" cy="1646101"/>
          </a:xfrm>
          <a:custGeom>
            <a:rect b="b" l="l" r="r" t="t"/>
            <a:pathLst>
              <a:path extrusionOk="0" h="1646101" w="5589507">
                <a:moveTo>
                  <a:pt x="217071" y="0"/>
                </a:moveTo>
                <a:lnTo>
                  <a:pt x="5372436" y="0"/>
                </a:lnTo>
                <a:cubicBezTo>
                  <a:pt x="5492321" y="0"/>
                  <a:pt x="5589507" y="97186"/>
                  <a:pt x="5589507" y="217071"/>
                </a:cubicBezTo>
                <a:lnTo>
                  <a:pt x="5589507" y="1429030"/>
                </a:lnTo>
                <a:cubicBezTo>
                  <a:pt x="5589507" y="1548915"/>
                  <a:pt x="5492321" y="1646101"/>
                  <a:pt x="5372436" y="1646101"/>
                </a:cubicBezTo>
                <a:lnTo>
                  <a:pt x="217071" y="1646101"/>
                </a:lnTo>
                <a:cubicBezTo>
                  <a:pt x="97186" y="1646101"/>
                  <a:pt x="0" y="1548915"/>
                  <a:pt x="0" y="1429030"/>
                </a:cubicBezTo>
                <a:lnTo>
                  <a:pt x="0" y="217071"/>
                </a:lnTo>
                <a:cubicBezTo>
                  <a:pt x="0" y="97266"/>
                  <a:pt x="97266" y="0"/>
                  <a:pt x="21707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6455731" y="3599715"/>
            <a:ext cx="361780" cy="361780"/>
          </a:xfrm>
          <a:custGeom>
            <a:rect b="b" l="l" r="r" t="t"/>
            <a:pathLst>
              <a:path extrusionOk="0" h="361780" w="361780">
                <a:moveTo>
                  <a:pt x="108534" y="0"/>
                </a:moveTo>
                <a:lnTo>
                  <a:pt x="253246" y="0"/>
                </a:lnTo>
                <a:cubicBezTo>
                  <a:pt x="313148" y="0"/>
                  <a:pt x="361780" y="48633"/>
                  <a:pt x="361780" y="108534"/>
                </a:cubicBezTo>
                <a:lnTo>
                  <a:pt x="361780" y="253246"/>
                </a:lnTo>
                <a:cubicBezTo>
                  <a:pt x="361780" y="313148"/>
                  <a:pt x="313148" y="361780"/>
                  <a:pt x="253246" y="361780"/>
                </a:cubicBezTo>
                <a:lnTo>
                  <a:pt x="108534" y="361780"/>
                </a:lnTo>
                <a:cubicBezTo>
                  <a:pt x="48633" y="361780"/>
                  <a:pt x="0" y="313148"/>
                  <a:pt x="0" y="253246"/>
                </a:cubicBezTo>
                <a:lnTo>
                  <a:pt x="0" y="108534"/>
                </a:lnTo>
                <a:cubicBezTo>
                  <a:pt x="0" y="48633"/>
                  <a:pt x="48633" y="0"/>
                  <a:pt x="108534" y="0"/>
                </a:cubicBezTo>
                <a:close/>
              </a:path>
            </a:pathLst>
          </a:custGeom>
          <a:solidFill>
            <a:srgbClr val="FF9500">
              <a:alpha val="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6557482" y="3699205"/>
            <a:ext cx="162801" cy="162801"/>
          </a:xfrm>
          <a:custGeom>
            <a:rect b="b" l="l" r="r" t="t"/>
            <a:pathLst>
              <a:path extrusionOk="0" h="162801" w="162801">
                <a:moveTo>
                  <a:pt x="152658" y="61050"/>
                </a:moveTo>
                <a:lnTo>
                  <a:pt x="155170" y="61050"/>
                </a:lnTo>
                <a:cubicBezTo>
                  <a:pt x="159399" y="61050"/>
                  <a:pt x="162801" y="57648"/>
                  <a:pt x="162801" y="53419"/>
                </a:cubicBezTo>
                <a:lnTo>
                  <a:pt x="162801" y="7631"/>
                </a:lnTo>
                <a:cubicBezTo>
                  <a:pt x="162801" y="4547"/>
                  <a:pt x="160957" y="1749"/>
                  <a:pt x="158095" y="572"/>
                </a:cubicBezTo>
                <a:cubicBezTo>
                  <a:pt x="155233" y="-604"/>
                  <a:pt x="151958" y="64"/>
                  <a:pt x="149764" y="2226"/>
                </a:cubicBezTo>
                <a:lnTo>
                  <a:pt x="133325" y="18697"/>
                </a:lnTo>
                <a:cubicBezTo>
                  <a:pt x="119239" y="7027"/>
                  <a:pt x="101115" y="0"/>
                  <a:pt x="81401" y="0"/>
                </a:cubicBezTo>
                <a:cubicBezTo>
                  <a:pt x="40382" y="0"/>
                  <a:pt x="6455" y="30334"/>
                  <a:pt x="827" y="69795"/>
                </a:cubicBezTo>
                <a:cubicBezTo>
                  <a:pt x="32" y="75359"/>
                  <a:pt x="3879" y="80510"/>
                  <a:pt x="9444" y="81305"/>
                </a:cubicBezTo>
                <a:cubicBezTo>
                  <a:pt x="15008" y="82100"/>
                  <a:pt x="20159" y="78221"/>
                  <a:pt x="20954" y="72688"/>
                </a:cubicBezTo>
                <a:cubicBezTo>
                  <a:pt x="25183" y="43085"/>
                  <a:pt x="50653" y="20350"/>
                  <a:pt x="81401" y="20350"/>
                </a:cubicBezTo>
                <a:cubicBezTo>
                  <a:pt x="95519" y="20350"/>
                  <a:pt x="108492" y="25120"/>
                  <a:pt x="118826" y="33164"/>
                </a:cubicBezTo>
                <a:lnTo>
                  <a:pt x="103977" y="48014"/>
                </a:lnTo>
                <a:cubicBezTo>
                  <a:pt x="101783" y="50208"/>
                  <a:pt x="101147" y="53483"/>
                  <a:pt x="102323" y="56344"/>
                </a:cubicBezTo>
                <a:cubicBezTo>
                  <a:pt x="103500" y="59206"/>
                  <a:pt x="106298" y="61050"/>
                  <a:pt x="109382" y="61050"/>
                </a:cubicBezTo>
                <a:lnTo>
                  <a:pt x="152658" y="61050"/>
                </a:lnTo>
                <a:close/>
                <a:moveTo>
                  <a:pt x="162006" y="93007"/>
                </a:moveTo>
                <a:cubicBezTo>
                  <a:pt x="162801" y="87442"/>
                  <a:pt x="158922" y="82291"/>
                  <a:pt x="153389" y="81496"/>
                </a:cubicBezTo>
                <a:cubicBezTo>
                  <a:pt x="147857" y="80701"/>
                  <a:pt x="142674" y="84580"/>
                  <a:pt x="141879" y="90113"/>
                </a:cubicBezTo>
                <a:cubicBezTo>
                  <a:pt x="137650" y="119684"/>
                  <a:pt x="112180" y="142419"/>
                  <a:pt x="81432" y="142419"/>
                </a:cubicBezTo>
                <a:cubicBezTo>
                  <a:pt x="67314" y="142419"/>
                  <a:pt x="54341" y="137650"/>
                  <a:pt x="44007" y="129605"/>
                </a:cubicBezTo>
                <a:lnTo>
                  <a:pt x="58825" y="114788"/>
                </a:lnTo>
                <a:cubicBezTo>
                  <a:pt x="61019" y="112594"/>
                  <a:pt x="61655" y="109318"/>
                  <a:pt x="60478" y="106457"/>
                </a:cubicBezTo>
                <a:cubicBezTo>
                  <a:pt x="59302" y="103595"/>
                  <a:pt x="56503" y="101751"/>
                  <a:pt x="53419" y="101751"/>
                </a:cubicBezTo>
                <a:lnTo>
                  <a:pt x="7631" y="101751"/>
                </a:lnTo>
                <a:cubicBezTo>
                  <a:pt x="3402" y="101751"/>
                  <a:pt x="0" y="105153"/>
                  <a:pt x="0" y="109382"/>
                </a:cubicBezTo>
                <a:lnTo>
                  <a:pt x="0" y="155170"/>
                </a:lnTo>
                <a:cubicBezTo>
                  <a:pt x="0" y="158254"/>
                  <a:pt x="1844" y="161052"/>
                  <a:pt x="4706" y="162229"/>
                </a:cubicBezTo>
                <a:cubicBezTo>
                  <a:pt x="7568" y="163405"/>
                  <a:pt x="10843" y="162738"/>
                  <a:pt x="13037" y="160575"/>
                </a:cubicBezTo>
                <a:lnTo>
                  <a:pt x="29508" y="144104"/>
                </a:lnTo>
                <a:cubicBezTo>
                  <a:pt x="43562" y="155774"/>
                  <a:pt x="61686" y="162801"/>
                  <a:pt x="81401" y="162801"/>
                </a:cubicBezTo>
                <a:cubicBezTo>
                  <a:pt x="122419" y="162801"/>
                  <a:pt x="156346" y="132467"/>
                  <a:pt x="161974" y="93007"/>
                </a:cubicBezTo>
                <a:close/>
              </a:path>
            </a:pathLst>
          </a:custGeom>
          <a:solidFill>
            <a:srgbClr val="FF95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6926046" y="3653982"/>
            <a:ext cx="1528522" cy="2532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82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Iterative Refinement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6455731" y="4106208"/>
            <a:ext cx="5227727" cy="705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9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Continuously evaluates intermediate results, identifies knowledge gaps, and triggers additional retrieval cycles ensuring comprehensive coverage before finalizing conclusions.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6238663" y="5220148"/>
            <a:ext cx="5589507" cy="1646101"/>
          </a:xfrm>
          <a:custGeom>
            <a:rect b="b" l="l" r="r" t="t"/>
            <a:pathLst>
              <a:path extrusionOk="0" h="1646101" w="5589507">
                <a:moveTo>
                  <a:pt x="217071" y="0"/>
                </a:moveTo>
                <a:lnTo>
                  <a:pt x="5372436" y="0"/>
                </a:lnTo>
                <a:cubicBezTo>
                  <a:pt x="5492321" y="0"/>
                  <a:pt x="5589507" y="97186"/>
                  <a:pt x="5589507" y="217071"/>
                </a:cubicBezTo>
                <a:lnTo>
                  <a:pt x="5589507" y="1429030"/>
                </a:lnTo>
                <a:cubicBezTo>
                  <a:pt x="5589507" y="1548915"/>
                  <a:pt x="5492321" y="1646101"/>
                  <a:pt x="5372436" y="1646101"/>
                </a:cubicBezTo>
                <a:lnTo>
                  <a:pt x="217071" y="1646101"/>
                </a:lnTo>
                <a:cubicBezTo>
                  <a:pt x="97186" y="1646101"/>
                  <a:pt x="0" y="1548915"/>
                  <a:pt x="0" y="1429030"/>
                </a:cubicBezTo>
                <a:lnTo>
                  <a:pt x="0" y="217071"/>
                </a:lnTo>
                <a:cubicBezTo>
                  <a:pt x="0" y="97266"/>
                  <a:pt x="97266" y="0"/>
                  <a:pt x="21707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6455731" y="5426706"/>
            <a:ext cx="361780" cy="361780"/>
          </a:xfrm>
          <a:custGeom>
            <a:rect b="b" l="l" r="r" t="t"/>
            <a:pathLst>
              <a:path extrusionOk="0" h="361780" w="361780">
                <a:moveTo>
                  <a:pt x="108534" y="0"/>
                </a:moveTo>
                <a:lnTo>
                  <a:pt x="253246" y="0"/>
                </a:lnTo>
                <a:cubicBezTo>
                  <a:pt x="313148" y="0"/>
                  <a:pt x="361780" y="48633"/>
                  <a:pt x="361780" y="108534"/>
                </a:cubicBezTo>
                <a:lnTo>
                  <a:pt x="361780" y="253246"/>
                </a:lnTo>
                <a:cubicBezTo>
                  <a:pt x="361780" y="313148"/>
                  <a:pt x="313148" y="361780"/>
                  <a:pt x="253246" y="361780"/>
                </a:cubicBezTo>
                <a:lnTo>
                  <a:pt x="108534" y="361780"/>
                </a:lnTo>
                <a:cubicBezTo>
                  <a:pt x="48633" y="361780"/>
                  <a:pt x="0" y="313148"/>
                  <a:pt x="0" y="253246"/>
                </a:cubicBezTo>
                <a:lnTo>
                  <a:pt x="0" y="108534"/>
                </a:lnTo>
                <a:cubicBezTo>
                  <a:pt x="0" y="48633"/>
                  <a:pt x="48633" y="0"/>
                  <a:pt x="108534" y="0"/>
                </a:cubicBezTo>
                <a:close/>
              </a:path>
            </a:pathLst>
          </a:custGeom>
          <a:solidFill>
            <a:srgbClr val="5856D6">
              <a:alpha val="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6557482" y="5526196"/>
            <a:ext cx="162801" cy="162801"/>
          </a:xfrm>
          <a:custGeom>
            <a:rect b="b" l="l" r="r" t="t"/>
            <a:pathLst>
              <a:path extrusionOk="0" h="162801" w="162801">
                <a:moveTo>
                  <a:pt x="73928" y="1653"/>
                </a:moveTo>
                <a:cubicBezTo>
                  <a:pt x="78666" y="-541"/>
                  <a:pt x="84135" y="-541"/>
                  <a:pt x="88873" y="1653"/>
                </a:cubicBezTo>
                <a:lnTo>
                  <a:pt x="158381" y="33769"/>
                </a:lnTo>
                <a:cubicBezTo>
                  <a:pt x="161084" y="35009"/>
                  <a:pt x="162801" y="37711"/>
                  <a:pt x="162801" y="40700"/>
                </a:cubicBezTo>
                <a:cubicBezTo>
                  <a:pt x="162801" y="43689"/>
                  <a:pt x="161084" y="46392"/>
                  <a:pt x="158381" y="47632"/>
                </a:cubicBezTo>
                <a:lnTo>
                  <a:pt x="88873" y="79747"/>
                </a:lnTo>
                <a:cubicBezTo>
                  <a:pt x="84135" y="81941"/>
                  <a:pt x="78666" y="81941"/>
                  <a:pt x="73928" y="79747"/>
                </a:cubicBezTo>
                <a:lnTo>
                  <a:pt x="4420" y="47632"/>
                </a:lnTo>
                <a:cubicBezTo>
                  <a:pt x="1717" y="46360"/>
                  <a:pt x="0" y="43657"/>
                  <a:pt x="0" y="40700"/>
                </a:cubicBezTo>
                <a:cubicBezTo>
                  <a:pt x="0" y="37743"/>
                  <a:pt x="1717" y="35009"/>
                  <a:pt x="4420" y="33769"/>
                </a:cubicBezTo>
                <a:lnTo>
                  <a:pt x="73928" y="1653"/>
                </a:lnTo>
                <a:close/>
                <a:moveTo>
                  <a:pt x="15294" y="69445"/>
                </a:moveTo>
                <a:lnTo>
                  <a:pt x="67537" y="93579"/>
                </a:lnTo>
                <a:cubicBezTo>
                  <a:pt x="76345" y="97649"/>
                  <a:pt x="86488" y="97649"/>
                  <a:pt x="95296" y="93579"/>
                </a:cubicBezTo>
                <a:lnTo>
                  <a:pt x="147539" y="69445"/>
                </a:lnTo>
                <a:lnTo>
                  <a:pt x="158381" y="74469"/>
                </a:lnTo>
                <a:cubicBezTo>
                  <a:pt x="161084" y="75709"/>
                  <a:pt x="162801" y="78412"/>
                  <a:pt x="162801" y="81401"/>
                </a:cubicBezTo>
                <a:cubicBezTo>
                  <a:pt x="162801" y="84390"/>
                  <a:pt x="161084" y="87092"/>
                  <a:pt x="158381" y="88332"/>
                </a:cubicBezTo>
                <a:lnTo>
                  <a:pt x="88873" y="120447"/>
                </a:lnTo>
                <a:cubicBezTo>
                  <a:pt x="84135" y="122641"/>
                  <a:pt x="78666" y="122641"/>
                  <a:pt x="73928" y="120447"/>
                </a:cubicBezTo>
                <a:lnTo>
                  <a:pt x="4420" y="88332"/>
                </a:lnTo>
                <a:cubicBezTo>
                  <a:pt x="1717" y="87060"/>
                  <a:pt x="0" y="84358"/>
                  <a:pt x="0" y="81401"/>
                </a:cubicBezTo>
                <a:cubicBezTo>
                  <a:pt x="0" y="78443"/>
                  <a:pt x="1717" y="75709"/>
                  <a:pt x="4420" y="74469"/>
                </a:cubicBezTo>
                <a:lnTo>
                  <a:pt x="15263" y="69445"/>
                </a:lnTo>
                <a:close/>
                <a:moveTo>
                  <a:pt x="4420" y="115169"/>
                </a:moveTo>
                <a:lnTo>
                  <a:pt x="15263" y="110145"/>
                </a:lnTo>
                <a:lnTo>
                  <a:pt x="67505" y="134279"/>
                </a:lnTo>
                <a:cubicBezTo>
                  <a:pt x="76313" y="138349"/>
                  <a:pt x="86456" y="138349"/>
                  <a:pt x="95264" y="134279"/>
                </a:cubicBezTo>
                <a:lnTo>
                  <a:pt x="147507" y="110145"/>
                </a:lnTo>
                <a:lnTo>
                  <a:pt x="158350" y="115169"/>
                </a:lnTo>
                <a:cubicBezTo>
                  <a:pt x="161052" y="116409"/>
                  <a:pt x="162769" y="119112"/>
                  <a:pt x="162769" y="122101"/>
                </a:cubicBezTo>
                <a:cubicBezTo>
                  <a:pt x="162769" y="125090"/>
                  <a:pt x="161052" y="127793"/>
                  <a:pt x="158350" y="129033"/>
                </a:cubicBezTo>
                <a:lnTo>
                  <a:pt x="88841" y="161148"/>
                </a:lnTo>
                <a:cubicBezTo>
                  <a:pt x="84103" y="163342"/>
                  <a:pt x="78634" y="163342"/>
                  <a:pt x="73896" y="161148"/>
                </a:cubicBezTo>
                <a:lnTo>
                  <a:pt x="4420" y="129033"/>
                </a:lnTo>
                <a:cubicBezTo>
                  <a:pt x="1717" y="127761"/>
                  <a:pt x="0" y="125058"/>
                  <a:pt x="0" y="122101"/>
                </a:cubicBezTo>
                <a:cubicBezTo>
                  <a:pt x="0" y="119144"/>
                  <a:pt x="1717" y="116409"/>
                  <a:pt x="4420" y="115169"/>
                </a:cubicBezTo>
                <a:close/>
              </a:path>
            </a:pathLst>
          </a:custGeom>
          <a:solidFill>
            <a:srgbClr val="5856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6926046" y="5480973"/>
            <a:ext cx="1637056" cy="2532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82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Context Management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6455731" y="5933199"/>
            <a:ext cx="5227727" cy="705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9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Maintains investigation context across all agents, ensuring findings from one specialist inform queries to others creating a cohesive, unified intelligence picture.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7AFF"/>
                </a:solidFill>
                <a:latin typeface="Liter"/>
                <a:ea typeface="Liter"/>
                <a:cs typeface="Liter"/>
                <a:sym typeface="Liter"/>
              </a:rPr>
              <a:t>Specialist Agent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Corporate Intelligence Agent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Deep analysis of corporate structures and financial disclosures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381000" y="1771650"/>
            <a:ext cx="6762750" cy="2228850"/>
          </a:xfrm>
          <a:custGeom>
            <a:rect b="b" l="l" r="r" t="t"/>
            <a:pathLst>
              <a:path extrusionOk="0" h="2228850" w="6762750">
                <a:moveTo>
                  <a:pt x="228591" y="0"/>
                </a:moveTo>
                <a:lnTo>
                  <a:pt x="6534159" y="0"/>
                </a:lnTo>
                <a:cubicBezTo>
                  <a:pt x="6660322" y="0"/>
                  <a:pt x="6762750" y="102428"/>
                  <a:pt x="6762750" y="228591"/>
                </a:cubicBezTo>
                <a:lnTo>
                  <a:pt x="6762750" y="2000259"/>
                </a:lnTo>
                <a:cubicBezTo>
                  <a:pt x="6762750" y="2126422"/>
                  <a:pt x="6660322" y="2228850"/>
                  <a:pt x="6534159" y="2228850"/>
                </a:cubicBezTo>
                <a:lnTo>
                  <a:pt x="228591" y="2228850"/>
                </a:lnTo>
                <a:cubicBezTo>
                  <a:pt x="102428" y="2228850"/>
                  <a:pt x="0" y="2126422"/>
                  <a:pt x="0" y="2000259"/>
                </a:cubicBezTo>
                <a:lnTo>
                  <a:pt x="0" y="228591"/>
                </a:lnTo>
                <a:cubicBezTo>
                  <a:pt x="0" y="102428"/>
                  <a:pt x="102428" y="0"/>
                  <a:pt x="22859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609600" y="2000250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>
            <a:gsLst>
              <a:gs pos="0">
                <a:srgbClr val="007AFF"/>
              </a:gs>
              <a:gs pos="100000">
                <a:srgbClr val="5856D6"/>
              </a:gs>
            </a:gsLst>
            <a:lin ang="2700000" scaled="0"/>
          </a:gra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766763" y="2133600"/>
            <a:ext cx="142875" cy="190500"/>
          </a:xfrm>
          <a:custGeom>
            <a:rect b="b" l="l" r="r" t="t"/>
            <a:pathLst>
              <a:path extrusionOk="0" h="190500" w="142875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65484" y="130969"/>
                </a:moveTo>
                <a:lnTo>
                  <a:pt x="77391" y="130969"/>
                </a:lnTo>
                <a:cubicBezTo>
                  <a:pt x="83976" y="130969"/>
                  <a:pt x="89297" y="136289"/>
                  <a:pt x="89297" y="142875"/>
                </a:cubicBezTo>
                <a:lnTo>
                  <a:pt x="89297" y="172641"/>
                </a:lnTo>
                <a:lnTo>
                  <a:pt x="53578" y="172641"/>
                </a:lnTo>
                <a:lnTo>
                  <a:pt x="53578" y="142875"/>
                </a:lnTo>
                <a:cubicBezTo>
                  <a:pt x="53578" y="136289"/>
                  <a:pt x="58899" y="130969"/>
                  <a:pt x="65484" y="130969"/>
                </a:cubicBezTo>
                <a:close/>
                <a:moveTo>
                  <a:pt x="35719" y="41672"/>
                </a:moveTo>
                <a:cubicBezTo>
                  <a:pt x="35719" y="38398"/>
                  <a:pt x="38398" y="35719"/>
                  <a:pt x="41672" y="35719"/>
                </a:cubicBezTo>
                <a:lnTo>
                  <a:pt x="53578" y="35719"/>
                </a:lnTo>
                <a:cubicBezTo>
                  <a:pt x="56852" y="35719"/>
                  <a:pt x="59531" y="38398"/>
                  <a:pt x="59531" y="41672"/>
                </a:cubicBezTo>
                <a:lnTo>
                  <a:pt x="59531" y="53578"/>
                </a:lnTo>
                <a:cubicBezTo>
                  <a:pt x="59531" y="56852"/>
                  <a:pt x="56852" y="59531"/>
                  <a:pt x="53578" y="59531"/>
                </a:cubicBezTo>
                <a:lnTo>
                  <a:pt x="41672" y="59531"/>
                </a:lnTo>
                <a:cubicBezTo>
                  <a:pt x="38398" y="59531"/>
                  <a:pt x="35719" y="56852"/>
                  <a:pt x="35719" y="53578"/>
                </a:cubicBezTo>
                <a:lnTo>
                  <a:pt x="35719" y="41672"/>
                </a:lnTo>
                <a:close/>
                <a:moveTo>
                  <a:pt x="89297" y="35719"/>
                </a:moveTo>
                <a:lnTo>
                  <a:pt x="101203" y="35719"/>
                </a:lnTo>
                <a:cubicBezTo>
                  <a:pt x="104477" y="35719"/>
                  <a:pt x="107156" y="38398"/>
                  <a:pt x="107156" y="41672"/>
                </a:cubicBezTo>
                <a:lnTo>
                  <a:pt x="107156" y="53578"/>
                </a:lnTo>
                <a:cubicBezTo>
                  <a:pt x="107156" y="56852"/>
                  <a:pt x="104477" y="59531"/>
                  <a:pt x="101203" y="59531"/>
                </a:cubicBezTo>
                <a:lnTo>
                  <a:pt x="89297" y="59531"/>
                </a:lnTo>
                <a:cubicBezTo>
                  <a:pt x="86023" y="59531"/>
                  <a:pt x="83344" y="56852"/>
                  <a:pt x="83344" y="53578"/>
                </a:cubicBezTo>
                <a:lnTo>
                  <a:pt x="83344" y="41672"/>
                </a:lnTo>
                <a:cubicBezTo>
                  <a:pt x="83344" y="38398"/>
                  <a:pt x="86023" y="35719"/>
                  <a:pt x="89297" y="35719"/>
                </a:cubicBezTo>
                <a:close/>
                <a:moveTo>
                  <a:pt x="35719" y="89297"/>
                </a:moveTo>
                <a:cubicBezTo>
                  <a:pt x="35719" y="86023"/>
                  <a:pt x="38398" y="83344"/>
                  <a:pt x="41672" y="83344"/>
                </a:cubicBezTo>
                <a:lnTo>
                  <a:pt x="53578" y="83344"/>
                </a:lnTo>
                <a:cubicBezTo>
                  <a:pt x="56852" y="83344"/>
                  <a:pt x="59531" y="86023"/>
                  <a:pt x="59531" y="89297"/>
                </a:cubicBezTo>
                <a:lnTo>
                  <a:pt x="59531" y="101203"/>
                </a:lnTo>
                <a:cubicBezTo>
                  <a:pt x="59531" y="104477"/>
                  <a:pt x="56852" y="107156"/>
                  <a:pt x="53578" y="107156"/>
                </a:cubicBezTo>
                <a:lnTo>
                  <a:pt x="41672" y="107156"/>
                </a:lnTo>
                <a:cubicBezTo>
                  <a:pt x="38398" y="107156"/>
                  <a:pt x="35719" y="104477"/>
                  <a:pt x="35719" y="101203"/>
                </a:cubicBezTo>
                <a:lnTo>
                  <a:pt x="35719" y="89297"/>
                </a:lnTo>
                <a:close/>
                <a:moveTo>
                  <a:pt x="89297" y="83344"/>
                </a:moveTo>
                <a:lnTo>
                  <a:pt x="101203" y="83344"/>
                </a:lnTo>
                <a:cubicBezTo>
                  <a:pt x="104477" y="83344"/>
                  <a:pt x="107156" y="86023"/>
                  <a:pt x="107156" y="89297"/>
                </a:cubicBezTo>
                <a:lnTo>
                  <a:pt x="107156" y="101203"/>
                </a:lnTo>
                <a:cubicBezTo>
                  <a:pt x="107156" y="104477"/>
                  <a:pt x="104477" y="107156"/>
                  <a:pt x="101203" y="107156"/>
                </a:cubicBezTo>
                <a:lnTo>
                  <a:pt x="89297" y="107156"/>
                </a:lnTo>
                <a:cubicBezTo>
                  <a:pt x="86023" y="107156"/>
                  <a:pt x="83344" y="104477"/>
                  <a:pt x="83344" y="101203"/>
                </a:cubicBezTo>
                <a:lnTo>
                  <a:pt x="83344" y="89297"/>
                </a:lnTo>
                <a:cubicBezTo>
                  <a:pt x="83344" y="86023"/>
                  <a:pt x="86023" y="83344"/>
                  <a:pt x="89297" y="8334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1219200" y="2095500"/>
            <a:ext cx="1857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SEC EDGAR Analysis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609600" y="2609850"/>
            <a:ext cx="63817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Leverages Retrieval-Augmented Generation (RAG) to analyze SEC EDGAR 10-K, 10-Q, and 8-K filings extracting ownership structures, executive compensation, related-party transactions, and material risk factors.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609600" y="3505200"/>
            <a:ext cx="914400" cy="266700"/>
          </a:xfrm>
          <a:custGeom>
            <a:rect b="b" l="l" r="r" t="t"/>
            <a:pathLst>
              <a:path extrusionOk="0" h="266700" w="914400">
                <a:moveTo>
                  <a:pt x="133350" y="0"/>
                </a:moveTo>
                <a:lnTo>
                  <a:pt x="781050" y="0"/>
                </a:lnTo>
                <a:cubicBezTo>
                  <a:pt x="854648" y="0"/>
                  <a:pt x="914400" y="59752"/>
                  <a:pt x="914400" y="133350"/>
                </a:cubicBezTo>
                <a:lnTo>
                  <a:pt x="914400" y="133350"/>
                </a:lnTo>
                <a:cubicBezTo>
                  <a:pt x="914400" y="206948"/>
                  <a:pt x="854648" y="266700"/>
                  <a:pt x="7810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07AFF">
              <a:alpha val="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609600" y="3505200"/>
            <a:ext cx="9810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114300" spcFirstLastPara="1" rIns="114300" wrap="square" tIns="38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7AFF"/>
                </a:solidFill>
                <a:latin typeface="Liter"/>
                <a:ea typeface="Liter"/>
                <a:cs typeface="Liter"/>
                <a:sym typeface="Liter"/>
              </a:rPr>
              <a:t>10-K Filings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1599977" y="3505200"/>
            <a:ext cx="1009650" cy="266700"/>
          </a:xfrm>
          <a:custGeom>
            <a:rect b="b" l="l" r="r" t="t"/>
            <a:pathLst>
              <a:path extrusionOk="0" h="266700" w="1009650">
                <a:moveTo>
                  <a:pt x="133350" y="0"/>
                </a:moveTo>
                <a:lnTo>
                  <a:pt x="876300" y="0"/>
                </a:lnTo>
                <a:cubicBezTo>
                  <a:pt x="949898" y="0"/>
                  <a:pt x="1009650" y="59752"/>
                  <a:pt x="1009650" y="133350"/>
                </a:cubicBezTo>
                <a:lnTo>
                  <a:pt x="1009650" y="133350"/>
                </a:lnTo>
                <a:cubicBezTo>
                  <a:pt x="1009650" y="206948"/>
                  <a:pt x="949898" y="266700"/>
                  <a:pt x="8763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07AFF">
              <a:alpha val="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1599977" y="3505200"/>
            <a:ext cx="10763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114300" spcFirstLastPara="1" rIns="114300" wrap="square" tIns="38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7AFF"/>
                </a:solidFill>
                <a:latin typeface="Liter"/>
                <a:ea typeface="Liter"/>
                <a:cs typeface="Liter"/>
                <a:sym typeface="Liter"/>
              </a:rPr>
              <a:t>10-Q Reports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2681585" y="3505200"/>
            <a:ext cx="876300" cy="266700"/>
          </a:xfrm>
          <a:custGeom>
            <a:rect b="b" l="l" r="r" t="t"/>
            <a:pathLst>
              <a:path extrusionOk="0" h="266700" w="876300">
                <a:moveTo>
                  <a:pt x="133350" y="0"/>
                </a:moveTo>
                <a:lnTo>
                  <a:pt x="742950" y="0"/>
                </a:lnTo>
                <a:cubicBezTo>
                  <a:pt x="816548" y="0"/>
                  <a:pt x="876300" y="59752"/>
                  <a:pt x="876300" y="133350"/>
                </a:cubicBezTo>
                <a:lnTo>
                  <a:pt x="876300" y="133350"/>
                </a:lnTo>
                <a:cubicBezTo>
                  <a:pt x="876300" y="206948"/>
                  <a:pt x="816548" y="266700"/>
                  <a:pt x="7429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007AFF">
              <a:alpha val="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2681585" y="3505200"/>
            <a:ext cx="9429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114300" spcFirstLastPara="1" rIns="114300" wrap="square" tIns="38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7AFF"/>
                </a:solidFill>
                <a:latin typeface="Liter"/>
                <a:ea typeface="Liter"/>
                <a:cs typeface="Liter"/>
                <a:sym typeface="Liter"/>
              </a:rPr>
              <a:t>8-K Events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381000" y="4191000"/>
            <a:ext cx="6762750" cy="2152650"/>
          </a:xfrm>
          <a:custGeom>
            <a:rect b="b" l="l" r="r" t="t"/>
            <a:pathLst>
              <a:path extrusionOk="0" h="2152650" w="6762750">
                <a:moveTo>
                  <a:pt x="228590" y="0"/>
                </a:moveTo>
                <a:lnTo>
                  <a:pt x="6534160" y="0"/>
                </a:lnTo>
                <a:cubicBezTo>
                  <a:pt x="6660407" y="0"/>
                  <a:pt x="6762750" y="102343"/>
                  <a:pt x="6762750" y="228590"/>
                </a:cubicBezTo>
                <a:lnTo>
                  <a:pt x="6762750" y="1924060"/>
                </a:lnTo>
                <a:cubicBezTo>
                  <a:pt x="6762750" y="2050307"/>
                  <a:pt x="6660407" y="2152650"/>
                  <a:pt x="6534160" y="2152650"/>
                </a:cubicBezTo>
                <a:lnTo>
                  <a:pt x="228590" y="2152650"/>
                </a:lnTo>
                <a:cubicBezTo>
                  <a:pt x="102343" y="2152650"/>
                  <a:pt x="0" y="2050307"/>
                  <a:pt x="0" y="1924060"/>
                </a:cubicBezTo>
                <a:lnTo>
                  <a:pt x="0" y="228590"/>
                </a:lnTo>
                <a:cubicBezTo>
                  <a:pt x="0" y="102428"/>
                  <a:pt x="102428" y="0"/>
                  <a:pt x="22859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609600" y="4419600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>
            <a:gsLst>
              <a:gs pos="0">
                <a:srgbClr val="34C759"/>
              </a:gs>
              <a:gs pos="100000">
                <a:srgbClr val="30D158"/>
              </a:gs>
            </a:gsLst>
            <a:lin ang="2700000" scaled="0"/>
          </a:gra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742950" y="4552950"/>
            <a:ext cx="190500" cy="190500"/>
          </a:xfrm>
          <a:custGeom>
            <a:rect b="b" l="l" r="r" t="t"/>
            <a:pathLst>
              <a:path extrusionOk="0" h="190500" w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1219200" y="4514850"/>
            <a:ext cx="2447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OpenCorporates Integration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609600" y="5029200"/>
            <a:ext cx="63817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Accesses OpenCorporates API via MCP connectors to map corporate networks across jurisdictions identifying beneficial owners, subsidiary relationships, and historical corporate changes.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636984" y="5953125"/>
            <a:ext cx="116681" cy="133350"/>
          </a:xfrm>
          <a:custGeom>
            <a:rect b="b" l="l" r="r" t="t"/>
            <a:pathLst>
              <a:path extrusionOk="0" h="133350" w="116681">
                <a:moveTo>
                  <a:pt x="116681" y="53600"/>
                </a:moveTo>
                <a:cubicBezTo>
                  <a:pt x="112827" y="56153"/>
                  <a:pt x="108399" y="58210"/>
                  <a:pt x="103789" y="59851"/>
                </a:cubicBezTo>
                <a:cubicBezTo>
                  <a:pt x="91548" y="64227"/>
                  <a:pt x="75478" y="66675"/>
                  <a:pt x="58341" y="66675"/>
                </a:cubicBezTo>
                <a:cubicBezTo>
                  <a:pt x="41203" y="66675"/>
                  <a:pt x="25107" y="64201"/>
                  <a:pt x="12892" y="59851"/>
                </a:cubicBezTo>
                <a:cubicBezTo>
                  <a:pt x="8308" y="58210"/>
                  <a:pt x="3855" y="56153"/>
                  <a:pt x="0" y="53600"/>
                </a:cubicBezTo>
                <a:lnTo>
                  <a:pt x="0" y="75009"/>
                </a:lnTo>
                <a:cubicBezTo>
                  <a:pt x="0" y="86521"/>
                  <a:pt x="26123" y="95845"/>
                  <a:pt x="58341" y="95845"/>
                </a:cubicBezTo>
                <a:cubicBezTo>
                  <a:pt x="90558" y="95845"/>
                  <a:pt x="116681" y="86521"/>
                  <a:pt x="116681" y="75009"/>
                </a:cubicBezTo>
                <a:lnTo>
                  <a:pt x="116681" y="53600"/>
                </a:lnTo>
                <a:close/>
                <a:moveTo>
                  <a:pt x="116681" y="33337"/>
                </a:moveTo>
                <a:lnTo>
                  <a:pt x="116681" y="20836"/>
                </a:lnTo>
                <a:cubicBezTo>
                  <a:pt x="116681" y="9324"/>
                  <a:pt x="90558" y="0"/>
                  <a:pt x="58341" y="0"/>
                </a:cubicBezTo>
                <a:cubicBezTo>
                  <a:pt x="26123" y="0"/>
                  <a:pt x="0" y="9324"/>
                  <a:pt x="0" y="20836"/>
                </a:cubicBezTo>
                <a:lnTo>
                  <a:pt x="0" y="33337"/>
                </a:lnTo>
                <a:cubicBezTo>
                  <a:pt x="0" y="44849"/>
                  <a:pt x="26123" y="54173"/>
                  <a:pt x="58341" y="54173"/>
                </a:cubicBezTo>
                <a:cubicBezTo>
                  <a:pt x="90558" y="54173"/>
                  <a:pt x="116681" y="44849"/>
                  <a:pt x="116681" y="33337"/>
                </a:cubicBezTo>
                <a:close/>
                <a:moveTo>
                  <a:pt x="103789" y="101523"/>
                </a:moveTo>
                <a:cubicBezTo>
                  <a:pt x="91574" y="105873"/>
                  <a:pt x="75504" y="108347"/>
                  <a:pt x="58341" y="108347"/>
                </a:cubicBezTo>
                <a:cubicBezTo>
                  <a:pt x="41177" y="108347"/>
                  <a:pt x="25107" y="105873"/>
                  <a:pt x="12892" y="101523"/>
                </a:cubicBezTo>
                <a:cubicBezTo>
                  <a:pt x="8308" y="99882"/>
                  <a:pt x="3855" y="97825"/>
                  <a:pt x="0" y="95272"/>
                </a:cubicBezTo>
                <a:lnTo>
                  <a:pt x="0" y="112514"/>
                </a:lnTo>
                <a:cubicBezTo>
                  <a:pt x="0" y="124026"/>
                  <a:pt x="26123" y="133350"/>
                  <a:pt x="58341" y="133350"/>
                </a:cubicBezTo>
                <a:cubicBezTo>
                  <a:pt x="90558" y="133350"/>
                  <a:pt x="116681" y="124026"/>
                  <a:pt x="116681" y="112514"/>
                </a:cubicBezTo>
                <a:lnTo>
                  <a:pt x="116681" y="95272"/>
                </a:lnTo>
                <a:cubicBezTo>
                  <a:pt x="112827" y="97825"/>
                  <a:pt x="108399" y="99882"/>
                  <a:pt x="103789" y="101523"/>
                </a:cubicBezTo>
                <a:close/>
              </a:path>
            </a:pathLst>
          </a:custGeom>
          <a:solidFill>
            <a:srgbClr val="34C75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852488" y="5924550"/>
            <a:ext cx="29241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4C759"/>
                </a:solidFill>
                <a:latin typeface="Liter"/>
                <a:ea typeface="Liter"/>
                <a:cs typeface="Liter"/>
                <a:sym typeface="Liter"/>
              </a:rPr>
              <a:t>Theoretical coverage: 120M+ companies globally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7376145" y="1675209"/>
            <a:ext cx="4438650" cy="3200400"/>
          </a:xfrm>
          <a:custGeom>
            <a:rect b="b" l="l" r="r" t="t"/>
            <a:pathLst>
              <a:path extrusionOk="0" h="3200400" w="4438650">
                <a:moveTo>
                  <a:pt x="228605" y="0"/>
                </a:moveTo>
                <a:lnTo>
                  <a:pt x="4210045" y="0"/>
                </a:lnTo>
                <a:cubicBezTo>
                  <a:pt x="4336216" y="0"/>
                  <a:pt x="4438650" y="102434"/>
                  <a:pt x="4438650" y="228605"/>
                </a:cubicBezTo>
                <a:lnTo>
                  <a:pt x="4438650" y="2971795"/>
                </a:lnTo>
                <a:cubicBezTo>
                  <a:pt x="4438650" y="3097966"/>
                  <a:pt x="4336216" y="3200400"/>
                  <a:pt x="4210045" y="3200400"/>
                </a:cubicBezTo>
                <a:lnTo>
                  <a:pt x="228605" y="3200400"/>
                </a:lnTo>
                <a:cubicBezTo>
                  <a:pt x="102434" y="3200400"/>
                  <a:pt x="0" y="3097966"/>
                  <a:pt x="0" y="2971795"/>
                </a:cubicBezTo>
                <a:lnTo>
                  <a:pt x="0" y="228605"/>
                </a:lnTo>
                <a:cubicBezTo>
                  <a:pt x="0" y="102434"/>
                  <a:pt x="102434" y="0"/>
                  <a:pt x="228605" y="0"/>
                </a:cubicBezTo>
                <a:close/>
              </a:path>
            </a:pathLst>
          </a:custGeom>
          <a:gradFill>
            <a:gsLst>
              <a:gs pos="0">
                <a:srgbClr val="007AFF"/>
              </a:gs>
              <a:gs pos="100000">
                <a:srgbClr val="5856D6"/>
              </a:gs>
            </a:gsLst>
            <a:lin ang="2700000" scaled="0"/>
          </a:gra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7604745" y="1903809"/>
            <a:ext cx="4076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Red Flag Detection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7604745" y="2361009"/>
            <a:ext cx="304800" cy="304800"/>
          </a:xfrm>
          <a:custGeom>
            <a:rect b="b" l="l" r="r" t="t"/>
            <a:pathLst>
              <a:path extrusionOk="0" h="304800" w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7701186" y="2446734"/>
            <a:ext cx="116681" cy="133350"/>
          </a:xfrm>
          <a:custGeom>
            <a:rect b="b" l="l" r="r" t="t"/>
            <a:pathLst>
              <a:path extrusionOk="0" h="133350" w="116681">
                <a:moveTo>
                  <a:pt x="16669" y="8334"/>
                </a:moveTo>
                <a:cubicBezTo>
                  <a:pt x="16669" y="3724"/>
                  <a:pt x="12944" y="0"/>
                  <a:pt x="8334" y="0"/>
                </a:cubicBezTo>
                <a:cubicBezTo>
                  <a:pt x="3724" y="0"/>
                  <a:pt x="0" y="3724"/>
                  <a:pt x="0" y="8334"/>
                </a:cubicBezTo>
                <a:lnTo>
                  <a:pt x="0" y="125016"/>
                </a:lnTo>
                <a:cubicBezTo>
                  <a:pt x="0" y="129626"/>
                  <a:pt x="3724" y="133350"/>
                  <a:pt x="8334" y="133350"/>
                </a:cubicBezTo>
                <a:cubicBezTo>
                  <a:pt x="12944" y="133350"/>
                  <a:pt x="16669" y="129626"/>
                  <a:pt x="16669" y="125016"/>
                </a:cubicBezTo>
                <a:lnTo>
                  <a:pt x="16669" y="93345"/>
                </a:lnTo>
                <a:lnTo>
                  <a:pt x="32999" y="88449"/>
                </a:lnTo>
                <a:cubicBezTo>
                  <a:pt x="43912" y="85167"/>
                  <a:pt x="55684" y="86183"/>
                  <a:pt x="65868" y="91287"/>
                </a:cubicBezTo>
                <a:cubicBezTo>
                  <a:pt x="76989" y="96861"/>
                  <a:pt x="89959" y="97538"/>
                  <a:pt x="101601" y="93163"/>
                </a:cubicBezTo>
                <a:lnTo>
                  <a:pt x="111264" y="89542"/>
                </a:lnTo>
                <a:cubicBezTo>
                  <a:pt x="114520" y="88318"/>
                  <a:pt x="116681" y="85219"/>
                  <a:pt x="116681" y="81729"/>
                </a:cubicBezTo>
                <a:lnTo>
                  <a:pt x="116681" y="17216"/>
                </a:lnTo>
                <a:cubicBezTo>
                  <a:pt x="116681" y="11225"/>
                  <a:pt x="110378" y="7319"/>
                  <a:pt x="105013" y="10001"/>
                </a:cubicBezTo>
                <a:lnTo>
                  <a:pt x="101940" y="11538"/>
                </a:lnTo>
                <a:cubicBezTo>
                  <a:pt x="90246" y="17398"/>
                  <a:pt x="76468" y="17398"/>
                  <a:pt x="64748" y="11538"/>
                </a:cubicBezTo>
                <a:cubicBezTo>
                  <a:pt x="55267" y="6798"/>
                  <a:pt x="44355" y="5860"/>
                  <a:pt x="34223" y="8907"/>
                </a:cubicBezTo>
                <a:lnTo>
                  <a:pt x="16669" y="14168"/>
                </a:lnTo>
                <a:lnTo>
                  <a:pt x="16669" y="83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8023845" y="2361009"/>
            <a:ext cx="22955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Shell Company Indicators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8023845" y="2627709"/>
            <a:ext cx="2286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Nominee directors, circular ownership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7604745" y="2970609"/>
            <a:ext cx="304800" cy="304800"/>
          </a:xfrm>
          <a:custGeom>
            <a:rect b="b" l="l" r="r" t="t"/>
            <a:pathLst>
              <a:path extrusionOk="0" h="304800" w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7701186" y="3056334"/>
            <a:ext cx="116681" cy="133350"/>
          </a:xfrm>
          <a:custGeom>
            <a:rect b="b" l="l" r="r" t="t"/>
            <a:pathLst>
              <a:path extrusionOk="0" h="133350" w="116681">
                <a:moveTo>
                  <a:pt x="16669" y="8334"/>
                </a:moveTo>
                <a:cubicBezTo>
                  <a:pt x="16669" y="3724"/>
                  <a:pt x="12944" y="0"/>
                  <a:pt x="8334" y="0"/>
                </a:cubicBezTo>
                <a:cubicBezTo>
                  <a:pt x="3724" y="0"/>
                  <a:pt x="0" y="3724"/>
                  <a:pt x="0" y="8334"/>
                </a:cubicBezTo>
                <a:lnTo>
                  <a:pt x="0" y="125016"/>
                </a:lnTo>
                <a:cubicBezTo>
                  <a:pt x="0" y="129626"/>
                  <a:pt x="3724" y="133350"/>
                  <a:pt x="8334" y="133350"/>
                </a:cubicBezTo>
                <a:cubicBezTo>
                  <a:pt x="12944" y="133350"/>
                  <a:pt x="16669" y="129626"/>
                  <a:pt x="16669" y="125016"/>
                </a:cubicBezTo>
                <a:lnTo>
                  <a:pt x="16669" y="93345"/>
                </a:lnTo>
                <a:lnTo>
                  <a:pt x="32999" y="88449"/>
                </a:lnTo>
                <a:cubicBezTo>
                  <a:pt x="43912" y="85167"/>
                  <a:pt x="55684" y="86183"/>
                  <a:pt x="65868" y="91287"/>
                </a:cubicBezTo>
                <a:cubicBezTo>
                  <a:pt x="76989" y="96861"/>
                  <a:pt x="89959" y="97538"/>
                  <a:pt x="101601" y="93163"/>
                </a:cubicBezTo>
                <a:lnTo>
                  <a:pt x="111264" y="89542"/>
                </a:lnTo>
                <a:cubicBezTo>
                  <a:pt x="114520" y="88318"/>
                  <a:pt x="116681" y="85219"/>
                  <a:pt x="116681" y="81729"/>
                </a:cubicBezTo>
                <a:lnTo>
                  <a:pt x="116681" y="17216"/>
                </a:lnTo>
                <a:cubicBezTo>
                  <a:pt x="116681" y="11225"/>
                  <a:pt x="110378" y="7319"/>
                  <a:pt x="105013" y="10001"/>
                </a:cubicBezTo>
                <a:lnTo>
                  <a:pt x="101940" y="11538"/>
                </a:lnTo>
                <a:cubicBezTo>
                  <a:pt x="90246" y="17398"/>
                  <a:pt x="76468" y="17398"/>
                  <a:pt x="64748" y="11538"/>
                </a:cubicBezTo>
                <a:cubicBezTo>
                  <a:pt x="55267" y="6798"/>
                  <a:pt x="44355" y="5860"/>
                  <a:pt x="34223" y="8907"/>
                </a:cubicBezTo>
                <a:lnTo>
                  <a:pt x="16669" y="14168"/>
                </a:lnTo>
                <a:lnTo>
                  <a:pt x="16669" y="83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8023845" y="2970609"/>
            <a:ext cx="1952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Related-Party Transactions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8023845" y="3237309"/>
            <a:ext cx="1943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Undisclosed beneficial interests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7604745" y="3580209"/>
            <a:ext cx="304800" cy="304800"/>
          </a:xfrm>
          <a:custGeom>
            <a:rect b="b" l="l" r="r" t="t"/>
            <a:pathLst>
              <a:path extrusionOk="0" h="304800" w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7701186" y="3665934"/>
            <a:ext cx="116681" cy="133350"/>
          </a:xfrm>
          <a:custGeom>
            <a:rect b="b" l="l" r="r" t="t"/>
            <a:pathLst>
              <a:path extrusionOk="0" h="133350" w="116681">
                <a:moveTo>
                  <a:pt x="16669" y="8334"/>
                </a:moveTo>
                <a:cubicBezTo>
                  <a:pt x="16669" y="3724"/>
                  <a:pt x="12944" y="0"/>
                  <a:pt x="8334" y="0"/>
                </a:cubicBezTo>
                <a:cubicBezTo>
                  <a:pt x="3724" y="0"/>
                  <a:pt x="0" y="3724"/>
                  <a:pt x="0" y="8334"/>
                </a:cubicBezTo>
                <a:lnTo>
                  <a:pt x="0" y="125016"/>
                </a:lnTo>
                <a:cubicBezTo>
                  <a:pt x="0" y="129626"/>
                  <a:pt x="3724" y="133350"/>
                  <a:pt x="8334" y="133350"/>
                </a:cubicBezTo>
                <a:cubicBezTo>
                  <a:pt x="12944" y="133350"/>
                  <a:pt x="16669" y="129626"/>
                  <a:pt x="16669" y="125016"/>
                </a:cubicBezTo>
                <a:lnTo>
                  <a:pt x="16669" y="93345"/>
                </a:lnTo>
                <a:lnTo>
                  <a:pt x="32999" y="88449"/>
                </a:lnTo>
                <a:cubicBezTo>
                  <a:pt x="43912" y="85167"/>
                  <a:pt x="55684" y="86183"/>
                  <a:pt x="65868" y="91287"/>
                </a:cubicBezTo>
                <a:cubicBezTo>
                  <a:pt x="76989" y="96861"/>
                  <a:pt x="89959" y="97538"/>
                  <a:pt x="101601" y="93163"/>
                </a:cubicBezTo>
                <a:lnTo>
                  <a:pt x="111264" y="89542"/>
                </a:lnTo>
                <a:cubicBezTo>
                  <a:pt x="114520" y="88318"/>
                  <a:pt x="116681" y="85219"/>
                  <a:pt x="116681" y="81729"/>
                </a:cubicBezTo>
                <a:lnTo>
                  <a:pt x="116681" y="17216"/>
                </a:lnTo>
                <a:cubicBezTo>
                  <a:pt x="116681" y="11225"/>
                  <a:pt x="110378" y="7319"/>
                  <a:pt x="105013" y="10001"/>
                </a:cubicBezTo>
                <a:lnTo>
                  <a:pt x="101940" y="11538"/>
                </a:lnTo>
                <a:cubicBezTo>
                  <a:pt x="90246" y="17398"/>
                  <a:pt x="76468" y="17398"/>
                  <a:pt x="64748" y="11538"/>
                </a:cubicBezTo>
                <a:cubicBezTo>
                  <a:pt x="55267" y="6798"/>
                  <a:pt x="44355" y="5860"/>
                  <a:pt x="34223" y="8907"/>
                </a:cubicBezTo>
                <a:lnTo>
                  <a:pt x="16669" y="14168"/>
                </a:lnTo>
                <a:lnTo>
                  <a:pt x="16669" y="83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8023845" y="3580209"/>
            <a:ext cx="205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Jurisdiction Hopping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8023845" y="3846909"/>
            <a:ext cx="2047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Frequent reincorporation patterns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7604745" y="4189809"/>
            <a:ext cx="304800" cy="304800"/>
          </a:xfrm>
          <a:custGeom>
            <a:rect b="b" l="l" r="r" t="t"/>
            <a:pathLst>
              <a:path extrusionOk="0" h="304800" w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7701186" y="4275534"/>
            <a:ext cx="116681" cy="133350"/>
          </a:xfrm>
          <a:custGeom>
            <a:rect b="b" l="l" r="r" t="t"/>
            <a:pathLst>
              <a:path extrusionOk="0" h="133350" w="116681">
                <a:moveTo>
                  <a:pt x="16669" y="8334"/>
                </a:moveTo>
                <a:cubicBezTo>
                  <a:pt x="16669" y="3724"/>
                  <a:pt x="12944" y="0"/>
                  <a:pt x="8334" y="0"/>
                </a:cubicBezTo>
                <a:cubicBezTo>
                  <a:pt x="3724" y="0"/>
                  <a:pt x="0" y="3724"/>
                  <a:pt x="0" y="8334"/>
                </a:cubicBezTo>
                <a:lnTo>
                  <a:pt x="0" y="125016"/>
                </a:lnTo>
                <a:cubicBezTo>
                  <a:pt x="0" y="129626"/>
                  <a:pt x="3724" y="133350"/>
                  <a:pt x="8334" y="133350"/>
                </a:cubicBezTo>
                <a:cubicBezTo>
                  <a:pt x="12944" y="133350"/>
                  <a:pt x="16669" y="129626"/>
                  <a:pt x="16669" y="125016"/>
                </a:cubicBezTo>
                <a:lnTo>
                  <a:pt x="16669" y="93345"/>
                </a:lnTo>
                <a:lnTo>
                  <a:pt x="32999" y="88449"/>
                </a:lnTo>
                <a:cubicBezTo>
                  <a:pt x="43912" y="85167"/>
                  <a:pt x="55684" y="86183"/>
                  <a:pt x="65868" y="91287"/>
                </a:cubicBezTo>
                <a:cubicBezTo>
                  <a:pt x="76989" y="96861"/>
                  <a:pt x="89959" y="97538"/>
                  <a:pt x="101601" y="93163"/>
                </a:cubicBezTo>
                <a:lnTo>
                  <a:pt x="111264" y="89542"/>
                </a:lnTo>
                <a:cubicBezTo>
                  <a:pt x="114520" y="88318"/>
                  <a:pt x="116681" y="85219"/>
                  <a:pt x="116681" y="81729"/>
                </a:cubicBezTo>
                <a:lnTo>
                  <a:pt x="116681" y="17216"/>
                </a:lnTo>
                <a:cubicBezTo>
                  <a:pt x="116681" y="11225"/>
                  <a:pt x="110378" y="7319"/>
                  <a:pt x="105013" y="10001"/>
                </a:cubicBezTo>
                <a:lnTo>
                  <a:pt x="101940" y="11538"/>
                </a:lnTo>
                <a:cubicBezTo>
                  <a:pt x="90246" y="17398"/>
                  <a:pt x="76468" y="17398"/>
                  <a:pt x="64748" y="11538"/>
                </a:cubicBezTo>
                <a:cubicBezTo>
                  <a:pt x="55267" y="6798"/>
                  <a:pt x="44355" y="5860"/>
                  <a:pt x="34223" y="8907"/>
                </a:cubicBezTo>
                <a:lnTo>
                  <a:pt x="16669" y="14168"/>
                </a:lnTo>
                <a:lnTo>
                  <a:pt x="16669" y="83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8023845" y="4189809"/>
            <a:ext cx="175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Financial Anomalies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8023845" y="4456509"/>
            <a:ext cx="17430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Unusual revenue recognition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7376145" y="5066109"/>
            <a:ext cx="4438650" cy="1371600"/>
          </a:xfrm>
          <a:custGeom>
            <a:rect b="b" l="l" r="r" t="t"/>
            <a:pathLst>
              <a:path extrusionOk="0" h="1371600" w="4438650">
                <a:moveTo>
                  <a:pt x="228605" y="0"/>
                </a:moveTo>
                <a:lnTo>
                  <a:pt x="4210045" y="0"/>
                </a:lnTo>
                <a:cubicBezTo>
                  <a:pt x="4336216" y="0"/>
                  <a:pt x="4438650" y="102434"/>
                  <a:pt x="4438650" y="228605"/>
                </a:cubicBezTo>
                <a:lnTo>
                  <a:pt x="4438650" y="1142995"/>
                </a:lnTo>
                <a:cubicBezTo>
                  <a:pt x="4438650" y="1269166"/>
                  <a:pt x="4336216" y="1371600"/>
                  <a:pt x="4210045" y="1371600"/>
                </a:cubicBezTo>
                <a:lnTo>
                  <a:pt x="228605" y="1371600"/>
                </a:lnTo>
                <a:cubicBezTo>
                  <a:pt x="102434" y="1371600"/>
                  <a:pt x="0" y="1269166"/>
                  <a:pt x="0" y="1142995"/>
                </a:cubicBezTo>
                <a:lnTo>
                  <a:pt x="0" y="228605"/>
                </a:lnTo>
                <a:cubicBezTo>
                  <a:pt x="0" y="102434"/>
                  <a:pt x="102434" y="0"/>
                  <a:pt x="22860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7601173" y="5285184"/>
            <a:ext cx="150019" cy="171450"/>
          </a:xfrm>
          <a:custGeom>
            <a:rect b="b" l="l" r="r" t="t"/>
            <a:pathLst>
              <a:path extrusionOk="0" h="171450" w="150019">
                <a:moveTo>
                  <a:pt x="42863" y="-10716"/>
                </a:moveTo>
                <a:cubicBezTo>
                  <a:pt x="48790" y="-10716"/>
                  <a:pt x="53578" y="-5927"/>
                  <a:pt x="53578" y="0"/>
                </a:cubicBezTo>
                <a:lnTo>
                  <a:pt x="53578" y="32147"/>
                </a:lnTo>
                <a:lnTo>
                  <a:pt x="96441" y="32147"/>
                </a:lnTo>
                <a:lnTo>
                  <a:pt x="96441" y="0"/>
                </a:lnTo>
                <a:cubicBezTo>
                  <a:pt x="96441" y="-5927"/>
                  <a:pt x="101229" y="-10716"/>
                  <a:pt x="107156" y="-10716"/>
                </a:cubicBezTo>
                <a:cubicBezTo>
                  <a:pt x="113083" y="-10716"/>
                  <a:pt x="117872" y="-5927"/>
                  <a:pt x="117872" y="0"/>
                </a:cubicBezTo>
                <a:lnTo>
                  <a:pt x="117872" y="32147"/>
                </a:lnTo>
                <a:lnTo>
                  <a:pt x="139303" y="32147"/>
                </a:lnTo>
                <a:cubicBezTo>
                  <a:pt x="145230" y="32147"/>
                  <a:pt x="150019" y="36935"/>
                  <a:pt x="150019" y="42863"/>
                </a:cubicBezTo>
                <a:cubicBezTo>
                  <a:pt x="150019" y="48790"/>
                  <a:pt x="145230" y="53578"/>
                  <a:pt x="139303" y="53578"/>
                </a:cubicBezTo>
                <a:lnTo>
                  <a:pt x="139303" y="75009"/>
                </a:lnTo>
                <a:cubicBezTo>
                  <a:pt x="139303" y="106855"/>
                  <a:pt x="116131" y="133309"/>
                  <a:pt x="85725" y="138399"/>
                </a:cubicBezTo>
                <a:lnTo>
                  <a:pt x="85725" y="160734"/>
                </a:lnTo>
                <a:cubicBezTo>
                  <a:pt x="85725" y="166661"/>
                  <a:pt x="80936" y="171450"/>
                  <a:pt x="75009" y="171450"/>
                </a:cubicBezTo>
                <a:cubicBezTo>
                  <a:pt x="69082" y="171450"/>
                  <a:pt x="64294" y="166661"/>
                  <a:pt x="64294" y="160734"/>
                </a:cubicBezTo>
                <a:lnTo>
                  <a:pt x="64294" y="138399"/>
                </a:lnTo>
                <a:cubicBezTo>
                  <a:pt x="33888" y="133309"/>
                  <a:pt x="10716" y="106855"/>
                  <a:pt x="10716" y="75009"/>
                </a:cubicBezTo>
                <a:lnTo>
                  <a:pt x="10716" y="53578"/>
                </a:lnTo>
                <a:cubicBezTo>
                  <a:pt x="4789" y="53578"/>
                  <a:pt x="0" y="48790"/>
                  <a:pt x="0" y="42863"/>
                </a:cubicBezTo>
                <a:cubicBezTo>
                  <a:pt x="0" y="36935"/>
                  <a:pt x="4789" y="32147"/>
                  <a:pt x="10716" y="32147"/>
                </a:cubicBezTo>
                <a:lnTo>
                  <a:pt x="32147" y="32147"/>
                </a:lnTo>
                <a:lnTo>
                  <a:pt x="32147" y="0"/>
                </a:lnTo>
                <a:cubicBezTo>
                  <a:pt x="32147" y="-5927"/>
                  <a:pt x="36935" y="-10716"/>
                  <a:pt x="42863" y="-10716"/>
                </a:cubicBezTo>
                <a:close/>
              </a:path>
            </a:pathLst>
          </a:custGeom>
          <a:solidFill>
            <a:srgbClr val="007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7895258" y="5256609"/>
            <a:ext cx="12287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MCP Connectors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7566645" y="5599509"/>
            <a:ext cx="4124325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Custom Model Context Protocol servers enable seamless, standardized access to SEC EDGAR and OpenCorporates APIs with unified query interfaces.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"/>
          <p:cNvSpPr/>
          <p:nvPr/>
        </p:nvSpPr>
        <p:spPr>
          <a:xfrm>
            <a:off x="352625" y="352625"/>
            <a:ext cx="11548460" cy="176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2">
                <a:solidFill>
                  <a:srgbClr val="007AFF"/>
                </a:solidFill>
                <a:latin typeface="Liter"/>
                <a:ea typeface="Liter"/>
                <a:cs typeface="Liter"/>
                <a:sym typeface="Liter"/>
              </a:rPr>
              <a:t>Specialist Agent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352625" y="599462"/>
            <a:ext cx="11645432" cy="35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99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Social Network Analysis Agent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352625" y="1057874"/>
            <a:ext cx="11566091" cy="246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49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Graph Neural Networks for relationship intelligence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352625" y="1516275"/>
            <a:ext cx="5606733" cy="5061796"/>
          </a:xfrm>
          <a:custGeom>
            <a:rect b="b" l="l" r="r" t="t"/>
            <a:pathLst>
              <a:path extrusionOk="0" h="5342265" w="5606733">
                <a:moveTo>
                  <a:pt x="211554" y="0"/>
                </a:moveTo>
                <a:lnTo>
                  <a:pt x="5395180" y="0"/>
                </a:lnTo>
                <a:cubicBezTo>
                  <a:pt x="5512017" y="0"/>
                  <a:pt x="5606733" y="94716"/>
                  <a:pt x="5606733" y="211554"/>
                </a:cubicBezTo>
                <a:lnTo>
                  <a:pt x="5606733" y="5130711"/>
                </a:lnTo>
                <a:cubicBezTo>
                  <a:pt x="5606733" y="5247549"/>
                  <a:pt x="5512017" y="5342265"/>
                  <a:pt x="5395180" y="5342265"/>
                </a:cubicBezTo>
                <a:lnTo>
                  <a:pt x="211554" y="5342265"/>
                </a:lnTo>
                <a:cubicBezTo>
                  <a:pt x="94716" y="5342265"/>
                  <a:pt x="0" y="5247549"/>
                  <a:pt x="0" y="5130711"/>
                </a:cubicBezTo>
                <a:lnTo>
                  <a:pt x="0" y="211554"/>
                </a:lnTo>
                <a:cubicBezTo>
                  <a:pt x="0" y="94794"/>
                  <a:pt x="94794" y="0"/>
                  <a:pt x="21155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634725" y="1798386"/>
            <a:ext cx="493675" cy="493675"/>
          </a:xfrm>
          <a:custGeom>
            <a:rect b="b" l="l" r="r" t="t"/>
            <a:pathLst>
              <a:path extrusionOk="0" h="493675" w="493675">
                <a:moveTo>
                  <a:pt x="141048" y="0"/>
                </a:moveTo>
                <a:lnTo>
                  <a:pt x="352627" y="0"/>
                </a:lnTo>
                <a:cubicBezTo>
                  <a:pt x="430525" y="0"/>
                  <a:pt x="493675" y="63149"/>
                  <a:pt x="493675" y="141048"/>
                </a:cubicBezTo>
                <a:lnTo>
                  <a:pt x="493675" y="352627"/>
                </a:lnTo>
                <a:cubicBezTo>
                  <a:pt x="493675" y="430525"/>
                  <a:pt x="430525" y="493675"/>
                  <a:pt x="352627" y="493675"/>
                </a:cubicBezTo>
                <a:lnTo>
                  <a:pt x="141048" y="493675"/>
                </a:lnTo>
                <a:cubicBezTo>
                  <a:pt x="63149" y="493675"/>
                  <a:pt x="0" y="430525"/>
                  <a:pt x="0" y="352627"/>
                </a:cubicBezTo>
                <a:lnTo>
                  <a:pt x="0" y="141048"/>
                </a:lnTo>
                <a:cubicBezTo>
                  <a:pt x="0" y="63149"/>
                  <a:pt x="63149" y="0"/>
                  <a:pt x="141048" y="0"/>
                </a:cubicBezTo>
                <a:close/>
              </a:path>
            </a:pathLst>
          </a:custGeom>
          <a:gradFill>
            <a:gsLst>
              <a:gs pos="0">
                <a:srgbClr val="FF9500"/>
              </a:gs>
              <a:gs pos="100000">
                <a:srgbClr val="FF6B00"/>
              </a:gs>
            </a:gsLst>
            <a:lin ang="2700000" scaled="0"/>
          </a:gra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775774" y="1939436"/>
            <a:ext cx="211575" cy="211575"/>
          </a:xfrm>
          <a:custGeom>
            <a:rect b="b" l="l" r="r" t="t"/>
            <a:pathLst>
              <a:path extrusionOk="0" h="211575" w="211575">
                <a:moveTo>
                  <a:pt x="0" y="33059"/>
                </a:moveTo>
                <a:cubicBezTo>
                  <a:pt x="0" y="22108"/>
                  <a:pt x="8884" y="13223"/>
                  <a:pt x="19835" y="13223"/>
                </a:cubicBezTo>
                <a:lnTo>
                  <a:pt x="59505" y="13223"/>
                </a:lnTo>
                <a:cubicBezTo>
                  <a:pt x="70456" y="13223"/>
                  <a:pt x="79341" y="22108"/>
                  <a:pt x="79341" y="33059"/>
                </a:cubicBezTo>
                <a:lnTo>
                  <a:pt x="79341" y="39670"/>
                </a:lnTo>
                <a:lnTo>
                  <a:pt x="132234" y="39670"/>
                </a:lnTo>
                <a:lnTo>
                  <a:pt x="132234" y="33059"/>
                </a:lnTo>
                <a:cubicBezTo>
                  <a:pt x="132234" y="22108"/>
                  <a:pt x="141119" y="13223"/>
                  <a:pt x="152069" y="13223"/>
                </a:cubicBezTo>
                <a:lnTo>
                  <a:pt x="191740" y="13223"/>
                </a:lnTo>
                <a:cubicBezTo>
                  <a:pt x="202690" y="13223"/>
                  <a:pt x="211575" y="22108"/>
                  <a:pt x="211575" y="33059"/>
                </a:cubicBezTo>
                <a:lnTo>
                  <a:pt x="211575" y="72729"/>
                </a:lnTo>
                <a:cubicBezTo>
                  <a:pt x="211575" y="83680"/>
                  <a:pt x="202690" y="92564"/>
                  <a:pt x="191740" y="92564"/>
                </a:cubicBezTo>
                <a:lnTo>
                  <a:pt x="152069" y="92564"/>
                </a:lnTo>
                <a:cubicBezTo>
                  <a:pt x="141119" y="92564"/>
                  <a:pt x="132234" y="83680"/>
                  <a:pt x="132234" y="72729"/>
                </a:cubicBezTo>
                <a:lnTo>
                  <a:pt x="132234" y="66117"/>
                </a:lnTo>
                <a:lnTo>
                  <a:pt x="79341" y="66117"/>
                </a:lnTo>
                <a:lnTo>
                  <a:pt x="79341" y="72729"/>
                </a:lnTo>
                <a:cubicBezTo>
                  <a:pt x="79341" y="75745"/>
                  <a:pt x="78638" y="78638"/>
                  <a:pt x="77440" y="81200"/>
                </a:cubicBezTo>
                <a:lnTo>
                  <a:pt x="105787" y="119011"/>
                </a:lnTo>
                <a:lnTo>
                  <a:pt x="138846" y="119011"/>
                </a:lnTo>
                <a:cubicBezTo>
                  <a:pt x="149797" y="119011"/>
                  <a:pt x="158681" y="127895"/>
                  <a:pt x="158681" y="138846"/>
                </a:cubicBezTo>
                <a:lnTo>
                  <a:pt x="158681" y="178516"/>
                </a:lnTo>
                <a:cubicBezTo>
                  <a:pt x="158681" y="189467"/>
                  <a:pt x="149797" y="198351"/>
                  <a:pt x="138846" y="198351"/>
                </a:cubicBezTo>
                <a:lnTo>
                  <a:pt x="99176" y="198351"/>
                </a:lnTo>
                <a:cubicBezTo>
                  <a:pt x="88225" y="198351"/>
                  <a:pt x="79341" y="189467"/>
                  <a:pt x="79341" y="178516"/>
                </a:cubicBezTo>
                <a:lnTo>
                  <a:pt x="79341" y="138846"/>
                </a:lnTo>
                <a:cubicBezTo>
                  <a:pt x="79341" y="135829"/>
                  <a:pt x="80043" y="132937"/>
                  <a:pt x="81241" y="130375"/>
                </a:cubicBezTo>
                <a:lnTo>
                  <a:pt x="52894" y="92564"/>
                </a:lnTo>
                <a:lnTo>
                  <a:pt x="19835" y="92564"/>
                </a:lnTo>
                <a:cubicBezTo>
                  <a:pt x="8884" y="92564"/>
                  <a:pt x="0" y="83680"/>
                  <a:pt x="0" y="72729"/>
                </a:cubicBezTo>
                <a:lnTo>
                  <a:pt x="0" y="3305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1269449" y="1904174"/>
            <a:ext cx="2997310" cy="28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66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Graph Neural Network Analysis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634725" y="2503636"/>
            <a:ext cx="5113059" cy="687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Employs state-of-the-art Graph Neural Networks (GNNs) to analyze social network structures, identifying influential nodes, community clusters, and anomalous connection patterns across professional and social platforms.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634725" y="3402829"/>
            <a:ext cx="5042534" cy="2785735"/>
          </a:xfrm>
          <a:custGeom>
            <a:rect b="b" l="l" r="r" t="t"/>
            <a:pathLst>
              <a:path extrusionOk="0" h="2785735" w="5042534">
                <a:moveTo>
                  <a:pt x="141042" y="0"/>
                </a:moveTo>
                <a:lnTo>
                  <a:pt x="4901492" y="0"/>
                </a:lnTo>
                <a:cubicBezTo>
                  <a:pt x="4979387" y="0"/>
                  <a:pt x="5042534" y="63147"/>
                  <a:pt x="5042534" y="141042"/>
                </a:cubicBezTo>
                <a:lnTo>
                  <a:pt x="5042534" y="2644694"/>
                </a:lnTo>
                <a:cubicBezTo>
                  <a:pt x="5042534" y="2722589"/>
                  <a:pt x="4979387" y="2785735"/>
                  <a:pt x="4901492" y="2785735"/>
                </a:cubicBezTo>
                <a:lnTo>
                  <a:pt x="141042" y="2785735"/>
                </a:lnTo>
                <a:cubicBezTo>
                  <a:pt x="63199" y="2785735"/>
                  <a:pt x="0" y="2722537"/>
                  <a:pt x="0" y="2644694"/>
                </a:cubicBezTo>
                <a:lnTo>
                  <a:pt x="0" y="141042"/>
                </a:lnTo>
                <a:cubicBezTo>
                  <a:pt x="0" y="63199"/>
                  <a:pt x="63199" y="0"/>
                  <a:pt x="141042" y="0"/>
                </a:cubicBezTo>
                <a:close/>
              </a:path>
            </a:pathLst>
          </a:custGeom>
          <a:solidFill>
            <a:srgbClr val="F5F5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811037" y="3579141"/>
            <a:ext cx="4751618" cy="176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2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Network Analysis Capabilities: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811037" y="3896503"/>
            <a:ext cx="282100" cy="282100"/>
          </a:xfrm>
          <a:custGeom>
            <a:rect b="b" l="l" r="r" t="t"/>
            <a:pathLst>
              <a:path extrusionOk="0" h="282100" w="282100">
                <a:moveTo>
                  <a:pt x="70525" y="0"/>
                </a:moveTo>
                <a:lnTo>
                  <a:pt x="211575" y="0"/>
                </a:lnTo>
                <a:cubicBezTo>
                  <a:pt x="250525" y="0"/>
                  <a:pt x="282100" y="31575"/>
                  <a:pt x="282100" y="70525"/>
                </a:cubicBezTo>
                <a:lnTo>
                  <a:pt x="282100" y="211575"/>
                </a:lnTo>
                <a:cubicBezTo>
                  <a:pt x="282100" y="250525"/>
                  <a:pt x="250525" y="282100"/>
                  <a:pt x="211575" y="282100"/>
                </a:cubicBezTo>
                <a:lnTo>
                  <a:pt x="70525" y="282100"/>
                </a:lnTo>
                <a:cubicBezTo>
                  <a:pt x="31575" y="282100"/>
                  <a:pt x="0" y="250525"/>
                  <a:pt x="0" y="211575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FF9500">
              <a:alpha val="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872746" y="3967028"/>
            <a:ext cx="158681" cy="141050"/>
          </a:xfrm>
          <a:custGeom>
            <a:rect b="b" l="l" r="r" t="t"/>
            <a:pathLst>
              <a:path extrusionOk="0" h="141050" w="158681">
                <a:moveTo>
                  <a:pt x="17631" y="35262"/>
                </a:moveTo>
                <a:cubicBezTo>
                  <a:pt x="17631" y="18233"/>
                  <a:pt x="31457" y="4408"/>
                  <a:pt x="48486" y="4408"/>
                </a:cubicBezTo>
                <a:cubicBezTo>
                  <a:pt x="65515" y="4408"/>
                  <a:pt x="79341" y="18233"/>
                  <a:pt x="79341" y="35262"/>
                </a:cubicBezTo>
                <a:cubicBezTo>
                  <a:pt x="79341" y="52292"/>
                  <a:pt x="65515" y="66117"/>
                  <a:pt x="48486" y="66117"/>
                </a:cubicBezTo>
                <a:cubicBezTo>
                  <a:pt x="31457" y="66117"/>
                  <a:pt x="17631" y="52292"/>
                  <a:pt x="17631" y="35262"/>
                </a:cubicBezTo>
                <a:close/>
                <a:moveTo>
                  <a:pt x="0" y="127826"/>
                </a:moveTo>
                <a:cubicBezTo>
                  <a:pt x="0" y="101049"/>
                  <a:pt x="21708" y="79341"/>
                  <a:pt x="48486" y="79341"/>
                </a:cubicBezTo>
                <a:cubicBezTo>
                  <a:pt x="75263" y="79341"/>
                  <a:pt x="96972" y="101049"/>
                  <a:pt x="96972" y="127826"/>
                </a:cubicBezTo>
                <a:lnTo>
                  <a:pt x="96972" y="129479"/>
                </a:lnTo>
                <a:cubicBezTo>
                  <a:pt x="96972" y="135871"/>
                  <a:pt x="91793" y="141050"/>
                  <a:pt x="85401" y="141050"/>
                </a:cubicBezTo>
                <a:lnTo>
                  <a:pt x="11570" y="141050"/>
                </a:lnTo>
                <a:cubicBezTo>
                  <a:pt x="5179" y="141050"/>
                  <a:pt x="0" y="135871"/>
                  <a:pt x="0" y="129479"/>
                </a:cubicBezTo>
                <a:lnTo>
                  <a:pt x="0" y="127826"/>
                </a:lnTo>
                <a:close/>
                <a:moveTo>
                  <a:pt x="119011" y="17631"/>
                </a:moveTo>
                <a:cubicBezTo>
                  <a:pt x="133607" y="17631"/>
                  <a:pt x="145458" y="29482"/>
                  <a:pt x="145458" y="44078"/>
                </a:cubicBezTo>
                <a:cubicBezTo>
                  <a:pt x="145458" y="58675"/>
                  <a:pt x="133607" y="70525"/>
                  <a:pt x="119011" y="70525"/>
                </a:cubicBezTo>
                <a:cubicBezTo>
                  <a:pt x="104414" y="70525"/>
                  <a:pt x="92564" y="58675"/>
                  <a:pt x="92564" y="44078"/>
                </a:cubicBezTo>
                <a:cubicBezTo>
                  <a:pt x="92564" y="29482"/>
                  <a:pt x="104414" y="17631"/>
                  <a:pt x="119011" y="17631"/>
                </a:cubicBezTo>
                <a:close/>
                <a:moveTo>
                  <a:pt x="119011" y="83748"/>
                </a:moveTo>
                <a:cubicBezTo>
                  <a:pt x="140912" y="83748"/>
                  <a:pt x="158681" y="101517"/>
                  <a:pt x="158681" y="123419"/>
                </a:cubicBezTo>
                <a:lnTo>
                  <a:pt x="158681" y="129590"/>
                </a:lnTo>
                <a:cubicBezTo>
                  <a:pt x="158681" y="135926"/>
                  <a:pt x="153557" y="141050"/>
                  <a:pt x="147221" y="141050"/>
                </a:cubicBezTo>
                <a:lnTo>
                  <a:pt x="107330" y="141050"/>
                </a:lnTo>
                <a:cubicBezTo>
                  <a:pt x="109148" y="137606"/>
                  <a:pt x="110195" y="133667"/>
                  <a:pt x="110195" y="129479"/>
                </a:cubicBezTo>
                <a:lnTo>
                  <a:pt x="110195" y="127826"/>
                </a:lnTo>
                <a:cubicBezTo>
                  <a:pt x="110195" y="113639"/>
                  <a:pt x="105402" y="100581"/>
                  <a:pt x="97385" y="90167"/>
                </a:cubicBezTo>
                <a:cubicBezTo>
                  <a:pt x="103611" y="86118"/>
                  <a:pt x="111049" y="83748"/>
                  <a:pt x="119011" y="83748"/>
                </a:cubicBezTo>
                <a:close/>
              </a:path>
            </a:pathLst>
          </a:custGeom>
          <a:solidFill>
            <a:srgbClr val="FF95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1198924" y="3896503"/>
            <a:ext cx="1225371" cy="211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11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Influence Mapping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1198924" y="4108078"/>
            <a:ext cx="1216555" cy="176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2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Centrality metrics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3224519" y="3896503"/>
            <a:ext cx="282100" cy="282100"/>
          </a:xfrm>
          <a:custGeom>
            <a:rect b="b" l="l" r="r" t="t"/>
            <a:pathLst>
              <a:path extrusionOk="0" h="282100" w="282100">
                <a:moveTo>
                  <a:pt x="70525" y="0"/>
                </a:moveTo>
                <a:lnTo>
                  <a:pt x="211575" y="0"/>
                </a:lnTo>
                <a:cubicBezTo>
                  <a:pt x="250525" y="0"/>
                  <a:pt x="282100" y="31575"/>
                  <a:pt x="282100" y="70525"/>
                </a:cubicBezTo>
                <a:lnTo>
                  <a:pt x="282100" y="211575"/>
                </a:lnTo>
                <a:cubicBezTo>
                  <a:pt x="282100" y="250525"/>
                  <a:pt x="250525" y="282100"/>
                  <a:pt x="211575" y="282100"/>
                </a:cubicBezTo>
                <a:lnTo>
                  <a:pt x="70525" y="282100"/>
                </a:lnTo>
                <a:cubicBezTo>
                  <a:pt x="31575" y="282100"/>
                  <a:pt x="0" y="250525"/>
                  <a:pt x="0" y="211575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FF9500">
              <a:alpha val="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3295044" y="3967028"/>
            <a:ext cx="141050" cy="141050"/>
          </a:xfrm>
          <a:custGeom>
            <a:rect b="b" l="l" r="r" t="t"/>
            <a:pathLst>
              <a:path extrusionOk="0" h="141050" w="141050">
                <a:moveTo>
                  <a:pt x="115264" y="43500"/>
                </a:moveTo>
                <a:cubicBezTo>
                  <a:pt x="124989" y="41213"/>
                  <a:pt x="132234" y="32480"/>
                  <a:pt x="132234" y="22039"/>
                </a:cubicBezTo>
                <a:cubicBezTo>
                  <a:pt x="132234" y="9862"/>
                  <a:pt x="122372" y="0"/>
                  <a:pt x="110195" y="0"/>
                </a:cubicBezTo>
                <a:cubicBezTo>
                  <a:pt x="98239" y="0"/>
                  <a:pt x="88514" y="9504"/>
                  <a:pt x="88156" y="21350"/>
                </a:cubicBezTo>
                <a:lnTo>
                  <a:pt x="37521" y="41626"/>
                </a:lnTo>
                <a:cubicBezTo>
                  <a:pt x="33527" y="37687"/>
                  <a:pt x="28072" y="35262"/>
                  <a:pt x="22039" y="35262"/>
                </a:cubicBezTo>
                <a:cubicBezTo>
                  <a:pt x="9862" y="35262"/>
                  <a:pt x="0" y="45125"/>
                  <a:pt x="0" y="57302"/>
                </a:cubicBezTo>
                <a:cubicBezTo>
                  <a:pt x="0" y="69478"/>
                  <a:pt x="9862" y="79341"/>
                  <a:pt x="22039" y="79341"/>
                </a:cubicBezTo>
                <a:cubicBezTo>
                  <a:pt x="25400" y="79341"/>
                  <a:pt x="28596" y="78597"/>
                  <a:pt x="31433" y="77247"/>
                </a:cubicBezTo>
                <a:lnTo>
                  <a:pt x="71544" y="112344"/>
                </a:lnTo>
                <a:cubicBezTo>
                  <a:pt x="70883" y="114438"/>
                  <a:pt x="70525" y="116697"/>
                  <a:pt x="70525" y="119011"/>
                </a:cubicBezTo>
                <a:cubicBezTo>
                  <a:pt x="70525" y="131187"/>
                  <a:pt x="80387" y="141050"/>
                  <a:pt x="92564" y="141050"/>
                </a:cubicBezTo>
                <a:cubicBezTo>
                  <a:pt x="104741" y="141050"/>
                  <a:pt x="114603" y="131187"/>
                  <a:pt x="114603" y="119011"/>
                </a:cubicBezTo>
                <a:cubicBezTo>
                  <a:pt x="114603" y="111380"/>
                  <a:pt x="110746" y="104658"/>
                  <a:pt x="104851" y="100718"/>
                </a:cubicBezTo>
                <a:lnTo>
                  <a:pt x="115264" y="43500"/>
                </a:lnTo>
                <a:close/>
                <a:moveTo>
                  <a:pt x="43059" y="63968"/>
                </a:moveTo>
                <a:cubicBezTo>
                  <a:pt x="43665" y="62067"/>
                  <a:pt x="44023" y="60056"/>
                  <a:pt x="44078" y="57990"/>
                </a:cubicBezTo>
                <a:lnTo>
                  <a:pt x="94713" y="37742"/>
                </a:lnTo>
                <a:cubicBezTo>
                  <a:pt x="95705" y="38706"/>
                  <a:pt x="96751" y="39588"/>
                  <a:pt x="97908" y="40359"/>
                </a:cubicBezTo>
                <a:lnTo>
                  <a:pt x="87495" y="97550"/>
                </a:lnTo>
                <a:cubicBezTo>
                  <a:pt x="85980" y="97908"/>
                  <a:pt x="84520" y="98404"/>
                  <a:pt x="83142" y="99066"/>
                </a:cubicBezTo>
                <a:lnTo>
                  <a:pt x="43059" y="63968"/>
                </a:lnTo>
                <a:close/>
              </a:path>
            </a:pathLst>
          </a:custGeom>
          <a:solidFill>
            <a:srgbClr val="FF95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3612406" y="3896503"/>
            <a:ext cx="1436946" cy="211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11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Community Detection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3612406" y="4108078"/>
            <a:ext cx="1428130" cy="176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2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Cluster analysis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811037" y="4425440"/>
            <a:ext cx="282100" cy="282100"/>
          </a:xfrm>
          <a:custGeom>
            <a:rect b="b" l="l" r="r" t="t"/>
            <a:pathLst>
              <a:path extrusionOk="0" h="282100" w="282100">
                <a:moveTo>
                  <a:pt x="70525" y="0"/>
                </a:moveTo>
                <a:lnTo>
                  <a:pt x="211575" y="0"/>
                </a:lnTo>
                <a:cubicBezTo>
                  <a:pt x="250525" y="0"/>
                  <a:pt x="282100" y="31575"/>
                  <a:pt x="282100" y="70525"/>
                </a:cubicBezTo>
                <a:lnTo>
                  <a:pt x="282100" y="211575"/>
                </a:lnTo>
                <a:cubicBezTo>
                  <a:pt x="282100" y="250525"/>
                  <a:pt x="250525" y="282100"/>
                  <a:pt x="211575" y="282100"/>
                </a:cubicBezTo>
                <a:lnTo>
                  <a:pt x="70525" y="282100"/>
                </a:lnTo>
                <a:cubicBezTo>
                  <a:pt x="31575" y="282100"/>
                  <a:pt x="0" y="250525"/>
                  <a:pt x="0" y="211575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FF9500">
              <a:alpha val="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881562" y="4495965"/>
            <a:ext cx="141050" cy="141050"/>
          </a:xfrm>
          <a:custGeom>
            <a:rect b="b" l="l" r="r" t="t"/>
            <a:pathLst>
              <a:path extrusionOk="0" h="141050" w="141050">
                <a:moveTo>
                  <a:pt x="141050" y="26447"/>
                </a:moveTo>
                <a:cubicBezTo>
                  <a:pt x="141050" y="40276"/>
                  <a:pt x="124769" y="60910"/>
                  <a:pt x="117744" y="69148"/>
                </a:cubicBezTo>
                <a:cubicBezTo>
                  <a:pt x="116697" y="70360"/>
                  <a:pt x="115154" y="70828"/>
                  <a:pt x="113749" y="70525"/>
                </a:cubicBezTo>
                <a:lnTo>
                  <a:pt x="88156" y="70525"/>
                </a:lnTo>
                <a:cubicBezTo>
                  <a:pt x="83280" y="70525"/>
                  <a:pt x="79341" y="74464"/>
                  <a:pt x="79341" y="79341"/>
                </a:cubicBezTo>
                <a:cubicBezTo>
                  <a:pt x="79341" y="84217"/>
                  <a:pt x="83280" y="88156"/>
                  <a:pt x="88156" y="88156"/>
                </a:cubicBezTo>
                <a:lnTo>
                  <a:pt x="114603" y="88156"/>
                </a:lnTo>
                <a:cubicBezTo>
                  <a:pt x="129204" y="88156"/>
                  <a:pt x="141050" y="100002"/>
                  <a:pt x="141050" y="114603"/>
                </a:cubicBezTo>
                <a:cubicBezTo>
                  <a:pt x="141050" y="129204"/>
                  <a:pt x="129204" y="141050"/>
                  <a:pt x="114603" y="141050"/>
                </a:cubicBezTo>
                <a:lnTo>
                  <a:pt x="38458" y="141050"/>
                </a:lnTo>
                <a:cubicBezTo>
                  <a:pt x="40855" y="138323"/>
                  <a:pt x="43775" y="134824"/>
                  <a:pt x="46723" y="130912"/>
                </a:cubicBezTo>
                <a:cubicBezTo>
                  <a:pt x="48458" y="128598"/>
                  <a:pt x="50249" y="126063"/>
                  <a:pt x="51957" y="123419"/>
                </a:cubicBezTo>
                <a:lnTo>
                  <a:pt x="114603" y="123419"/>
                </a:lnTo>
                <a:cubicBezTo>
                  <a:pt x="119479" y="123419"/>
                  <a:pt x="123419" y="119479"/>
                  <a:pt x="123419" y="114603"/>
                </a:cubicBezTo>
                <a:cubicBezTo>
                  <a:pt x="123419" y="109727"/>
                  <a:pt x="119479" y="105787"/>
                  <a:pt x="114603" y="105787"/>
                </a:cubicBezTo>
                <a:lnTo>
                  <a:pt x="88156" y="105787"/>
                </a:lnTo>
                <a:cubicBezTo>
                  <a:pt x="73555" y="105787"/>
                  <a:pt x="61709" y="93941"/>
                  <a:pt x="61709" y="79341"/>
                </a:cubicBezTo>
                <a:cubicBezTo>
                  <a:pt x="61709" y="64740"/>
                  <a:pt x="73555" y="52894"/>
                  <a:pt x="88156" y="52894"/>
                </a:cubicBezTo>
                <a:lnTo>
                  <a:pt x="99121" y="52894"/>
                </a:lnTo>
                <a:cubicBezTo>
                  <a:pt x="93335" y="44216"/>
                  <a:pt x="88156" y="34243"/>
                  <a:pt x="88156" y="26447"/>
                </a:cubicBezTo>
                <a:cubicBezTo>
                  <a:pt x="88156" y="11846"/>
                  <a:pt x="100002" y="0"/>
                  <a:pt x="114603" y="0"/>
                </a:cubicBezTo>
                <a:cubicBezTo>
                  <a:pt x="129204" y="0"/>
                  <a:pt x="141050" y="11846"/>
                  <a:pt x="141050" y="26447"/>
                </a:cubicBezTo>
                <a:close/>
                <a:moveTo>
                  <a:pt x="32260" y="134741"/>
                </a:moveTo>
                <a:cubicBezTo>
                  <a:pt x="31213" y="135926"/>
                  <a:pt x="30276" y="136973"/>
                  <a:pt x="29477" y="137854"/>
                </a:cubicBezTo>
                <a:lnTo>
                  <a:pt x="28981" y="138405"/>
                </a:lnTo>
                <a:lnTo>
                  <a:pt x="28926" y="138350"/>
                </a:lnTo>
                <a:cubicBezTo>
                  <a:pt x="27273" y="139617"/>
                  <a:pt x="24904" y="139452"/>
                  <a:pt x="23416" y="137854"/>
                </a:cubicBezTo>
                <a:cubicBezTo>
                  <a:pt x="16474" y="130306"/>
                  <a:pt x="0" y="110884"/>
                  <a:pt x="0" y="96972"/>
                </a:cubicBezTo>
                <a:cubicBezTo>
                  <a:pt x="0" y="82371"/>
                  <a:pt x="11846" y="70525"/>
                  <a:pt x="26447" y="70525"/>
                </a:cubicBezTo>
                <a:cubicBezTo>
                  <a:pt x="41048" y="70525"/>
                  <a:pt x="52894" y="82371"/>
                  <a:pt x="52894" y="96972"/>
                </a:cubicBezTo>
                <a:cubicBezTo>
                  <a:pt x="52894" y="105236"/>
                  <a:pt x="47081" y="115430"/>
                  <a:pt x="40910" y="123942"/>
                </a:cubicBezTo>
                <a:cubicBezTo>
                  <a:pt x="37962" y="127992"/>
                  <a:pt x="34932" y="131656"/>
                  <a:pt x="32425" y="134548"/>
                </a:cubicBezTo>
                <a:lnTo>
                  <a:pt x="32260" y="134741"/>
                </a:lnTo>
                <a:close/>
                <a:moveTo>
                  <a:pt x="35262" y="96972"/>
                </a:moveTo>
                <a:cubicBezTo>
                  <a:pt x="35262" y="92106"/>
                  <a:pt x="31312" y="88156"/>
                  <a:pt x="26447" y="88156"/>
                </a:cubicBezTo>
                <a:cubicBezTo>
                  <a:pt x="21581" y="88156"/>
                  <a:pt x="17631" y="92106"/>
                  <a:pt x="17631" y="96972"/>
                </a:cubicBezTo>
                <a:cubicBezTo>
                  <a:pt x="17631" y="101837"/>
                  <a:pt x="21581" y="105787"/>
                  <a:pt x="26447" y="105787"/>
                </a:cubicBezTo>
                <a:cubicBezTo>
                  <a:pt x="31312" y="105787"/>
                  <a:pt x="35262" y="101837"/>
                  <a:pt x="35262" y="96972"/>
                </a:cubicBezTo>
                <a:close/>
                <a:moveTo>
                  <a:pt x="114603" y="35262"/>
                </a:moveTo>
                <a:cubicBezTo>
                  <a:pt x="119469" y="35262"/>
                  <a:pt x="123419" y="31312"/>
                  <a:pt x="123419" y="26447"/>
                </a:cubicBezTo>
                <a:cubicBezTo>
                  <a:pt x="123419" y="21581"/>
                  <a:pt x="119469" y="17631"/>
                  <a:pt x="114603" y="17631"/>
                </a:cubicBezTo>
                <a:cubicBezTo>
                  <a:pt x="109738" y="17631"/>
                  <a:pt x="105787" y="21581"/>
                  <a:pt x="105787" y="26447"/>
                </a:cubicBezTo>
                <a:cubicBezTo>
                  <a:pt x="105787" y="31312"/>
                  <a:pt x="109738" y="35262"/>
                  <a:pt x="114603" y="35262"/>
                </a:cubicBezTo>
                <a:close/>
              </a:path>
            </a:pathLst>
          </a:custGeom>
          <a:solidFill>
            <a:srgbClr val="FF95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1198924" y="4425440"/>
            <a:ext cx="1295896" cy="211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11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Path Discovery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1198924" y="4637015"/>
            <a:ext cx="1287080" cy="176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2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Multi-hop connections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3224519" y="4425440"/>
            <a:ext cx="282100" cy="282100"/>
          </a:xfrm>
          <a:custGeom>
            <a:rect b="b" l="l" r="r" t="t"/>
            <a:pathLst>
              <a:path extrusionOk="0" h="282100" w="282100">
                <a:moveTo>
                  <a:pt x="70525" y="0"/>
                </a:moveTo>
                <a:lnTo>
                  <a:pt x="211575" y="0"/>
                </a:lnTo>
                <a:cubicBezTo>
                  <a:pt x="250525" y="0"/>
                  <a:pt x="282100" y="31575"/>
                  <a:pt x="282100" y="70525"/>
                </a:cubicBezTo>
                <a:lnTo>
                  <a:pt x="282100" y="211575"/>
                </a:lnTo>
                <a:cubicBezTo>
                  <a:pt x="282100" y="250525"/>
                  <a:pt x="250525" y="282100"/>
                  <a:pt x="211575" y="282100"/>
                </a:cubicBezTo>
                <a:lnTo>
                  <a:pt x="70525" y="282100"/>
                </a:lnTo>
                <a:cubicBezTo>
                  <a:pt x="31575" y="282100"/>
                  <a:pt x="0" y="250525"/>
                  <a:pt x="0" y="211575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FF9500">
              <a:alpha val="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3295044" y="4495965"/>
            <a:ext cx="141050" cy="141050"/>
          </a:xfrm>
          <a:custGeom>
            <a:rect b="b" l="l" r="r" t="t"/>
            <a:pathLst>
              <a:path extrusionOk="0" h="141050" w="141050">
                <a:moveTo>
                  <a:pt x="70525" y="141050"/>
                </a:moveTo>
                <a:cubicBezTo>
                  <a:pt x="109449" y="141050"/>
                  <a:pt x="141050" y="109449"/>
                  <a:pt x="141050" y="70525"/>
                </a:cubicBezTo>
                <a:cubicBezTo>
                  <a:pt x="141050" y="31601"/>
                  <a:pt x="109449" y="0"/>
                  <a:pt x="70525" y="0"/>
                </a:cubicBezTo>
                <a:cubicBezTo>
                  <a:pt x="31601" y="0"/>
                  <a:pt x="0" y="31601"/>
                  <a:pt x="0" y="70525"/>
                </a:cubicBezTo>
                <a:cubicBezTo>
                  <a:pt x="0" y="109449"/>
                  <a:pt x="31601" y="141050"/>
                  <a:pt x="70525" y="141050"/>
                </a:cubicBezTo>
                <a:close/>
                <a:moveTo>
                  <a:pt x="70525" y="37466"/>
                </a:moveTo>
                <a:cubicBezTo>
                  <a:pt x="74189" y="37466"/>
                  <a:pt x="77137" y="40414"/>
                  <a:pt x="77137" y="44078"/>
                </a:cubicBezTo>
                <a:lnTo>
                  <a:pt x="77137" y="74933"/>
                </a:lnTo>
                <a:cubicBezTo>
                  <a:pt x="77137" y="78597"/>
                  <a:pt x="74189" y="81544"/>
                  <a:pt x="70525" y="81544"/>
                </a:cubicBezTo>
                <a:cubicBezTo>
                  <a:pt x="66861" y="81544"/>
                  <a:pt x="63913" y="78597"/>
                  <a:pt x="63913" y="74933"/>
                </a:cubicBezTo>
                <a:lnTo>
                  <a:pt x="63913" y="44078"/>
                </a:lnTo>
                <a:cubicBezTo>
                  <a:pt x="63913" y="40414"/>
                  <a:pt x="66861" y="37466"/>
                  <a:pt x="70525" y="37466"/>
                </a:cubicBezTo>
                <a:close/>
                <a:moveTo>
                  <a:pt x="63169" y="96972"/>
                </a:moveTo>
                <a:cubicBezTo>
                  <a:pt x="63002" y="94242"/>
                  <a:pt x="64364" y="91644"/>
                  <a:pt x="66704" y="90228"/>
                </a:cubicBezTo>
                <a:cubicBezTo>
                  <a:pt x="69045" y="88812"/>
                  <a:pt x="71978" y="88812"/>
                  <a:pt x="74318" y="90228"/>
                </a:cubicBezTo>
                <a:cubicBezTo>
                  <a:pt x="76659" y="91644"/>
                  <a:pt x="78020" y="94242"/>
                  <a:pt x="77853" y="96972"/>
                </a:cubicBezTo>
                <a:cubicBezTo>
                  <a:pt x="78020" y="99702"/>
                  <a:pt x="76659" y="102300"/>
                  <a:pt x="74318" y="103715"/>
                </a:cubicBezTo>
                <a:cubicBezTo>
                  <a:pt x="71978" y="105131"/>
                  <a:pt x="69045" y="105131"/>
                  <a:pt x="66704" y="103715"/>
                </a:cubicBezTo>
                <a:cubicBezTo>
                  <a:pt x="64364" y="102300"/>
                  <a:pt x="63002" y="99702"/>
                  <a:pt x="63169" y="96972"/>
                </a:cubicBezTo>
                <a:close/>
              </a:path>
            </a:pathLst>
          </a:custGeom>
          <a:solidFill>
            <a:srgbClr val="FF95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3612406" y="4425440"/>
            <a:ext cx="1251818" cy="211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11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Anomaly Detection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3612406" y="4637015"/>
            <a:ext cx="1243002" cy="176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2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Suspicious patterns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859523" y="6400139"/>
            <a:ext cx="3006126" cy="176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6237525" y="1516276"/>
            <a:ext cx="5606733" cy="1674968"/>
          </a:xfrm>
          <a:custGeom>
            <a:rect b="b" l="l" r="r" t="t"/>
            <a:pathLst>
              <a:path extrusionOk="0" h="1763124" w="5606733">
                <a:moveTo>
                  <a:pt x="211575" y="0"/>
                </a:moveTo>
                <a:lnTo>
                  <a:pt x="5395158" y="0"/>
                </a:lnTo>
                <a:cubicBezTo>
                  <a:pt x="5512008" y="0"/>
                  <a:pt x="5606733" y="94725"/>
                  <a:pt x="5606733" y="211575"/>
                </a:cubicBezTo>
                <a:lnTo>
                  <a:pt x="5606733" y="1551549"/>
                </a:lnTo>
                <a:cubicBezTo>
                  <a:pt x="5606733" y="1668398"/>
                  <a:pt x="5512008" y="1763124"/>
                  <a:pt x="5395158" y="1763124"/>
                </a:cubicBezTo>
                <a:lnTo>
                  <a:pt x="211575" y="1763124"/>
                </a:lnTo>
                <a:cubicBezTo>
                  <a:pt x="94804" y="1763124"/>
                  <a:pt x="0" y="1668320"/>
                  <a:pt x="0" y="1551549"/>
                </a:cubicBezTo>
                <a:lnTo>
                  <a:pt x="0" y="211575"/>
                </a:lnTo>
                <a:cubicBezTo>
                  <a:pt x="0" y="94804"/>
                  <a:pt x="94804" y="0"/>
                  <a:pt x="21157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6449107" y="1727861"/>
            <a:ext cx="352625" cy="352625"/>
          </a:xfrm>
          <a:custGeom>
            <a:rect b="b" l="l" r="r" t="t"/>
            <a:pathLst>
              <a:path extrusionOk="0" h="352625" w="352625">
                <a:moveTo>
                  <a:pt x="105787" y="0"/>
                </a:moveTo>
                <a:lnTo>
                  <a:pt x="246837" y="0"/>
                </a:lnTo>
                <a:cubicBezTo>
                  <a:pt x="305223" y="0"/>
                  <a:pt x="352625" y="47402"/>
                  <a:pt x="352625" y="105787"/>
                </a:cubicBezTo>
                <a:lnTo>
                  <a:pt x="352625" y="246837"/>
                </a:lnTo>
                <a:cubicBezTo>
                  <a:pt x="352625" y="305223"/>
                  <a:pt x="305223" y="352625"/>
                  <a:pt x="246837" y="352625"/>
                </a:cubicBezTo>
                <a:lnTo>
                  <a:pt x="105787" y="352625"/>
                </a:lnTo>
                <a:cubicBezTo>
                  <a:pt x="47402" y="352625"/>
                  <a:pt x="0" y="305223"/>
                  <a:pt x="0" y="246837"/>
                </a:cubicBezTo>
                <a:lnTo>
                  <a:pt x="0" y="105787"/>
                </a:lnTo>
                <a:cubicBezTo>
                  <a:pt x="0" y="47402"/>
                  <a:pt x="47402" y="0"/>
                  <a:pt x="105787" y="0"/>
                </a:cubicBezTo>
                <a:close/>
              </a:path>
            </a:pathLst>
          </a:custGeom>
          <a:solidFill>
            <a:srgbClr val="007AFF">
              <a:alpha val="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6548283" y="1824833"/>
            <a:ext cx="158681" cy="158681"/>
          </a:xfrm>
          <a:custGeom>
            <a:rect b="b" l="l" r="r" t="t"/>
            <a:pathLst>
              <a:path extrusionOk="0" h="158681" w="158681">
                <a:moveTo>
                  <a:pt x="142379" y="47015"/>
                </a:moveTo>
                <a:cubicBezTo>
                  <a:pt x="142472" y="48410"/>
                  <a:pt x="142472" y="49836"/>
                  <a:pt x="142472" y="51230"/>
                </a:cubicBezTo>
                <a:cubicBezTo>
                  <a:pt x="142472" y="94217"/>
                  <a:pt x="109744" y="143774"/>
                  <a:pt x="49929" y="143774"/>
                </a:cubicBezTo>
                <a:cubicBezTo>
                  <a:pt x="31488" y="143774"/>
                  <a:pt x="14380" y="138443"/>
                  <a:pt x="0" y="129176"/>
                </a:cubicBezTo>
                <a:cubicBezTo>
                  <a:pt x="2603" y="129486"/>
                  <a:pt x="5145" y="129579"/>
                  <a:pt x="7841" y="129579"/>
                </a:cubicBezTo>
                <a:cubicBezTo>
                  <a:pt x="23058" y="129579"/>
                  <a:pt x="37036" y="124435"/>
                  <a:pt x="48224" y="115695"/>
                </a:cubicBezTo>
                <a:cubicBezTo>
                  <a:pt x="33937" y="115385"/>
                  <a:pt x="21943" y="106025"/>
                  <a:pt x="17821" y="93132"/>
                </a:cubicBezTo>
                <a:cubicBezTo>
                  <a:pt x="19835" y="93442"/>
                  <a:pt x="21850" y="93628"/>
                  <a:pt x="23957" y="93628"/>
                </a:cubicBezTo>
                <a:cubicBezTo>
                  <a:pt x="26870" y="93628"/>
                  <a:pt x="29784" y="93225"/>
                  <a:pt x="32511" y="92512"/>
                </a:cubicBezTo>
                <a:cubicBezTo>
                  <a:pt x="17604" y="89506"/>
                  <a:pt x="6446" y="76396"/>
                  <a:pt x="6446" y="60590"/>
                </a:cubicBezTo>
                <a:lnTo>
                  <a:pt x="6446" y="60187"/>
                </a:lnTo>
                <a:cubicBezTo>
                  <a:pt x="10785" y="62605"/>
                  <a:pt x="15806" y="64123"/>
                  <a:pt x="21137" y="64309"/>
                </a:cubicBezTo>
                <a:cubicBezTo>
                  <a:pt x="12366" y="58483"/>
                  <a:pt x="6632" y="48503"/>
                  <a:pt x="6632" y="37222"/>
                </a:cubicBezTo>
                <a:cubicBezTo>
                  <a:pt x="6632" y="31178"/>
                  <a:pt x="8244" y="25631"/>
                  <a:pt x="11064" y="20796"/>
                </a:cubicBezTo>
                <a:cubicBezTo>
                  <a:pt x="27087" y="40538"/>
                  <a:pt x="51137" y="53431"/>
                  <a:pt x="78132" y="54826"/>
                </a:cubicBezTo>
                <a:cubicBezTo>
                  <a:pt x="77636" y="52408"/>
                  <a:pt x="77326" y="49898"/>
                  <a:pt x="77326" y="47387"/>
                </a:cubicBezTo>
                <a:cubicBezTo>
                  <a:pt x="77326" y="29474"/>
                  <a:pt x="91831" y="14876"/>
                  <a:pt x="109837" y="14876"/>
                </a:cubicBezTo>
                <a:cubicBezTo>
                  <a:pt x="119197" y="14876"/>
                  <a:pt x="127658" y="18812"/>
                  <a:pt x="133608" y="25135"/>
                </a:cubicBezTo>
                <a:cubicBezTo>
                  <a:pt x="140953" y="23740"/>
                  <a:pt x="148020" y="21013"/>
                  <a:pt x="154249" y="17294"/>
                </a:cubicBezTo>
                <a:cubicBezTo>
                  <a:pt x="151832" y="24856"/>
                  <a:pt x="146687" y="31178"/>
                  <a:pt x="139962" y="35207"/>
                </a:cubicBezTo>
                <a:cubicBezTo>
                  <a:pt x="146501" y="34495"/>
                  <a:pt x="152855" y="32697"/>
                  <a:pt x="158681" y="30187"/>
                </a:cubicBezTo>
                <a:cubicBezTo>
                  <a:pt x="154249" y="36633"/>
                  <a:pt x="148702" y="42367"/>
                  <a:pt x="142379" y="47015"/>
                </a:cubicBezTo>
                <a:close/>
              </a:path>
            </a:pathLst>
          </a:custGeom>
          <a:solidFill>
            <a:srgbClr val="007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6907519" y="1780755"/>
            <a:ext cx="1992330" cy="246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49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Twitter/X Network Analysis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6449107" y="2221536"/>
            <a:ext cx="5254108" cy="458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Analyzes follower relationships, retweet patterns, and mention networks to map information flow and identify coordinated influence operations.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6449107" y="2820998"/>
            <a:ext cx="1093137" cy="246837"/>
          </a:xfrm>
          <a:custGeom>
            <a:rect b="b" l="l" r="r" t="t"/>
            <a:pathLst>
              <a:path extrusionOk="0" h="246837" w="1093137">
                <a:moveTo>
                  <a:pt x="123419" y="0"/>
                </a:moveTo>
                <a:lnTo>
                  <a:pt x="969718" y="0"/>
                </a:lnTo>
                <a:cubicBezTo>
                  <a:pt x="1037880" y="0"/>
                  <a:pt x="1093137" y="55256"/>
                  <a:pt x="1093137" y="123419"/>
                </a:cubicBezTo>
                <a:lnTo>
                  <a:pt x="1093137" y="123419"/>
                </a:lnTo>
                <a:cubicBezTo>
                  <a:pt x="1093137" y="191581"/>
                  <a:pt x="1037880" y="246837"/>
                  <a:pt x="969718" y="246837"/>
                </a:cubicBezTo>
                <a:lnTo>
                  <a:pt x="123419" y="246837"/>
                </a:lnTo>
                <a:cubicBezTo>
                  <a:pt x="55302" y="246837"/>
                  <a:pt x="0" y="191535"/>
                  <a:pt x="0" y="123419"/>
                </a:cubicBezTo>
                <a:lnTo>
                  <a:pt x="0" y="123419"/>
                </a:lnTo>
                <a:cubicBezTo>
                  <a:pt x="0" y="55302"/>
                  <a:pt x="55302" y="0"/>
                  <a:pt x="123419" y="0"/>
                </a:cubicBezTo>
                <a:close/>
              </a:path>
            </a:pathLst>
          </a:custGeom>
          <a:solidFill>
            <a:srgbClr val="F5F5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6449107" y="2820998"/>
            <a:ext cx="1154846" cy="246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35250" lIns="105775" spcFirstLastPara="1" rIns="105775" wrap="square" tIns="352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2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Follower Graphs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7614559" y="2820998"/>
            <a:ext cx="1384052" cy="246837"/>
          </a:xfrm>
          <a:custGeom>
            <a:rect b="b" l="l" r="r" t="t"/>
            <a:pathLst>
              <a:path extrusionOk="0" h="246837" w="1384052">
                <a:moveTo>
                  <a:pt x="123419" y="0"/>
                </a:moveTo>
                <a:lnTo>
                  <a:pt x="1260633" y="0"/>
                </a:lnTo>
                <a:cubicBezTo>
                  <a:pt x="1328796" y="0"/>
                  <a:pt x="1384052" y="55256"/>
                  <a:pt x="1384052" y="123419"/>
                </a:cubicBezTo>
                <a:lnTo>
                  <a:pt x="1384052" y="123419"/>
                </a:lnTo>
                <a:cubicBezTo>
                  <a:pt x="1384052" y="191581"/>
                  <a:pt x="1328796" y="246837"/>
                  <a:pt x="1260633" y="246837"/>
                </a:cubicBezTo>
                <a:lnTo>
                  <a:pt x="123419" y="246837"/>
                </a:lnTo>
                <a:cubicBezTo>
                  <a:pt x="55302" y="246837"/>
                  <a:pt x="0" y="191535"/>
                  <a:pt x="0" y="123419"/>
                </a:cubicBezTo>
                <a:lnTo>
                  <a:pt x="0" y="123419"/>
                </a:lnTo>
                <a:cubicBezTo>
                  <a:pt x="0" y="55302"/>
                  <a:pt x="55302" y="0"/>
                  <a:pt x="123419" y="0"/>
                </a:cubicBezTo>
                <a:close/>
              </a:path>
            </a:pathLst>
          </a:custGeom>
          <a:solidFill>
            <a:srgbClr val="F5F5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7614559" y="2820998"/>
            <a:ext cx="1445761" cy="246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35250" lIns="105775" spcFirstLastPara="1" rIns="105775" wrap="square" tIns="352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2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Engagement Patterns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6237525" y="3503185"/>
            <a:ext cx="5606733" cy="1591219"/>
          </a:xfrm>
          <a:custGeom>
            <a:rect b="b" l="l" r="r" t="t"/>
            <a:pathLst>
              <a:path extrusionOk="0" h="1763124" w="5606733">
                <a:moveTo>
                  <a:pt x="211575" y="0"/>
                </a:moveTo>
                <a:lnTo>
                  <a:pt x="5395158" y="0"/>
                </a:lnTo>
                <a:cubicBezTo>
                  <a:pt x="5512008" y="0"/>
                  <a:pt x="5606733" y="94725"/>
                  <a:pt x="5606733" y="211575"/>
                </a:cubicBezTo>
                <a:lnTo>
                  <a:pt x="5606733" y="1551549"/>
                </a:lnTo>
                <a:cubicBezTo>
                  <a:pt x="5606733" y="1668398"/>
                  <a:pt x="5512008" y="1763124"/>
                  <a:pt x="5395158" y="1763124"/>
                </a:cubicBezTo>
                <a:lnTo>
                  <a:pt x="211575" y="1763124"/>
                </a:lnTo>
                <a:cubicBezTo>
                  <a:pt x="94804" y="1763124"/>
                  <a:pt x="0" y="1668320"/>
                  <a:pt x="0" y="1551549"/>
                </a:cubicBezTo>
                <a:lnTo>
                  <a:pt x="0" y="211575"/>
                </a:lnTo>
                <a:cubicBezTo>
                  <a:pt x="0" y="94804"/>
                  <a:pt x="94804" y="0"/>
                  <a:pt x="21157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6449107" y="3667297"/>
            <a:ext cx="352625" cy="352625"/>
          </a:xfrm>
          <a:custGeom>
            <a:rect b="b" l="l" r="r" t="t"/>
            <a:pathLst>
              <a:path extrusionOk="0" h="352625" w="352625">
                <a:moveTo>
                  <a:pt x="105787" y="0"/>
                </a:moveTo>
                <a:lnTo>
                  <a:pt x="246837" y="0"/>
                </a:lnTo>
                <a:cubicBezTo>
                  <a:pt x="305223" y="0"/>
                  <a:pt x="352625" y="47402"/>
                  <a:pt x="352625" y="105787"/>
                </a:cubicBezTo>
                <a:lnTo>
                  <a:pt x="352625" y="246837"/>
                </a:lnTo>
                <a:cubicBezTo>
                  <a:pt x="352625" y="305223"/>
                  <a:pt x="305223" y="352625"/>
                  <a:pt x="246837" y="352625"/>
                </a:cubicBezTo>
                <a:lnTo>
                  <a:pt x="105787" y="352625"/>
                </a:lnTo>
                <a:cubicBezTo>
                  <a:pt x="47402" y="352625"/>
                  <a:pt x="0" y="305223"/>
                  <a:pt x="0" y="246837"/>
                </a:cubicBezTo>
                <a:lnTo>
                  <a:pt x="0" y="105787"/>
                </a:lnTo>
                <a:cubicBezTo>
                  <a:pt x="0" y="47402"/>
                  <a:pt x="47402" y="0"/>
                  <a:pt x="105787" y="0"/>
                </a:cubicBezTo>
                <a:close/>
              </a:path>
            </a:pathLst>
          </a:custGeom>
          <a:solidFill>
            <a:srgbClr val="0077B5">
              <a:alpha val="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6558200" y="3764269"/>
            <a:ext cx="138846" cy="158681"/>
          </a:xfrm>
          <a:custGeom>
            <a:rect b="b" l="l" r="r" t="t"/>
            <a:pathLst>
              <a:path extrusionOk="0" h="158681" w="138846">
                <a:moveTo>
                  <a:pt x="128928" y="9918"/>
                </a:moveTo>
                <a:lnTo>
                  <a:pt x="9887" y="9918"/>
                </a:lnTo>
                <a:cubicBezTo>
                  <a:pt x="4432" y="9918"/>
                  <a:pt x="0" y="14411"/>
                  <a:pt x="0" y="19928"/>
                </a:cubicBezTo>
                <a:lnTo>
                  <a:pt x="0" y="138753"/>
                </a:lnTo>
                <a:cubicBezTo>
                  <a:pt x="0" y="144270"/>
                  <a:pt x="4432" y="148764"/>
                  <a:pt x="9887" y="148764"/>
                </a:cubicBezTo>
                <a:lnTo>
                  <a:pt x="128928" y="148764"/>
                </a:lnTo>
                <a:cubicBezTo>
                  <a:pt x="134383" y="148764"/>
                  <a:pt x="138846" y="144270"/>
                  <a:pt x="138846" y="138753"/>
                </a:cubicBezTo>
                <a:lnTo>
                  <a:pt x="138846" y="19928"/>
                </a:lnTo>
                <a:cubicBezTo>
                  <a:pt x="138846" y="14411"/>
                  <a:pt x="134383" y="9918"/>
                  <a:pt x="128928" y="9918"/>
                </a:cubicBezTo>
                <a:close/>
                <a:moveTo>
                  <a:pt x="41964" y="128928"/>
                </a:moveTo>
                <a:lnTo>
                  <a:pt x="21385" y="128928"/>
                </a:lnTo>
                <a:lnTo>
                  <a:pt x="21385" y="62667"/>
                </a:lnTo>
                <a:lnTo>
                  <a:pt x="41995" y="62667"/>
                </a:lnTo>
                <a:lnTo>
                  <a:pt x="41995" y="128928"/>
                </a:lnTo>
                <a:lnTo>
                  <a:pt x="41964" y="128928"/>
                </a:lnTo>
                <a:close/>
                <a:moveTo>
                  <a:pt x="31674" y="29753"/>
                </a:moveTo>
                <a:cubicBezTo>
                  <a:pt x="38260" y="29753"/>
                  <a:pt x="43606" y="35099"/>
                  <a:pt x="43606" y="41685"/>
                </a:cubicBezTo>
                <a:cubicBezTo>
                  <a:pt x="43606" y="48270"/>
                  <a:pt x="38260" y="53617"/>
                  <a:pt x="31674" y="53617"/>
                </a:cubicBezTo>
                <a:cubicBezTo>
                  <a:pt x="25089" y="53617"/>
                  <a:pt x="19742" y="48270"/>
                  <a:pt x="19742" y="41685"/>
                </a:cubicBezTo>
                <a:cubicBezTo>
                  <a:pt x="19742" y="35099"/>
                  <a:pt x="25089" y="29753"/>
                  <a:pt x="31674" y="29753"/>
                </a:cubicBezTo>
                <a:close/>
                <a:moveTo>
                  <a:pt x="119104" y="128928"/>
                </a:moveTo>
                <a:lnTo>
                  <a:pt x="98525" y="128928"/>
                </a:lnTo>
                <a:lnTo>
                  <a:pt x="98525" y="96696"/>
                </a:lnTo>
                <a:cubicBezTo>
                  <a:pt x="98525" y="89010"/>
                  <a:pt x="98370" y="79124"/>
                  <a:pt x="87832" y="79124"/>
                </a:cubicBezTo>
                <a:cubicBezTo>
                  <a:pt x="77109" y="79124"/>
                  <a:pt x="75467" y="87492"/>
                  <a:pt x="75467" y="96138"/>
                </a:cubicBezTo>
                <a:lnTo>
                  <a:pt x="75467" y="128928"/>
                </a:lnTo>
                <a:lnTo>
                  <a:pt x="54888" y="128928"/>
                </a:lnTo>
                <a:lnTo>
                  <a:pt x="54888" y="62667"/>
                </a:lnTo>
                <a:lnTo>
                  <a:pt x="74630" y="62667"/>
                </a:lnTo>
                <a:lnTo>
                  <a:pt x="74630" y="71716"/>
                </a:lnTo>
                <a:lnTo>
                  <a:pt x="74909" y="71716"/>
                </a:lnTo>
                <a:cubicBezTo>
                  <a:pt x="77667" y="66510"/>
                  <a:pt x="84392" y="61024"/>
                  <a:pt x="94403" y="61024"/>
                </a:cubicBezTo>
                <a:cubicBezTo>
                  <a:pt x="115230" y="61024"/>
                  <a:pt x="119104" y="74754"/>
                  <a:pt x="119104" y="92605"/>
                </a:cubicBezTo>
                <a:lnTo>
                  <a:pt x="119104" y="128928"/>
                </a:lnTo>
                <a:close/>
              </a:path>
            </a:pathLst>
          </a:custGeom>
          <a:solidFill>
            <a:srgbClr val="0077B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6907519" y="3720191"/>
            <a:ext cx="2036408" cy="246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49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LinkedIn Professional Graph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6449107" y="4160972"/>
            <a:ext cx="5254108" cy="458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Maps professional connections, employment history, and organizational affiliations to uncover hidden business relationships and career trajectories.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6449107" y="4760434"/>
            <a:ext cx="908009" cy="246837"/>
          </a:xfrm>
          <a:custGeom>
            <a:rect b="b" l="l" r="r" t="t"/>
            <a:pathLst>
              <a:path extrusionOk="0" h="246837" w="908009">
                <a:moveTo>
                  <a:pt x="123419" y="0"/>
                </a:moveTo>
                <a:lnTo>
                  <a:pt x="784590" y="0"/>
                </a:lnTo>
                <a:cubicBezTo>
                  <a:pt x="852752" y="0"/>
                  <a:pt x="908009" y="55256"/>
                  <a:pt x="908009" y="123419"/>
                </a:cubicBezTo>
                <a:lnTo>
                  <a:pt x="908009" y="123419"/>
                </a:lnTo>
                <a:cubicBezTo>
                  <a:pt x="908009" y="191581"/>
                  <a:pt x="852752" y="246837"/>
                  <a:pt x="784590" y="246837"/>
                </a:cubicBezTo>
                <a:lnTo>
                  <a:pt x="123419" y="246837"/>
                </a:lnTo>
                <a:cubicBezTo>
                  <a:pt x="55302" y="246837"/>
                  <a:pt x="0" y="191535"/>
                  <a:pt x="0" y="123419"/>
                </a:cubicBezTo>
                <a:lnTo>
                  <a:pt x="0" y="123419"/>
                </a:lnTo>
                <a:cubicBezTo>
                  <a:pt x="0" y="55302"/>
                  <a:pt x="55302" y="0"/>
                  <a:pt x="123419" y="0"/>
                </a:cubicBezTo>
                <a:close/>
              </a:path>
            </a:pathLst>
          </a:custGeom>
          <a:solidFill>
            <a:srgbClr val="F5F5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6449107" y="4760434"/>
            <a:ext cx="969718" cy="246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35250" lIns="105775" spcFirstLastPara="1" rIns="105775" wrap="square" tIns="352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2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Career Paths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7429775" y="4760434"/>
            <a:ext cx="1251818" cy="246837"/>
          </a:xfrm>
          <a:custGeom>
            <a:rect b="b" l="l" r="r" t="t"/>
            <a:pathLst>
              <a:path extrusionOk="0" h="246837" w="1251818">
                <a:moveTo>
                  <a:pt x="123419" y="0"/>
                </a:moveTo>
                <a:lnTo>
                  <a:pt x="1128399" y="0"/>
                </a:lnTo>
                <a:cubicBezTo>
                  <a:pt x="1196561" y="0"/>
                  <a:pt x="1251818" y="55256"/>
                  <a:pt x="1251818" y="123419"/>
                </a:cubicBezTo>
                <a:lnTo>
                  <a:pt x="1251818" y="123419"/>
                </a:lnTo>
                <a:cubicBezTo>
                  <a:pt x="1251818" y="191581"/>
                  <a:pt x="1196561" y="246837"/>
                  <a:pt x="1128399" y="246837"/>
                </a:cubicBezTo>
                <a:lnTo>
                  <a:pt x="123419" y="246837"/>
                </a:lnTo>
                <a:cubicBezTo>
                  <a:pt x="55302" y="246837"/>
                  <a:pt x="0" y="191535"/>
                  <a:pt x="0" y="123419"/>
                </a:cubicBezTo>
                <a:lnTo>
                  <a:pt x="0" y="123419"/>
                </a:lnTo>
                <a:cubicBezTo>
                  <a:pt x="0" y="55302"/>
                  <a:pt x="55302" y="0"/>
                  <a:pt x="123419" y="0"/>
                </a:cubicBezTo>
                <a:close/>
              </a:path>
            </a:pathLst>
          </a:custGeom>
          <a:solidFill>
            <a:srgbClr val="F5F5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7429775" y="4760434"/>
            <a:ext cx="1313527" cy="246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35250" lIns="105775" spcFirstLastPara="1" rIns="105775" wrap="square" tIns="3525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2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Organizational Ties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6237525" y="5312095"/>
            <a:ext cx="5606733" cy="1328029"/>
          </a:xfrm>
          <a:custGeom>
            <a:rect b="b" l="l" r="r" t="t"/>
            <a:pathLst>
              <a:path extrusionOk="0" h="1463393" w="5606733">
                <a:moveTo>
                  <a:pt x="211577" y="0"/>
                </a:moveTo>
                <a:lnTo>
                  <a:pt x="5395156" y="0"/>
                </a:lnTo>
                <a:cubicBezTo>
                  <a:pt x="5512007" y="0"/>
                  <a:pt x="5606733" y="94726"/>
                  <a:pt x="5606733" y="211577"/>
                </a:cubicBezTo>
                <a:lnTo>
                  <a:pt x="5606733" y="1251815"/>
                </a:lnTo>
                <a:cubicBezTo>
                  <a:pt x="5606733" y="1368666"/>
                  <a:pt x="5512007" y="1463393"/>
                  <a:pt x="5395156" y="1463393"/>
                </a:cubicBezTo>
                <a:lnTo>
                  <a:pt x="211577" y="1463393"/>
                </a:lnTo>
                <a:cubicBezTo>
                  <a:pt x="94726" y="1463393"/>
                  <a:pt x="0" y="1368666"/>
                  <a:pt x="0" y="1251815"/>
                </a:cubicBezTo>
                <a:lnTo>
                  <a:pt x="0" y="211577"/>
                </a:lnTo>
                <a:cubicBezTo>
                  <a:pt x="0" y="94726"/>
                  <a:pt x="94726" y="0"/>
                  <a:pt x="211577" y="0"/>
                </a:cubicBezTo>
                <a:close/>
              </a:path>
            </a:pathLst>
          </a:custGeom>
          <a:gradFill>
            <a:gsLst>
              <a:gs pos="0">
                <a:srgbClr val="FF9500"/>
              </a:gs>
              <a:gs pos="100000">
                <a:srgbClr val="FF6B00"/>
              </a:gs>
            </a:gsLst>
            <a:lin ang="2700000" scaled="0"/>
          </a:gra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6444720" y="5529758"/>
            <a:ext cx="5262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49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Hidden Connection Discovery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6449107" y="5800683"/>
            <a:ext cx="52542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Uncovers non-obvious relationships through shared connections, overlapping networks, and temporal correlation analysis and revealing associations that surface-level investigation misses.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8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7AFF"/>
                </a:solidFill>
                <a:latin typeface="Liter"/>
                <a:ea typeface="Liter"/>
                <a:cs typeface="Liter"/>
                <a:sym typeface="Liter"/>
              </a:rPr>
              <a:t>Specialist Agent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Legal &amp; Compliance Agent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381000" y="1143000"/>
            <a:ext cx="115157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Comprehensive legal intelligence and regulatory monitoring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381000" y="1638300"/>
            <a:ext cx="5562600" cy="2686050"/>
          </a:xfrm>
          <a:custGeom>
            <a:rect b="b" l="l" r="r" t="t"/>
            <a:pathLst>
              <a:path extrusionOk="0" h="2686050" w="5562600">
                <a:moveTo>
                  <a:pt x="228610" y="0"/>
                </a:moveTo>
                <a:lnTo>
                  <a:pt x="5333990" y="0"/>
                </a:lnTo>
                <a:cubicBezTo>
                  <a:pt x="5460163" y="0"/>
                  <a:pt x="5562600" y="102437"/>
                  <a:pt x="5562600" y="228610"/>
                </a:cubicBezTo>
                <a:lnTo>
                  <a:pt x="5562600" y="2457440"/>
                </a:lnTo>
                <a:cubicBezTo>
                  <a:pt x="5562600" y="2583613"/>
                  <a:pt x="5460163" y="2686050"/>
                  <a:pt x="5333990" y="2686050"/>
                </a:cubicBezTo>
                <a:lnTo>
                  <a:pt x="228610" y="2686050"/>
                </a:lnTo>
                <a:cubicBezTo>
                  <a:pt x="102437" y="2686050"/>
                  <a:pt x="0" y="2583613"/>
                  <a:pt x="0" y="2457440"/>
                </a:cubicBezTo>
                <a:lnTo>
                  <a:pt x="0" y="228610"/>
                </a:lnTo>
                <a:cubicBezTo>
                  <a:pt x="0" y="102437"/>
                  <a:pt x="102437" y="0"/>
                  <a:pt x="2286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609600" y="1866900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>
            <a:gsLst>
              <a:gs pos="0">
                <a:srgbClr val="5856D6"/>
              </a:gs>
              <a:gs pos="100000">
                <a:srgbClr val="AF52DE"/>
              </a:gs>
            </a:gsLst>
            <a:lin ang="2700000" scaled="0"/>
          </a:gra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731044" y="2000250"/>
            <a:ext cx="214313" cy="190500"/>
          </a:xfrm>
          <a:custGeom>
            <a:rect b="b" l="l" r="r" t="t"/>
            <a:pathLst>
              <a:path extrusionOk="0" h="190500" w="214313">
                <a:moveTo>
                  <a:pt x="63103" y="57076"/>
                </a:moveTo>
                <a:lnTo>
                  <a:pt x="56145" y="50118"/>
                </a:lnTo>
                <a:cubicBezTo>
                  <a:pt x="51495" y="45467"/>
                  <a:pt x="51495" y="37914"/>
                  <a:pt x="56145" y="33263"/>
                </a:cubicBezTo>
                <a:lnTo>
                  <a:pt x="98822" y="-9451"/>
                </a:lnTo>
                <a:cubicBezTo>
                  <a:pt x="103473" y="-14101"/>
                  <a:pt x="111026" y="-14101"/>
                  <a:pt x="115677" y="-9451"/>
                </a:cubicBezTo>
                <a:lnTo>
                  <a:pt x="122634" y="-2456"/>
                </a:lnTo>
                <a:cubicBezTo>
                  <a:pt x="127285" y="2195"/>
                  <a:pt x="127285" y="9748"/>
                  <a:pt x="122634" y="14399"/>
                </a:cubicBezTo>
                <a:lnTo>
                  <a:pt x="79958" y="57076"/>
                </a:lnTo>
                <a:cubicBezTo>
                  <a:pt x="75307" y="61726"/>
                  <a:pt x="67754" y="61726"/>
                  <a:pt x="63103" y="57076"/>
                </a:cubicBezTo>
                <a:close/>
                <a:moveTo>
                  <a:pt x="102691" y="78767"/>
                </a:moveTo>
                <a:lnTo>
                  <a:pt x="91008" y="67084"/>
                </a:lnTo>
                <a:lnTo>
                  <a:pt x="132680" y="25412"/>
                </a:lnTo>
                <a:lnTo>
                  <a:pt x="177105" y="69838"/>
                </a:lnTo>
                <a:lnTo>
                  <a:pt x="135434" y="111509"/>
                </a:lnTo>
                <a:lnTo>
                  <a:pt x="123751" y="99826"/>
                </a:lnTo>
                <a:lnTo>
                  <a:pt x="37430" y="186147"/>
                </a:lnTo>
                <a:cubicBezTo>
                  <a:pt x="31626" y="191951"/>
                  <a:pt x="22213" y="191951"/>
                  <a:pt x="16371" y="186147"/>
                </a:cubicBezTo>
                <a:cubicBezTo>
                  <a:pt x="10530" y="180342"/>
                  <a:pt x="10567" y="170929"/>
                  <a:pt x="16371" y="165088"/>
                </a:cubicBezTo>
                <a:lnTo>
                  <a:pt x="102691" y="78767"/>
                </a:lnTo>
                <a:close/>
                <a:moveTo>
                  <a:pt x="145442" y="139378"/>
                </a:moveTo>
                <a:cubicBezTo>
                  <a:pt x="140791" y="134727"/>
                  <a:pt x="140791" y="127174"/>
                  <a:pt x="145442" y="122523"/>
                </a:cubicBezTo>
                <a:lnTo>
                  <a:pt x="188119" y="79846"/>
                </a:lnTo>
                <a:cubicBezTo>
                  <a:pt x="192770" y="75195"/>
                  <a:pt x="200323" y="75195"/>
                  <a:pt x="204974" y="79846"/>
                </a:cubicBezTo>
                <a:lnTo>
                  <a:pt x="211931" y="86804"/>
                </a:lnTo>
                <a:cubicBezTo>
                  <a:pt x="216582" y="91455"/>
                  <a:pt x="216582" y="99008"/>
                  <a:pt x="211931" y="103659"/>
                </a:cubicBezTo>
                <a:lnTo>
                  <a:pt x="169255" y="146372"/>
                </a:lnTo>
                <a:cubicBezTo>
                  <a:pt x="164604" y="151023"/>
                  <a:pt x="157051" y="151023"/>
                  <a:pt x="152400" y="146372"/>
                </a:cubicBezTo>
                <a:lnTo>
                  <a:pt x="145442" y="1394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1219200" y="1962150"/>
            <a:ext cx="1943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PACER Court Records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609600" y="2476500"/>
            <a:ext cx="51816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Utilizes RAG technology to analyze PACER (Public Access to Court Electronic Records) database extracting litigation history, case outcomes, party relationships, and judicial patterns from federal court proceedings.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636984" y="3400425"/>
            <a:ext cx="116681" cy="133350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856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852488" y="3371850"/>
            <a:ext cx="13620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Civil litigation tracking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636984" y="3667125"/>
            <a:ext cx="116681" cy="133350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856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852488" y="3638550"/>
            <a:ext cx="1524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Criminal case monitoring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636984" y="3933825"/>
            <a:ext cx="116681" cy="133350"/>
          </a:xfrm>
          <a:custGeom>
            <a:rect b="b" l="l" r="r" t="t"/>
            <a:pathLst>
              <a:path extrusionOk="0" h="133350" w="116681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856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852488" y="3905250"/>
            <a:ext cx="14954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Bankruptcy proceedings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381000" y="4514850"/>
            <a:ext cx="5562600" cy="2152650"/>
          </a:xfrm>
          <a:custGeom>
            <a:rect b="b" l="l" r="r" t="t"/>
            <a:pathLst>
              <a:path extrusionOk="0" h="2152650" w="5562600">
                <a:moveTo>
                  <a:pt x="228590" y="0"/>
                </a:moveTo>
                <a:lnTo>
                  <a:pt x="5334010" y="0"/>
                </a:lnTo>
                <a:cubicBezTo>
                  <a:pt x="5460257" y="0"/>
                  <a:pt x="5562600" y="102343"/>
                  <a:pt x="5562600" y="228590"/>
                </a:cubicBezTo>
                <a:lnTo>
                  <a:pt x="5562600" y="1924060"/>
                </a:lnTo>
                <a:cubicBezTo>
                  <a:pt x="5562600" y="2050307"/>
                  <a:pt x="5460257" y="2152650"/>
                  <a:pt x="5334010" y="2152650"/>
                </a:cubicBezTo>
                <a:lnTo>
                  <a:pt x="228590" y="2152650"/>
                </a:lnTo>
                <a:cubicBezTo>
                  <a:pt x="102343" y="2152650"/>
                  <a:pt x="0" y="2050307"/>
                  <a:pt x="0" y="1924060"/>
                </a:cubicBezTo>
                <a:lnTo>
                  <a:pt x="0" y="228590"/>
                </a:lnTo>
                <a:cubicBezTo>
                  <a:pt x="0" y="102428"/>
                  <a:pt x="102428" y="0"/>
                  <a:pt x="22859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609600" y="4743450"/>
            <a:ext cx="457200" cy="457200"/>
          </a:xfrm>
          <a:custGeom>
            <a:rect b="b" l="l" r="r" t="t"/>
            <a:pathLst>
              <a:path extrusionOk="0" h="457200" w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>
            <a:gsLst>
              <a:gs pos="0">
                <a:srgbClr val="007AFF"/>
              </a:gs>
              <a:gs pos="100000">
                <a:srgbClr val="5856D6"/>
              </a:gs>
            </a:gsLst>
            <a:lin ang="2700000" scaled="0"/>
          </a:gra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766763" y="4876800"/>
            <a:ext cx="142875" cy="190500"/>
          </a:xfrm>
          <a:custGeom>
            <a:rect b="b" l="l" r="r" t="t"/>
            <a:pathLst>
              <a:path extrusionOk="0" h="190500" w="142875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32742" y="23812"/>
                </a:moveTo>
                <a:cubicBezTo>
                  <a:pt x="27794" y="23812"/>
                  <a:pt x="23812" y="27794"/>
                  <a:pt x="23812" y="32742"/>
                </a:cubicBezTo>
                <a:cubicBezTo>
                  <a:pt x="23812" y="37691"/>
                  <a:pt x="27794" y="41672"/>
                  <a:pt x="32742" y="41672"/>
                </a:cubicBezTo>
                <a:lnTo>
                  <a:pt x="50602" y="41672"/>
                </a:lnTo>
                <a:cubicBezTo>
                  <a:pt x="55550" y="41672"/>
                  <a:pt x="59531" y="37691"/>
                  <a:pt x="59531" y="32742"/>
                </a:cubicBezTo>
                <a:cubicBezTo>
                  <a:pt x="59531" y="27794"/>
                  <a:pt x="55550" y="23812"/>
                  <a:pt x="50602" y="23812"/>
                </a:cubicBezTo>
                <a:lnTo>
                  <a:pt x="32742" y="23812"/>
                </a:lnTo>
                <a:close/>
                <a:moveTo>
                  <a:pt x="32742" y="59531"/>
                </a:moveTo>
                <a:cubicBezTo>
                  <a:pt x="27794" y="59531"/>
                  <a:pt x="23812" y="63512"/>
                  <a:pt x="23812" y="68461"/>
                </a:cubicBezTo>
                <a:cubicBezTo>
                  <a:pt x="23812" y="73409"/>
                  <a:pt x="27794" y="77391"/>
                  <a:pt x="32742" y="77391"/>
                </a:cubicBezTo>
                <a:lnTo>
                  <a:pt x="50602" y="77391"/>
                </a:lnTo>
                <a:cubicBezTo>
                  <a:pt x="55550" y="77391"/>
                  <a:pt x="59531" y="73409"/>
                  <a:pt x="59531" y="68461"/>
                </a:cubicBezTo>
                <a:cubicBezTo>
                  <a:pt x="59531" y="63512"/>
                  <a:pt x="55550" y="59531"/>
                  <a:pt x="50602" y="59531"/>
                </a:cubicBezTo>
                <a:lnTo>
                  <a:pt x="32742" y="59531"/>
                </a:lnTo>
                <a:close/>
                <a:moveTo>
                  <a:pt x="58899" y="119063"/>
                </a:moveTo>
                <a:cubicBezTo>
                  <a:pt x="54694" y="119063"/>
                  <a:pt x="50750" y="120960"/>
                  <a:pt x="48146" y="124234"/>
                </a:cubicBezTo>
                <a:lnTo>
                  <a:pt x="25784" y="152177"/>
                </a:lnTo>
                <a:cubicBezTo>
                  <a:pt x="22696" y="156009"/>
                  <a:pt x="23329" y="161665"/>
                  <a:pt x="27161" y="164716"/>
                </a:cubicBezTo>
                <a:cubicBezTo>
                  <a:pt x="30993" y="167767"/>
                  <a:pt x="36649" y="167171"/>
                  <a:pt x="39700" y="163302"/>
                </a:cubicBezTo>
                <a:lnTo>
                  <a:pt x="57224" y="141424"/>
                </a:lnTo>
                <a:lnTo>
                  <a:pt x="62880" y="160288"/>
                </a:lnTo>
                <a:cubicBezTo>
                  <a:pt x="63996" y="164083"/>
                  <a:pt x="67494" y="166650"/>
                  <a:pt x="71438" y="166650"/>
                </a:cubicBezTo>
                <a:lnTo>
                  <a:pt x="110133" y="166650"/>
                </a:lnTo>
                <a:cubicBezTo>
                  <a:pt x="115081" y="166650"/>
                  <a:pt x="119063" y="162669"/>
                  <a:pt x="119063" y="157721"/>
                </a:cubicBezTo>
                <a:cubicBezTo>
                  <a:pt x="119063" y="152772"/>
                  <a:pt x="115081" y="148791"/>
                  <a:pt x="110133" y="148791"/>
                </a:cubicBezTo>
                <a:lnTo>
                  <a:pt x="78098" y="148791"/>
                </a:lnTo>
                <a:lnTo>
                  <a:pt x="72107" y="128848"/>
                </a:lnTo>
                <a:cubicBezTo>
                  <a:pt x="70358" y="123006"/>
                  <a:pt x="65001" y="119025"/>
                  <a:pt x="58899" y="11902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1219200" y="4838700"/>
            <a:ext cx="19240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State Business Filings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609600" y="5353050"/>
            <a:ext cx="51816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Accesses state-level business registration databases via MCP connector tracking entity formations, dissolutions, name changes, and registered agent modifications across all 50 states.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636984" y="6276975"/>
            <a:ext cx="116681" cy="133350"/>
          </a:xfrm>
          <a:custGeom>
            <a:rect b="b" l="l" r="r" t="t"/>
            <a:pathLst>
              <a:path extrusionOk="0" h="133350" w="116681">
                <a:moveTo>
                  <a:pt x="33337" y="-8334"/>
                </a:moveTo>
                <a:cubicBezTo>
                  <a:pt x="37947" y="-8334"/>
                  <a:pt x="41672" y="-4610"/>
                  <a:pt x="41672" y="0"/>
                </a:cubicBezTo>
                <a:lnTo>
                  <a:pt x="41672" y="25003"/>
                </a:lnTo>
                <a:lnTo>
                  <a:pt x="75009" y="25003"/>
                </a:lnTo>
                <a:lnTo>
                  <a:pt x="75009" y="0"/>
                </a:lnTo>
                <a:cubicBezTo>
                  <a:pt x="75009" y="-4610"/>
                  <a:pt x="78734" y="-8334"/>
                  <a:pt x="83344" y="-8334"/>
                </a:cubicBezTo>
                <a:cubicBezTo>
                  <a:pt x="87954" y="-8334"/>
                  <a:pt x="91678" y="-4610"/>
                  <a:pt x="91678" y="0"/>
                </a:cubicBezTo>
                <a:lnTo>
                  <a:pt x="91678" y="25003"/>
                </a:lnTo>
                <a:lnTo>
                  <a:pt x="108347" y="25003"/>
                </a:lnTo>
                <a:cubicBezTo>
                  <a:pt x="112957" y="25003"/>
                  <a:pt x="116681" y="28728"/>
                  <a:pt x="116681" y="33337"/>
                </a:cubicBezTo>
                <a:cubicBezTo>
                  <a:pt x="116681" y="37947"/>
                  <a:pt x="112957" y="41672"/>
                  <a:pt x="108347" y="41672"/>
                </a:cubicBezTo>
                <a:lnTo>
                  <a:pt x="108347" y="58341"/>
                </a:lnTo>
                <a:cubicBezTo>
                  <a:pt x="108347" y="83109"/>
                  <a:pt x="90324" y="103685"/>
                  <a:pt x="66675" y="107644"/>
                </a:cubicBezTo>
                <a:lnTo>
                  <a:pt x="66675" y="125016"/>
                </a:lnTo>
                <a:cubicBezTo>
                  <a:pt x="66675" y="129626"/>
                  <a:pt x="62951" y="133350"/>
                  <a:pt x="58341" y="133350"/>
                </a:cubicBezTo>
                <a:cubicBezTo>
                  <a:pt x="53731" y="133350"/>
                  <a:pt x="50006" y="129626"/>
                  <a:pt x="50006" y="125016"/>
                </a:cubicBezTo>
                <a:lnTo>
                  <a:pt x="50006" y="107644"/>
                </a:lnTo>
                <a:cubicBezTo>
                  <a:pt x="26357" y="103685"/>
                  <a:pt x="8334" y="83109"/>
                  <a:pt x="8334" y="58341"/>
                </a:cubicBezTo>
                <a:lnTo>
                  <a:pt x="8334" y="41672"/>
                </a:lnTo>
                <a:cubicBezTo>
                  <a:pt x="3724" y="41672"/>
                  <a:pt x="0" y="37947"/>
                  <a:pt x="0" y="33337"/>
                </a:cubicBezTo>
                <a:cubicBezTo>
                  <a:pt x="0" y="28728"/>
                  <a:pt x="3724" y="25003"/>
                  <a:pt x="8334" y="25003"/>
                </a:cubicBezTo>
                <a:lnTo>
                  <a:pt x="25003" y="25003"/>
                </a:lnTo>
                <a:lnTo>
                  <a:pt x="25003" y="0"/>
                </a:lnTo>
                <a:cubicBezTo>
                  <a:pt x="25003" y="-4610"/>
                  <a:pt x="28728" y="-8334"/>
                  <a:pt x="33337" y="-8334"/>
                </a:cubicBezTo>
                <a:close/>
              </a:path>
            </a:pathLst>
          </a:custGeom>
          <a:solidFill>
            <a:srgbClr val="007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852488" y="6248400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7AFF"/>
                </a:solidFill>
                <a:latin typeface="Liter"/>
                <a:ea typeface="Liter"/>
                <a:cs typeface="Liter"/>
                <a:sym typeface="Liter"/>
              </a:rPr>
              <a:t>MCP-enabled state database integration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6248400" y="1647825"/>
            <a:ext cx="5562600" cy="3200400"/>
          </a:xfrm>
          <a:custGeom>
            <a:rect b="b" l="l" r="r" t="t"/>
            <a:pathLst>
              <a:path extrusionOk="0" h="3200400" w="5562600">
                <a:moveTo>
                  <a:pt x="228605" y="0"/>
                </a:moveTo>
                <a:lnTo>
                  <a:pt x="5333995" y="0"/>
                </a:lnTo>
                <a:cubicBezTo>
                  <a:pt x="5460166" y="0"/>
                  <a:pt x="5562600" y="102434"/>
                  <a:pt x="5562600" y="228605"/>
                </a:cubicBezTo>
                <a:lnTo>
                  <a:pt x="5562600" y="2971795"/>
                </a:lnTo>
                <a:cubicBezTo>
                  <a:pt x="5562600" y="3097966"/>
                  <a:pt x="5460166" y="3200400"/>
                  <a:pt x="5333995" y="3200400"/>
                </a:cubicBezTo>
                <a:lnTo>
                  <a:pt x="228605" y="3200400"/>
                </a:lnTo>
                <a:cubicBezTo>
                  <a:pt x="102434" y="3200400"/>
                  <a:pt x="0" y="3097966"/>
                  <a:pt x="0" y="2971795"/>
                </a:cubicBezTo>
                <a:lnTo>
                  <a:pt x="0" y="228605"/>
                </a:lnTo>
                <a:cubicBezTo>
                  <a:pt x="0" y="102434"/>
                  <a:pt x="102434" y="0"/>
                  <a:pt x="228605" y="0"/>
                </a:cubicBezTo>
                <a:close/>
              </a:path>
            </a:pathLst>
          </a:custGeom>
          <a:gradFill>
            <a:gsLst>
              <a:gs pos="0">
                <a:srgbClr val="5856D6"/>
              </a:gs>
              <a:gs pos="100000">
                <a:srgbClr val="AF52DE"/>
              </a:gs>
            </a:gsLst>
            <a:lin ang="2700000" scaled="0"/>
          </a:gra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6477000" y="1876425"/>
            <a:ext cx="52006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Risk Indicator Detection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6477000" y="2333625"/>
            <a:ext cx="304800" cy="304800"/>
          </a:xfrm>
          <a:custGeom>
            <a:rect b="b" l="l" r="r" t="t"/>
            <a:pathLst>
              <a:path extrusionOk="0" h="304800" w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6565106" y="2419350"/>
            <a:ext cx="133350" cy="133350"/>
          </a:xfrm>
          <a:custGeom>
            <a:rect b="b" l="l" r="r" t="t"/>
            <a:pathLst>
              <a:path extrusionOk="0" h="133350" w="133350">
                <a:moveTo>
                  <a:pt x="95637" y="107435"/>
                </a:moveTo>
                <a:lnTo>
                  <a:pt x="25915" y="37713"/>
                </a:lnTo>
                <a:cubicBezTo>
                  <a:pt x="20081" y="45891"/>
                  <a:pt x="16669" y="55892"/>
                  <a:pt x="16669" y="66675"/>
                </a:cubicBezTo>
                <a:cubicBezTo>
                  <a:pt x="16669" y="94283"/>
                  <a:pt x="39067" y="116681"/>
                  <a:pt x="66675" y="116681"/>
                </a:cubicBezTo>
                <a:cubicBezTo>
                  <a:pt x="77484" y="116681"/>
                  <a:pt x="87485" y="113269"/>
                  <a:pt x="95637" y="107435"/>
                </a:cubicBezTo>
                <a:close/>
                <a:moveTo>
                  <a:pt x="107435" y="95637"/>
                </a:moveTo>
                <a:cubicBezTo>
                  <a:pt x="113269" y="87459"/>
                  <a:pt x="116681" y="77458"/>
                  <a:pt x="116681" y="66675"/>
                </a:cubicBezTo>
                <a:cubicBezTo>
                  <a:pt x="116681" y="39067"/>
                  <a:pt x="94283" y="16669"/>
                  <a:pt x="66675" y="16669"/>
                </a:cubicBezTo>
                <a:cubicBezTo>
                  <a:pt x="55866" y="16669"/>
                  <a:pt x="45865" y="20081"/>
                  <a:pt x="37713" y="25915"/>
                </a:cubicBezTo>
                <a:lnTo>
                  <a:pt x="107435" y="95637"/>
                </a:lnTo>
                <a:close/>
                <a:moveTo>
                  <a:pt x="0" y="66675"/>
                </a:moveTo>
                <a:cubicBezTo>
                  <a:pt x="0" y="29876"/>
                  <a:pt x="29876" y="0"/>
                  <a:pt x="66675" y="0"/>
                </a:cubicBez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6896100" y="2333625"/>
            <a:ext cx="21050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Sanctions List Matches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6896100" y="2600325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OFAC, UN, EU sanctions screening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6477000" y="2943225"/>
            <a:ext cx="304800" cy="304800"/>
          </a:xfrm>
          <a:custGeom>
            <a:rect b="b" l="l" r="r" t="t"/>
            <a:pathLst>
              <a:path extrusionOk="0" h="304800" w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6548438" y="3028950"/>
            <a:ext cx="166688" cy="133350"/>
          </a:xfrm>
          <a:custGeom>
            <a:rect b="b" l="l" r="r" t="t"/>
            <a:pathLst>
              <a:path extrusionOk="0" h="133350" w="166688">
                <a:moveTo>
                  <a:pt x="100013" y="8334"/>
                </a:moveTo>
                <a:lnTo>
                  <a:pt x="133350" y="8334"/>
                </a:lnTo>
                <a:cubicBezTo>
                  <a:pt x="137960" y="8334"/>
                  <a:pt x="141684" y="12059"/>
                  <a:pt x="141684" y="16669"/>
                </a:cubicBezTo>
                <a:cubicBezTo>
                  <a:pt x="141684" y="21279"/>
                  <a:pt x="137960" y="25003"/>
                  <a:pt x="133350" y="25003"/>
                </a:cubicBezTo>
                <a:lnTo>
                  <a:pt x="103763" y="25003"/>
                </a:lnTo>
                <a:cubicBezTo>
                  <a:pt x="102409" y="31723"/>
                  <a:pt x="97799" y="37270"/>
                  <a:pt x="91678" y="39927"/>
                </a:cubicBezTo>
                <a:lnTo>
                  <a:pt x="91678" y="116681"/>
                </a:lnTo>
                <a:lnTo>
                  <a:pt x="133350" y="116681"/>
                </a:lnTo>
                <a:cubicBezTo>
                  <a:pt x="137960" y="116681"/>
                  <a:pt x="141684" y="120406"/>
                  <a:pt x="141684" y="125016"/>
                </a:cubicBezTo>
                <a:cubicBezTo>
                  <a:pt x="141684" y="129626"/>
                  <a:pt x="137960" y="133350"/>
                  <a:pt x="133350" y="133350"/>
                </a:cubicBezTo>
                <a:lnTo>
                  <a:pt x="33337" y="133350"/>
                </a:lnTo>
                <a:cubicBezTo>
                  <a:pt x="28728" y="133350"/>
                  <a:pt x="25003" y="129626"/>
                  <a:pt x="25003" y="125016"/>
                </a:cubicBezTo>
                <a:cubicBezTo>
                  <a:pt x="25003" y="120406"/>
                  <a:pt x="28728" y="116681"/>
                  <a:pt x="33337" y="116681"/>
                </a:cubicBezTo>
                <a:lnTo>
                  <a:pt x="75009" y="116681"/>
                </a:lnTo>
                <a:lnTo>
                  <a:pt x="75009" y="39927"/>
                </a:lnTo>
                <a:cubicBezTo>
                  <a:pt x="68889" y="37244"/>
                  <a:pt x="64279" y="31697"/>
                  <a:pt x="62925" y="25003"/>
                </a:cubicBezTo>
                <a:lnTo>
                  <a:pt x="33337" y="25003"/>
                </a:lnTo>
                <a:cubicBezTo>
                  <a:pt x="28728" y="25003"/>
                  <a:pt x="25003" y="21279"/>
                  <a:pt x="25003" y="16669"/>
                </a:cubicBezTo>
                <a:cubicBezTo>
                  <a:pt x="25003" y="12059"/>
                  <a:pt x="28728" y="8334"/>
                  <a:pt x="33337" y="8334"/>
                </a:cubicBezTo>
                <a:lnTo>
                  <a:pt x="66675" y="8334"/>
                </a:lnTo>
                <a:cubicBezTo>
                  <a:pt x="70478" y="3282"/>
                  <a:pt x="76520" y="0"/>
                  <a:pt x="83344" y="0"/>
                </a:cubicBezTo>
                <a:cubicBezTo>
                  <a:pt x="90168" y="0"/>
                  <a:pt x="96210" y="3282"/>
                  <a:pt x="100013" y="8334"/>
                </a:cubicBezTo>
                <a:close/>
                <a:moveTo>
                  <a:pt x="114493" y="83344"/>
                </a:moveTo>
                <a:lnTo>
                  <a:pt x="152207" y="83344"/>
                </a:lnTo>
                <a:lnTo>
                  <a:pt x="133350" y="50996"/>
                </a:lnTo>
                <a:lnTo>
                  <a:pt x="114493" y="83344"/>
                </a:lnTo>
                <a:close/>
                <a:moveTo>
                  <a:pt x="133350" y="108347"/>
                </a:moveTo>
                <a:cubicBezTo>
                  <a:pt x="116968" y="108347"/>
                  <a:pt x="103346" y="99492"/>
                  <a:pt x="100533" y="87797"/>
                </a:cubicBezTo>
                <a:cubicBezTo>
                  <a:pt x="99856" y="84932"/>
                  <a:pt x="100794" y="81989"/>
                  <a:pt x="102278" y="79437"/>
                </a:cubicBezTo>
                <a:lnTo>
                  <a:pt x="127073" y="36932"/>
                </a:lnTo>
                <a:cubicBezTo>
                  <a:pt x="128375" y="34692"/>
                  <a:pt x="130772" y="33337"/>
                  <a:pt x="133350" y="33337"/>
                </a:cubicBezTo>
                <a:cubicBezTo>
                  <a:pt x="135928" y="33337"/>
                  <a:pt x="138325" y="34718"/>
                  <a:pt x="139627" y="36932"/>
                </a:cubicBezTo>
                <a:lnTo>
                  <a:pt x="164422" y="79437"/>
                </a:lnTo>
                <a:cubicBezTo>
                  <a:pt x="165906" y="81989"/>
                  <a:pt x="166844" y="84932"/>
                  <a:pt x="166167" y="87797"/>
                </a:cubicBezTo>
                <a:cubicBezTo>
                  <a:pt x="163354" y="99466"/>
                  <a:pt x="149732" y="108347"/>
                  <a:pt x="133350" y="108347"/>
                </a:cubicBezTo>
                <a:close/>
                <a:moveTo>
                  <a:pt x="33025" y="50996"/>
                </a:moveTo>
                <a:lnTo>
                  <a:pt x="14168" y="83344"/>
                </a:lnTo>
                <a:lnTo>
                  <a:pt x="51908" y="83344"/>
                </a:lnTo>
                <a:lnTo>
                  <a:pt x="33025" y="50996"/>
                </a:lnTo>
                <a:close/>
                <a:moveTo>
                  <a:pt x="234" y="87797"/>
                </a:moveTo>
                <a:cubicBezTo>
                  <a:pt x="-443" y="84932"/>
                  <a:pt x="495" y="81989"/>
                  <a:pt x="1979" y="79437"/>
                </a:cubicBezTo>
                <a:lnTo>
                  <a:pt x="26774" y="36932"/>
                </a:lnTo>
                <a:cubicBezTo>
                  <a:pt x="28076" y="34692"/>
                  <a:pt x="30473" y="33337"/>
                  <a:pt x="33051" y="33337"/>
                </a:cubicBezTo>
                <a:cubicBezTo>
                  <a:pt x="35629" y="33337"/>
                  <a:pt x="38026" y="34718"/>
                  <a:pt x="39328" y="36932"/>
                </a:cubicBezTo>
                <a:lnTo>
                  <a:pt x="64123" y="79437"/>
                </a:lnTo>
                <a:cubicBezTo>
                  <a:pt x="65607" y="81989"/>
                  <a:pt x="66545" y="84932"/>
                  <a:pt x="65868" y="87797"/>
                </a:cubicBezTo>
                <a:cubicBezTo>
                  <a:pt x="63055" y="99466"/>
                  <a:pt x="49433" y="108347"/>
                  <a:pt x="33051" y="108347"/>
                </a:cubicBezTo>
                <a:cubicBezTo>
                  <a:pt x="16669" y="108347"/>
                  <a:pt x="3047" y="99492"/>
                  <a:pt x="234" y="877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6896100" y="2943225"/>
            <a:ext cx="1981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Regulatory Actions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6896100" y="3209925"/>
            <a:ext cx="1971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SEC, FTC, state AG enforcement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6477000" y="3552825"/>
            <a:ext cx="304800" cy="304800"/>
          </a:xfrm>
          <a:custGeom>
            <a:rect b="b" l="l" r="r" t="t"/>
            <a:pathLst>
              <a:path extrusionOk="0" h="304800" w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6556772" y="3638550"/>
            <a:ext cx="150019" cy="133350"/>
          </a:xfrm>
          <a:custGeom>
            <a:rect b="b" l="l" r="r" t="t"/>
            <a:pathLst>
              <a:path extrusionOk="0" h="133350" w="150019">
                <a:moveTo>
                  <a:pt x="10678" y="-6485"/>
                </a:moveTo>
                <a:cubicBezTo>
                  <a:pt x="8230" y="-8933"/>
                  <a:pt x="4271" y="-8933"/>
                  <a:pt x="1849" y="-6485"/>
                </a:cubicBezTo>
                <a:cubicBezTo>
                  <a:pt x="-573" y="-4037"/>
                  <a:pt x="-599" y="-78"/>
                  <a:pt x="1823" y="2370"/>
                </a:cubicBezTo>
                <a:lnTo>
                  <a:pt x="139340" y="139887"/>
                </a:lnTo>
                <a:cubicBezTo>
                  <a:pt x="141789" y="142335"/>
                  <a:pt x="145747" y="142335"/>
                  <a:pt x="148170" y="139887"/>
                </a:cubicBezTo>
                <a:cubicBezTo>
                  <a:pt x="150592" y="137439"/>
                  <a:pt x="150618" y="133480"/>
                  <a:pt x="148170" y="131058"/>
                </a:cubicBezTo>
                <a:lnTo>
                  <a:pt x="73160" y="56049"/>
                </a:lnTo>
                <a:lnTo>
                  <a:pt x="76859" y="52350"/>
                </a:lnTo>
                <a:cubicBezTo>
                  <a:pt x="77952" y="51256"/>
                  <a:pt x="79333" y="50657"/>
                  <a:pt x="80739" y="50553"/>
                </a:cubicBezTo>
                <a:cubicBezTo>
                  <a:pt x="82510" y="50397"/>
                  <a:pt x="84333" y="50996"/>
                  <a:pt x="85688" y="52350"/>
                </a:cubicBezTo>
                <a:lnTo>
                  <a:pt x="131683" y="97929"/>
                </a:lnTo>
                <a:lnTo>
                  <a:pt x="150019" y="83344"/>
                </a:lnTo>
                <a:lnTo>
                  <a:pt x="150019" y="8334"/>
                </a:lnTo>
                <a:lnTo>
                  <a:pt x="120848" y="25003"/>
                </a:lnTo>
                <a:lnTo>
                  <a:pt x="114650" y="20862"/>
                </a:lnTo>
                <a:cubicBezTo>
                  <a:pt x="110535" y="18127"/>
                  <a:pt x="105716" y="16669"/>
                  <a:pt x="100768" y="16669"/>
                </a:cubicBezTo>
                <a:lnTo>
                  <a:pt x="82432" y="16669"/>
                </a:lnTo>
                <a:cubicBezTo>
                  <a:pt x="82146" y="16669"/>
                  <a:pt x="81833" y="16669"/>
                  <a:pt x="81547" y="16695"/>
                </a:cubicBezTo>
                <a:cubicBezTo>
                  <a:pt x="77145" y="16929"/>
                  <a:pt x="73004" y="18909"/>
                  <a:pt x="70035" y="22190"/>
                </a:cubicBezTo>
                <a:lnTo>
                  <a:pt x="55502" y="38364"/>
                </a:lnTo>
                <a:lnTo>
                  <a:pt x="46646" y="29509"/>
                </a:lnTo>
                <a:lnTo>
                  <a:pt x="58184" y="16695"/>
                </a:lnTo>
                <a:lnTo>
                  <a:pt x="47845" y="16695"/>
                </a:lnTo>
                <a:cubicBezTo>
                  <a:pt x="43860" y="16695"/>
                  <a:pt x="40005" y="17632"/>
                  <a:pt x="36515" y="19403"/>
                </a:cubicBezTo>
                <a:lnTo>
                  <a:pt x="10678" y="-6485"/>
                </a:lnTo>
                <a:close/>
                <a:moveTo>
                  <a:pt x="0" y="18179"/>
                </a:moveTo>
                <a:lnTo>
                  <a:pt x="0" y="83344"/>
                </a:lnTo>
                <a:lnTo>
                  <a:pt x="40734" y="117280"/>
                </a:lnTo>
                <a:cubicBezTo>
                  <a:pt x="46725" y="122281"/>
                  <a:pt x="54278" y="125016"/>
                  <a:pt x="62065" y="125016"/>
                </a:cubicBezTo>
                <a:lnTo>
                  <a:pt x="66154" y="125016"/>
                </a:lnTo>
                <a:lnTo>
                  <a:pt x="64331" y="123192"/>
                </a:lnTo>
                <a:cubicBezTo>
                  <a:pt x="61883" y="120744"/>
                  <a:pt x="61883" y="116785"/>
                  <a:pt x="64331" y="114363"/>
                </a:cubicBezTo>
                <a:cubicBezTo>
                  <a:pt x="66779" y="111941"/>
                  <a:pt x="70738" y="111915"/>
                  <a:pt x="73160" y="114363"/>
                </a:cubicBezTo>
                <a:lnTo>
                  <a:pt x="83839" y="125042"/>
                </a:lnTo>
                <a:lnTo>
                  <a:pt x="86183" y="125042"/>
                </a:lnTo>
                <a:cubicBezTo>
                  <a:pt x="91965" y="125042"/>
                  <a:pt x="97590" y="123531"/>
                  <a:pt x="102539" y="120770"/>
                </a:cubicBezTo>
                <a:lnTo>
                  <a:pt x="0" y="181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6896100" y="3552825"/>
            <a:ext cx="167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Contract Disputes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6896100" y="3819525"/>
            <a:ext cx="1666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Breach of contract patterns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6477000" y="4162425"/>
            <a:ext cx="304800" cy="304800"/>
          </a:xfrm>
          <a:custGeom>
            <a:rect b="b" l="l" r="r" t="t"/>
            <a:pathLst>
              <a:path extrusionOk="0" h="304800" w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6565106" y="4248150"/>
            <a:ext cx="133350" cy="133350"/>
          </a:xfrm>
          <a:custGeom>
            <a:rect b="b" l="l" r="r" t="t"/>
            <a:pathLst>
              <a:path extrusionOk="0" h="133350" w="133350">
                <a:moveTo>
                  <a:pt x="0" y="109284"/>
                </a:moveTo>
                <a:lnTo>
                  <a:pt x="0" y="28519"/>
                </a:lnTo>
                <a:cubicBezTo>
                  <a:pt x="0" y="22477"/>
                  <a:pt x="6277" y="18466"/>
                  <a:pt x="12059" y="20185"/>
                </a:cubicBezTo>
                <a:cubicBezTo>
                  <a:pt x="34900" y="27009"/>
                  <a:pt x="51048" y="21617"/>
                  <a:pt x="67300" y="16200"/>
                </a:cubicBezTo>
                <a:cubicBezTo>
                  <a:pt x="84099" y="10600"/>
                  <a:pt x="101002" y="4975"/>
                  <a:pt x="125458" y="12788"/>
                </a:cubicBezTo>
                <a:cubicBezTo>
                  <a:pt x="130277" y="14325"/>
                  <a:pt x="133350" y="18987"/>
                  <a:pt x="133350" y="24066"/>
                </a:cubicBezTo>
                <a:lnTo>
                  <a:pt x="133350" y="104831"/>
                </a:lnTo>
                <a:cubicBezTo>
                  <a:pt x="133350" y="110873"/>
                  <a:pt x="127073" y="114884"/>
                  <a:pt x="121317" y="113165"/>
                </a:cubicBezTo>
                <a:cubicBezTo>
                  <a:pt x="98476" y="106341"/>
                  <a:pt x="82302" y="111733"/>
                  <a:pt x="66076" y="117150"/>
                </a:cubicBezTo>
                <a:cubicBezTo>
                  <a:pt x="49277" y="122750"/>
                  <a:pt x="32374" y="128375"/>
                  <a:pt x="7918" y="120562"/>
                </a:cubicBezTo>
                <a:cubicBezTo>
                  <a:pt x="3099" y="119025"/>
                  <a:pt x="26" y="114363"/>
                  <a:pt x="26" y="109284"/>
                </a:cubicBezTo>
                <a:close/>
                <a:moveTo>
                  <a:pt x="87511" y="66675"/>
                </a:moveTo>
                <a:cubicBezTo>
                  <a:pt x="87511" y="52871"/>
                  <a:pt x="78187" y="41672"/>
                  <a:pt x="66675" y="41672"/>
                </a:cubicBezTo>
                <a:cubicBezTo>
                  <a:pt x="55163" y="41672"/>
                  <a:pt x="45839" y="52871"/>
                  <a:pt x="45839" y="66675"/>
                </a:cubicBezTo>
                <a:cubicBezTo>
                  <a:pt x="45839" y="80479"/>
                  <a:pt x="55163" y="91678"/>
                  <a:pt x="66675" y="91678"/>
                </a:cubicBezTo>
                <a:cubicBezTo>
                  <a:pt x="78187" y="91678"/>
                  <a:pt x="87511" y="80479"/>
                  <a:pt x="87511" y="66675"/>
                </a:cubicBezTo>
                <a:close/>
                <a:moveTo>
                  <a:pt x="31254" y="107722"/>
                </a:moveTo>
                <a:cubicBezTo>
                  <a:pt x="32400" y="107722"/>
                  <a:pt x="33311" y="106732"/>
                  <a:pt x="33129" y="105612"/>
                </a:cubicBezTo>
                <a:cubicBezTo>
                  <a:pt x="31931" y="98372"/>
                  <a:pt x="26097" y="92720"/>
                  <a:pt x="18752" y="91808"/>
                </a:cubicBezTo>
                <a:cubicBezTo>
                  <a:pt x="17606" y="91678"/>
                  <a:pt x="16669" y="92616"/>
                  <a:pt x="16669" y="93762"/>
                </a:cubicBezTo>
                <a:lnTo>
                  <a:pt x="16669" y="104154"/>
                </a:lnTo>
                <a:cubicBezTo>
                  <a:pt x="16669" y="105091"/>
                  <a:pt x="17294" y="105925"/>
                  <a:pt x="18231" y="106159"/>
                </a:cubicBezTo>
                <a:cubicBezTo>
                  <a:pt x="22893" y="107253"/>
                  <a:pt x="27165" y="107748"/>
                  <a:pt x="31254" y="107748"/>
                </a:cubicBezTo>
                <a:close/>
                <a:moveTo>
                  <a:pt x="114207" y="94413"/>
                </a:moveTo>
                <a:cubicBezTo>
                  <a:pt x="115509" y="94621"/>
                  <a:pt x="116681" y="93631"/>
                  <a:pt x="116681" y="92329"/>
                </a:cubicBezTo>
                <a:lnTo>
                  <a:pt x="116681" y="81234"/>
                </a:lnTo>
                <a:cubicBezTo>
                  <a:pt x="116681" y="80088"/>
                  <a:pt x="115744" y="79124"/>
                  <a:pt x="114598" y="79281"/>
                </a:cubicBezTo>
                <a:cubicBezTo>
                  <a:pt x="108034" y="80088"/>
                  <a:pt x="102643" y="84724"/>
                  <a:pt x="100742" y="90897"/>
                </a:cubicBezTo>
                <a:cubicBezTo>
                  <a:pt x="100377" y="92121"/>
                  <a:pt x="101341" y="93267"/>
                  <a:pt x="102617" y="93293"/>
                </a:cubicBezTo>
                <a:cubicBezTo>
                  <a:pt x="106315" y="93397"/>
                  <a:pt x="110170" y="93736"/>
                  <a:pt x="114181" y="94413"/>
                </a:cubicBezTo>
                <a:close/>
                <a:moveTo>
                  <a:pt x="116681" y="39588"/>
                </a:moveTo>
                <a:lnTo>
                  <a:pt x="116681" y="29196"/>
                </a:lnTo>
                <a:cubicBezTo>
                  <a:pt x="116681" y="28259"/>
                  <a:pt x="116030" y="27425"/>
                  <a:pt x="115119" y="27191"/>
                </a:cubicBezTo>
                <a:cubicBezTo>
                  <a:pt x="110457" y="26097"/>
                  <a:pt x="106185" y="25602"/>
                  <a:pt x="102096" y="25602"/>
                </a:cubicBezTo>
                <a:cubicBezTo>
                  <a:pt x="100950" y="25602"/>
                  <a:pt x="100039" y="26592"/>
                  <a:pt x="100221" y="27712"/>
                </a:cubicBezTo>
                <a:cubicBezTo>
                  <a:pt x="101419" y="34952"/>
                  <a:pt x="107253" y="40604"/>
                  <a:pt x="114598" y="41516"/>
                </a:cubicBezTo>
                <a:cubicBezTo>
                  <a:pt x="115744" y="41646"/>
                  <a:pt x="116681" y="40708"/>
                  <a:pt x="116681" y="39562"/>
                </a:cubicBezTo>
                <a:close/>
                <a:moveTo>
                  <a:pt x="32608" y="42427"/>
                </a:moveTo>
                <a:cubicBezTo>
                  <a:pt x="32973" y="41203"/>
                  <a:pt x="32009" y="40057"/>
                  <a:pt x="30733" y="40031"/>
                </a:cubicBezTo>
                <a:cubicBezTo>
                  <a:pt x="27035" y="39927"/>
                  <a:pt x="23180" y="39588"/>
                  <a:pt x="19169" y="38911"/>
                </a:cubicBezTo>
                <a:cubicBezTo>
                  <a:pt x="17867" y="38703"/>
                  <a:pt x="16695" y="39692"/>
                  <a:pt x="16695" y="40995"/>
                </a:cubicBezTo>
                <a:lnTo>
                  <a:pt x="16669" y="52090"/>
                </a:lnTo>
                <a:cubicBezTo>
                  <a:pt x="16669" y="53236"/>
                  <a:pt x="17606" y="54199"/>
                  <a:pt x="18752" y="54043"/>
                </a:cubicBezTo>
                <a:cubicBezTo>
                  <a:pt x="25316" y="53236"/>
                  <a:pt x="30707" y="48600"/>
                  <a:pt x="32608" y="4242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6896100" y="4162425"/>
            <a:ext cx="1743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Financial Crimes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6896100" y="4429125"/>
            <a:ext cx="17335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Money laundering indicators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6248400" y="5038725"/>
            <a:ext cx="5562600" cy="1619250"/>
          </a:xfrm>
          <a:custGeom>
            <a:rect b="b" l="l" r="r" t="t"/>
            <a:pathLst>
              <a:path extrusionOk="0" h="1619250" w="5562600">
                <a:moveTo>
                  <a:pt x="228606" y="0"/>
                </a:moveTo>
                <a:lnTo>
                  <a:pt x="5333994" y="0"/>
                </a:lnTo>
                <a:cubicBezTo>
                  <a:pt x="5460165" y="0"/>
                  <a:pt x="5562600" y="102435"/>
                  <a:pt x="5562600" y="228606"/>
                </a:cubicBezTo>
                <a:lnTo>
                  <a:pt x="5562600" y="1390644"/>
                </a:lnTo>
                <a:cubicBezTo>
                  <a:pt x="5562600" y="1516815"/>
                  <a:pt x="5460165" y="1619250"/>
                  <a:pt x="5333994" y="1619250"/>
                </a:cubicBezTo>
                <a:lnTo>
                  <a:pt x="228606" y="1619250"/>
                </a:lnTo>
                <a:cubicBezTo>
                  <a:pt x="102435" y="1619250"/>
                  <a:pt x="0" y="1516815"/>
                  <a:pt x="0" y="1390644"/>
                </a:cubicBezTo>
                <a:lnTo>
                  <a:pt x="0" y="228606"/>
                </a:lnTo>
                <a:cubicBezTo>
                  <a:pt x="0" y="102435"/>
                  <a:pt x="102435" y="0"/>
                  <a:pt x="2286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6500813" y="5305425"/>
            <a:ext cx="190500" cy="190500"/>
          </a:xfrm>
          <a:custGeom>
            <a:rect b="b" l="l" r="r" t="t"/>
            <a:pathLst>
              <a:path extrusionOk="0" h="190500" w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34C75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6829425" y="5267325"/>
            <a:ext cx="1857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Compliance Monitoring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6477000" y="5686425"/>
            <a:ext cx="51816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Continuous monitoring of regulatory changes, enforcement trends, and compliance requirements proactively alerting investigators to emerging risks and legal obligations.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9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75">
                <a:solidFill>
                  <a:srgbClr val="007AFF"/>
                </a:solidFill>
                <a:latin typeface="Liter"/>
                <a:ea typeface="Liter"/>
                <a:cs typeface="Liter"/>
                <a:sym typeface="Liter"/>
              </a:rPr>
              <a:t>Technical Infrastructure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MCP Integration Layer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317500" y="952500"/>
            <a:ext cx="11628438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Model Context Protocol for seamless data connectivity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317500" y="1365250"/>
            <a:ext cx="5467826" cy="5143500"/>
          </a:xfrm>
          <a:custGeom>
            <a:rect b="b" l="l" r="r" t="t"/>
            <a:pathLst>
              <a:path extrusionOk="0" h="5715000" w="5651500">
                <a:moveTo>
                  <a:pt x="190512" y="0"/>
                </a:moveTo>
                <a:lnTo>
                  <a:pt x="5460988" y="0"/>
                </a:lnTo>
                <a:cubicBezTo>
                  <a:pt x="5566205" y="0"/>
                  <a:pt x="5651500" y="85295"/>
                  <a:pt x="5651500" y="190512"/>
                </a:cubicBezTo>
                <a:lnTo>
                  <a:pt x="5651500" y="5524488"/>
                </a:lnTo>
                <a:cubicBezTo>
                  <a:pt x="5651500" y="5629705"/>
                  <a:pt x="5566205" y="5715000"/>
                  <a:pt x="5460988" y="5715000"/>
                </a:cubicBezTo>
                <a:lnTo>
                  <a:pt x="190512" y="5715000"/>
                </a:lnTo>
                <a:cubicBezTo>
                  <a:pt x="85295" y="5715000"/>
                  <a:pt x="0" y="5629705"/>
                  <a:pt x="0" y="5524488"/>
                </a:cubicBezTo>
                <a:lnTo>
                  <a:pt x="0" y="190512"/>
                </a:lnTo>
                <a:cubicBezTo>
                  <a:pt x="0" y="85366"/>
                  <a:pt x="85366" y="0"/>
                  <a:pt x="19051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571500" y="1619250"/>
            <a:ext cx="444500" cy="444500"/>
          </a:xfrm>
          <a:custGeom>
            <a:rect b="b" l="l" r="r" t="t"/>
            <a:pathLst>
              <a:path extrusionOk="0" h="444500" w="444500">
                <a:moveTo>
                  <a:pt x="126998" y="0"/>
                </a:moveTo>
                <a:lnTo>
                  <a:pt x="317502" y="0"/>
                </a:lnTo>
                <a:cubicBezTo>
                  <a:pt x="387641" y="0"/>
                  <a:pt x="444500" y="56859"/>
                  <a:pt x="444500" y="126998"/>
                </a:cubicBezTo>
                <a:lnTo>
                  <a:pt x="444500" y="317502"/>
                </a:lnTo>
                <a:cubicBezTo>
                  <a:pt x="444500" y="387641"/>
                  <a:pt x="387641" y="444500"/>
                  <a:pt x="317502" y="444500"/>
                </a:cubicBezTo>
                <a:lnTo>
                  <a:pt x="126998" y="444500"/>
                </a:lnTo>
                <a:cubicBezTo>
                  <a:pt x="56859" y="444500"/>
                  <a:pt x="0" y="387641"/>
                  <a:pt x="0" y="317502"/>
                </a:cubicBezTo>
                <a:lnTo>
                  <a:pt x="0" y="126998"/>
                </a:lnTo>
                <a:cubicBezTo>
                  <a:pt x="0" y="56906"/>
                  <a:pt x="56906" y="0"/>
                  <a:pt x="126998" y="0"/>
                </a:cubicBezTo>
                <a:close/>
              </a:path>
            </a:pathLst>
          </a:custGeom>
          <a:gradFill>
            <a:gsLst>
              <a:gs pos="0">
                <a:srgbClr val="007AFF"/>
              </a:gs>
              <a:gs pos="100000">
                <a:srgbClr val="5856D6"/>
              </a:gs>
            </a:gsLst>
            <a:lin ang="2700000" scaled="0"/>
          </a:gra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710406" y="1746250"/>
            <a:ext cx="166688" cy="190500"/>
          </a:xfrm>
          <a:custGeom>
            <a:rect b="b" l="l" r="r" t="t"/>
            <a:pathLst>
              <a:path extrusionOk="0" h="190500" w="166688">
                <a:moveTo>
                  <a:pt x="47625" y="-11906"/>
                </a:moveTo>
                <a:cubicBezTo>
                  <a:pt x="54211" y="-11906"/>
                  <a:pt x="59531" y="-6586"/>
                  <a:pt x="59531" y="0"/>
                </a:cubicBezTo>
                <a:lnTo>
                  <a:pt x="59531" y="35719"/>
                </a:lnTo>
                <a:lnTo>
                  <a:pt x="107156" y="35719"/>
                </a:lnTo>
                <a:lnTo>
                  <a:pt x="107156" y="0"/>
                </a:lnTo>
                <a:cubicBezTo>
                  <a:pt x="107156" y="-6586"/>
                  <a:pt x="112477" y="-11906"/>
                  <a:pt x="119063" y="-11906"/>
                </a:cubicBezTo>
                <a:cubicBezTo>
                  <a:pt x="125648" y="-11906"/>
                  <a:pt x="130969" y="-6586"/>
                  <a:pt x="130969" y="0"/>
                </a:cubicBezTo>
                <a:lnTo>
                  <a:pt x="130969" y="35719"/>
                </a:ln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cubicBezTo>
                  <a:pt x="166688" y="54211"/>
                  <a:pt x="161367" y="59531"/>
                  <a:pt x="154781" y="59531"/>
                </a:cubicBezTo>
                <a:lnTo>
                  <a:pt x="154781" y="83344"/>
                </a:lnTo>
                <a:cubicBezTo>
                  <a:pt x="154781" y="118728"/>
                  <a:pt x="129034" y="148121"/>
                  <a:pt x="95250" y="153777"/>
                </a:cubicBezTo>
                <a:lnTo>
                  <a:pt x="95250" y="178594"/>
                </a:lnTo>
                <a:cubicBezTo>
                  <a:pt x="95250" y="185179"/>
                  <a:pt x="89929" y="190500"/>
                  <a:pt x="83344" y="190500"/>
                </a:cubicBezTo>
                <a:cubicBezTo>
                  <a:pt x="76758" y="190500"/>
                  <a:pt x="71438" y="185179"/>
                  <a:pt x="71438" y="178594"/>
                </a:cubicBezTo>
                <a:lnTo>
                  <a:pt x="71438" y="153777"/>
                </a:lnTo>
                <a:cubicBezTo>
                  <a:pt x="37654" y="148121"/>
                  <a:pt x="11906" y="118728"/>
                  <a:pt x="11906" y="83344"/>
                </a:cubicBez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35719" y="35719"/>
                </a:lnTo>
                <a:lnTo>
                  <a:pt x="35719" y="0"/>
                </a:lnTo>
                <a:cubicBezTo>
                  <a:pt x="35719" y="-6586"/>
                  <a:pt x="41039" y="-11906"/>
                  <a:pt x="47625" y="-1190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1143000" y="1714500"/>
            <a:ext cx="17938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Unified Data Access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571500" y="2254250"/>
            <a:ext cx="5207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The Model Context Protocol (MCP) architecture provides standardized, secure connections between AI agents and diverse data sources—eliminating integration complexity and enabling rapid deployment of new data connectors.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571500" y="3063875"/>
            <a:ext cx="5040630" cy="2831187"/>
          </a:xfrm>
          <a:custGeom>
            <a:rect b="b" l="l" r="r" t="t"/>
            <a:pathLst>
              <a:path extrusionOk="0" h="3762375" w="5143500">
                <a:moveTo>
                  <a:pt x="127018" y="0"/>
                </a:moveTo>
                <a:lnTo>
                  <a:pt x="5016482" y="0"/>
                </a:lnTo>
                <a:cubicBezTo>
                  <a:pt x="5086632" y="0"/>
                  <a:pt x="5143500" y="56868"/>
                  <a:pt x="5143500" y="127018"/>
                </a:cubicBezTo>
                <a:lnTo>
                  <a:pt x="5143500" y="3635357"/>
                </a:lnTo>
                <a:cubicBezTo>
                  <a:pt x="5143500" y="3705507"/>
                  <a:pt x="5086632" y="3762375"/>
                  <a:pt x="5016482" y="3762375"/>
                </a:cubicBezTo>
                <a:lnTo>
                  <a:pt x="127018" y="3762375"/>
                </a:lnTo>
                <a:cubicBezTo>
                  <a:pt x="56868" y="3762375"/>
                  <a:pt x="0" y="3705507"/>
                  <a:pt x="0" y="3635357"/>
                </a:cubicBezTo>
                <a:lnTo>
                  <a:pt x="0" y="127018"/>
                </a:lnTo>
                <a:cubicBezTo>
                  <a:pt x="0" y="56868"/>
                  <a:pt x="56868" y="0"/>
                  <a:pt x="127018" y="0"/>
                </a:cubicBezTo>
                <a:close/>
              </a:path>
            </a:pathLst>
          </a:custGeom>
          <a:solidFill>
            <a:srgbClr val="F5F5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730250" y="3222625"/>
            <a:ext cx="4881563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75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MCP Server Ecosystem: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730250" y="3508375"/>
            <a:ext cx="2349500" cy="666750"/>
          </a:xfrm>
          <a:custGeom>
            <a:rect b="b" l="l" r="r" t="t"/>
            <a:pathLst>
              <a:path extrusionOk="0" h="666750" w="2349500">
                <a:moveTo>
                  <a:pt x="95252" y="0"/>
                </a:moveTo>
                <a:lnTo>
                  <a:pt x="2254248" y="0"/>
                </a:lnTo>
                <a:cubicBezTo>
                  <a:pt x="2306854" y="0"/>
                  <a:pt x="2349500" y="42646"/>
                  <a:pt x="2349500" y="95252"/>
                </a:cubicBezTo>
                <a:lnTo>
                  <a:pt x="2349500" y="571498"/>
                </a:lnTo>
                <a:cubicBezTo>
                  <a:pt x="2349500" y="624104"/>
                  <a:pt x="2306854" y="666750"/>
                  <a:pt x="2254248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889000" y="3667125"/>
            <a:ext cx="95250" cy="127000"/>
          </a:xfrm>
          <a:custGeom>
            <a:rect b="b" l="l" r="r" t="t"/>
            <a:pathLst>
              <a:path extrusionOk="0" h="127000" w="95250">
                <a:moveTo>
                  <a:pt x="15875" y="0"/>
                </a:moveTo>
                <a:cubicBezTo>
                  <a:pt x="7119" y="0"/>
                  <a:pt x="0" y="7119"/>
                  <a:pt x="0" y="15875"/>
                </a:cubicBezTo>
                <a:lnTo>
                  <a:pt x="0" y="111125"/>
                </a:lnTo>
                <a:cubicBezTo>
                  <a:pt x="0" y="119881"/>
                  <a:pt x="7119" y="127000"/>
                  <a:pt x="15875" y="127000"/>
                </a:cubicBezTo>
                <a:lnTo>
                  <a:pt x="79375" y="127000"/>
                </a:lnTo>
                <a:cubicBezTo>
                  <a:pt x="88131" y="127000"/>
                  <a:pt x="95250" y="119881"/>
                  <a:pt x="95250" y="111125"/>
                </a:cubicBezTo>
                <a:lnTo>
                  <a:pt x="95250" y="15875"/>
                </a:lnTo>
                <a:cubicBezTo>
                  <a:pt x="95250" y="7119"/>
                  <a:pt x="88131" y="0"/>
                  <a:pt x="79375" y="0"/>
                </a:cubicBezTo>
                <a:lnTo>
                  <a:pt x="15875" y="0"/>
                </a:lnTo>
                <a:close/>
                <a:moveTo>
                  <a:pt x="43656" y="87313"/>
                </a:moveTo>
                <a:lnTo>
                  <a:pt x="51594" y="87313"/>
                </a:lnTo>
                <a:cubicBezTo>
                  <a:pt x="55984" y="87313"/>
                  <a:pt x="59531" y="90860"/>
                  <a:pt x="59531" y="95250"/>
                </a:cubicBezTo>
                <a:lnTo>
                  <a:pt x="59531" y="115094"/>
                </a:lnTo>
                <a:lnTo>
                  <a:pt x="35719" y="115094"/>
                </a:lnTo>
                <a:lnTo>
                  <a:pt x="35719" y="95250"/>
                </a:lnTo>
                <a:cubicBezTo>
                  <a:pt x="35719" y="90860"/>
                  <a:pt x="39266" y="87313"/>
                  <a:pt x="43656" y="87313"/>
                </a:cubicBezTo>
                <a:close/>
                <a:moveTo>
                  <a:pt x="23812" y="27781"/>
                </a:moveTo>
                <a:cubicBezTo>
                  <a:pt x="23812" y="25598"/>
                  <a:pt x="25598" y="23812"/>
                  <a:pt x="27781" y="23812"/>
                </a:cubicBezTo>
                <a:lnTo>
                  <a:pt x="35719" y="23812"/>
                </a:lnTo>
                <a:cubicBezTo>
                  <a:pt x="37902" y="23812"/>
                  <a:pt x="39688" y="25598"/>
                  <a:pt x="39688" y="27781"/>
                </a:cubicBezTo>
                <a:lnTo>
                  <a:pt x="39688" y="35719"/>
                </a:lnTo>
                <a:cubicBezTo>
                  <a:pt x="39688" y="37902"/>
                  <a:pt x="37902" y="39688"/>
                  <a:pt x="35719" y="39688"/>
                </a:cubicBezTo>
                <a:lnTo>
                  <a:pt x="27781" y="39688"/>
                </a:lnTo>
                <a:cubicBezTo>
                  <a:pt x="25598" y="39688"/>
                  <a:pt x="23812" y="37902"/>
                  <a:pt x="23812" y="35719"/>
                </a:cubicBezTo>
                <a:lnTo>
                  <a:pt x="23812" y="27781"/>
                </a:lnTo>
                <a:close/>
                <a:moveTo>
                  <a:pt x="59531" y="23812"/>
                </a:moveTo>
                <a:lnTo>
                  <a:pt x="67469" y="23812"/>
                </a:lnTo>
                <a:cubicBezTo>
                  <a:pt x="69652" y="23812"/>
                  <a:pt x="71438" y="25598"/>
                  <a:pt x="71438" y="27781"/>
                </a:cubicBezTo>
                <a:lnTo>
                  <a:pt x="71438" y="35719"/>
                </a:lnTo>
                <a:cubicBezTo>
                  <a:pt x="71438" y="37902"/>
                  <a:pt x="69652" y="39688"/>
                  <a:pt x="67469" y="39688"/>
                </a:cubicBezTo>
                <a:lnTo>
                  <a:pt x="59531" y="39688"/>
                </a:lnTo>
                <a:cubicBezTo>
                  <a:pt x="57348" y="39688"/>
                  <a:pt x="55563" y="37902"/>
                  <a:pt x="55563" y="35719"/>
                </a:cubicBezTo>
                <a:lnTo>
                  <a:pt x="55563" y="27781"/>
                </a:lnTo>
                <a:cubicBezTo>
                  <a:pt x="55563" y="25598"/>
                  <a:pt x="57348" y="23812"/>
                  <a:pt x="59531" y="23812"/>
                </a:cubicBezTo>
                <a:close/>
                <a:moveTo>
                  <a:pt x="23812" y="59531"/>
                </a:moveTo>
                <a:cubicBezTo>
                  <a:pt x="23812" y="57348"/>
                  <a:pt x="25598" y="55563"/>
                  <a:pt x="27781" y="55563"/>
                </a:cubicBezTo>
                <a:lnTo>
                  <a:pt x="35719" y="55563"/>
                </a:lnTo>
                <a:cubicBezTo>
                  <a:pt x="37902" y="55563"/>
                  <a:pt x="39688" y="57348"/>
                  <a:pt x="39688" y="59531"/>
                </a:cubicBezTo>
                <a:lnTo>
                  <a:pt x="39688" y="67469"/>
                </a:lnTo>
                <a:cubicBezTo>
                  <a:pt x="39688" y="69652"/>
                  <a:pt x="37902" y="71438"/>
                  <a:pt x="35719" y="71438"/>
                </a:cubicBezTo>
                <a:lnTo>
                  <a:pt x="27781" y="71438"/>
                </a:lnTo>
                <a:cubicBezTo>
                  <a:pt x="25598" y="71438"/>
                  <a:pt x="23812" y="69652"/>
                  <a:pt x="23812" y="67469"/>
                </a:cubicBezTo>
                <a:lnTo>
                  <a:pt x="23812" y="59531"/>
                </a:lnTo>
                <a:close/>
                <a:moveTo>
                  <a:pt x="59531" y="55563"/>
                </a:moveTo>
                <a:lnTo>
                  <a:pt x="67469" y="55563"/>
                </a:lnTo>
                <a:cubicBezTo>
                  <a:pt x="69652" y="55563"/>
                  <a:pt x="71438" y="57348"/>
                  <a:pt x="71438" y="59531"/>
                </a:cubicBezTo>
                <a:lnTo>
                  <a:pt x="71438" y="67469"/>
                </a:lnTo>
                <a:cubicBezTo>
                  <a:pt x="71438" y="69652"/>
                  <a:pt x="69652" y="71438"/>
                  <a:pt x="67469" y="71438"/>
                </a:cubicBezTo>
                <a:lnTo>
                  <a:pt x="59531" y="71438"/>
                </a:lnTo>
                <a:cubicBezTo>
                  <a:pt x="57348" y="71438"/>
                  <a:pt x="55563" y="69652"/>
                  <a:pt x="55563" y="67469"/>
                </a:cubicBezTo>
                <a:lnTo>
                  <a:pt x="55563" y="59531"/>
                </a:lnTo>
                <a:cubicBezTo>
                  <a:pt x="55563" y="57348"/>
                  <a:pt x="57348" y="55563"/>
                  <a:pt x="59531" y="55563"/>
                </a:cubicBezTo>
                <a:close/>
              </a:path>
            </a:pathLst>
          </a:custGeom>
          <a:solidFill>
            <a:srgbClr val="007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1079500" y="3635375"/>
            <a:ext cx="746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SEC EDGAR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857250" y="3889375"/>
            <a:ext cx="2151063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Filing retrieval &amp; analysis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3206750" y="3508375"/>
            <a:ext cx="2349500" cy="666750"/>
          </a:xfrm>
          <a:custGeom>
            <a:rect b="b" l="l" r="r" t="t"/>
            <a:pathLst>
              <a:path extrusionOk="0" h="666750" w="2349500">
                <a:moveTo>
                  <a:pt x="95252" y="0"/>
                </a:moveTo>
                <a:lnTo>
                  <a:pt x="2254248" y="0"/>
                </a:lnTo>
                <a:cubicBezTo>
                  <a:pt x="2306854" y="0"/>
                  <a:pt x="2349500" y="42646"/>
                  <a:pt x="2349500" y="95252"/>
                </a:cubicBezTo>
                <a:lnTo>
                  <a:pt x="2349500" y="571498"/>
                </a:lnTo>
                <a:cubicBezTo>
                  <a:pt x="2349500" y="624104"/>
                  <a:pt x="2306854" y="666750"/>
                  <a:pt x="2254248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3349625" y="3667125"/>
            <a:ext cx="127000" cy="127000"/>
          </a:xfrm>
          <a:custGeom>
            <a:rect b="b" l="l" r="r" t="t"/>
            <a:pathLst>
              <a:path extrusionOk="0" h="127000" w="127000">
                <a:moveTo>
                  <a:pt x="87288" y="69453"/>
                </a:moveTo>
                <a:lnTo>
                  <a:pt x="39936" y="69453"/>
                </a:lnTo>
                <a:cubicBezTo>
                  <a:pt x="40655" y="85452"/>
                  <a:pt x="44202" y="100186"/>
                  <a:pt x="49237" y="110976"/>
                </a:cubicBezTo>
                <a:cubicBezTo>
                  <a:pt x="52065" y="117053"/>
                  <a:pt x="55116" y="121345"/>
                  <a:pt x="57944" y="123974"/>
                </a:cubicBezTo>
                <a:cubicBezTo>
                  <a:pt x="60722" y="126578"/>
                  <a:pt x="62632" y="127000"/>
                  <a:pt x="63624" y="127000"/>
                </a:cubicBezTo>
                <a:cubicBezTo>
                  <a:pt x="64616" y="127000"/>
                  <a:pt x="66526" y="126578"/>
                  <a:pt x="69304" y="123974"/>
                </a:cubicBezTo>
                <a:cubicBezTo>
                  <a:pt x="72132" y="121345"/>
                  <a:pt x="75183" y="117029"/>
                  <a:pt x="78011" y="110976"/>
                </a:cubicBezTo>
                <a:cubicBezTo>
                  <a:pt x="83046" y="100186"/>
                  <a:pt x="86593" y="85452"/>
                  <a:pt x="87313" y="69453"/>
                </a:cubicBezTo>
                <a:close/>
                <a:moveTo>
                  <a:pt x="39911" y="57547"/>
                </a:moveTo>
                <a:lnTo>
                  <a:pt x="87263" y="57547"/>
                </a:lnTo>
                <a:cubicBezTo>
                  <a:pt x="86568" y="41548"/>
                  <a:pt x="83021" y="26814"/>
                  <a:pt x="77986" y="16024"/>
                </a:cubicBezTo>
                <a:cubicBezTo>
                  <a:pt x="75158" y="9971"/>
                  <a:pt x="72107" y="5655"/>
                  <a:pt x="69279" y="3026"/>
                </a:cubicBezTo>
                <a:cubicBezTo>
                  <a:pt x="66501" y="422"/>
                  <a:pt x="64591" y="0"/>
                  <a:pt x="63599" y="0"/>
                </a:cubicBezTo>
                <a:cubicBezTo>
                  <a:pt x="62607" y="0"/>
                  <a:pt x="60697" y="422"/>
                  <a:pt x="57919" y="3026"/>
                </a:cubicBezTo>
                <a:cubicBezTo>
                  <a:pt x="55091" y="5655"/>
                  <a:pt x="52040" y="9971"/>
                  <a:pt x="49212" y="16024"/>
                </a:cubicBezTo>
                <a:cubicBezTo>
                  <a:pt x="44177" y="26814"/>
                  <a:pt x="40630" y="41548"/>
                  <a:pt x="39911" y="57547"/>
                </a:cubicBezTo>
                <a:close/>
                <a:moveTo>
                  <a:pt x="28004" y="57547"/>
                </a:moveTo>
                <a:cubicBezTo>
                  <a:pt x="28873" y="36314"/>
                  <a:pt x="34354" y="16594"/>
                  <a:pt x="42366" y="3646"/>
                </a:cubicBezTo>
                <a:cubicBezTo>
                  <a:pt x="19521" y="11733"/>
                  <a:pt x="2704" y="32544"/>
                  <a:pt x="372" y="57547"/>
                </a:cubicBezTo>
                <a:lnTo>
                  <a:pt x="28004" y="57547"/>
                </a:lnTo>
                <a:close/>
                <a:moveTo>
                  <a:pt x="372" y="69453"/>
                </a:moveTo>
                <a:cubicBezTo>
                  <a:pt x="2704" y="94456"/>
                  <a:pt x="19521" y="115267"/>
                  <a:pt x="42366" y="123354"/>
                </a:cubicBezTo>
                <a:cubicBezTo>
                  <a:pt x="34354" y="110406"/>
                  <a:pt x="28873" y="90686"/>
                  <a:pt x="28004" y="69453"/>
                </a:cubicBezTo>
                <a:lnTo>
                  <a:pt x="372" y="69453"/>
                </a:lnTo>
                <a:close/>
                <a:moveTo>
                  <a:pt x="99194" y="69453"/>
                </a:moveTo>
                <a:cubicBezTo>
                  <a:pt x="98326" y="90686"/>
                  <a:pt x="92844" y="110406"/>
                  <a:pt x="84832" y="123354"/>
                </a:cubicBezTo>
                <a:cubicBezTo>
                  <a:pt x="107677" y="115243"/>
                  <a:pt x="124495" y="94456"/>
                  <a:pt x="126826" y="69453"/>
                </a:cubicBezTo>
                <a:lnTo>
                  <a:pt x="99194" y="69453"/>
                </a:lnTo>
                <a:close/>
                <a:moveTo>
                  <a:pt x="126826" y="57547"/>
                </a:moveTo>
                <a:cubicBezTo>
                  <a:pt x="124495" y="32544"/>
                  <a:pt x="107677" y="11733"/>
                  <a:pt x="84832" y="3646"/>
                </a:cubicBezTo>
                <a:cubicBezTo>
                  <a:pt x="92844" y="16594"/>
                  <a:pt x="98326" y="36314"/>
                  <a:pt x="99194" y="57547"/>
                </a:cubicBezTo>
                <a:lnTo>
                  <a:pt x="126826" y="57547"/>
                </a:lnTo>
                <a:close/>
              </a:path>
            </a:pathLst>
          </a:custGeom>
          <a:solidFill>
            <a:srgbClr val="34C75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3556000" y="3635375"/>
            <a:ext cx="99218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OpenCorporates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3333750" y="3889375"/>
            <a:ext cx="2151063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Global corporate data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730250" y="4302125"/>
            <a:ext cx="2349500" cy="666750"/>
          </a:xfrm>
          <a:custGeom>
            <a:rect b="b" l="l" r="r" t="t"/>
            <a:pathLst>
              <a:path extrusionOk="0" h="666750" w="2349500">
                <a:moveTo>
                  <a:pt x="95252" y="0"/>
                </a:moveTo>
                <a:lnTo>
                  <a:pt x="2254248" y="0"/>
                </a:lnTo>
                <a:cubicBezTo>
                  <a:pt x="2306854" y="0"/>
                  <a:pt x="2349500" y="42646"/>
                  <a:pt x="2349500" y="95252"/>
                </a:cubicBezTo>
                <a:lnTo>
                  <a:pt x="2349500" y="571498"/>
                </a:lnTo>
                <a:cubicBezTo>
                  <a:pt x="2349500" y="624104"/>
                  <a:pt x="2306854" y="666750"/>
                  <a:pt x="2254248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873125" y="4460875"/>
            <a:ext cx="127000" cy="127000"/>
          </a:xfrm>
          <a:custGeom>
            <a:rect b="b" l="l" r="r" t="t"/>
            <a:pathLst>
              <a:path extrusionOk="0" h="127000" w="127000">
                <a:moveTo>
                  <a:pt x="0" y="103188"/>
                </a:moveTo>
                <a:lnTo>
                  <a:pt x="0" y="29766"/>
                </a:lnTo>
                <a:cubicBezTo>
                  <a:pt x="0" y="26467"/>
                  <a:pt x="2654" y="23812"/>
                  <a:pt x="5953" y="23812"/>
                </a:cubicBezTo>
                <a:cubicBezTo>
                  <a:pt x="9252" y="23812"/>
                  <a:pt x="11906" y="26467"/>
                  <a:pt x="11906" y="29766"/>
                </a:cubicBezTo>
                <a:lnTo>
                  <a:pt x="11906" y="101203"/>
                </a:lnTo>
                <a:cubicBezTo>
                  <a:pt x="11906" y="104502"/>
                  <a:pt x="14560" y="107156"/>
                  <a:pt x="17859" y="107156"/>
                </a:cubicBezTo>
                <a:cubicBezTo>
                  <a:pt x="21158" y="107156"/>
                  <a:pt x="23812" y="104502"/>
                  <a:pt x="23812" y="101203"/>
                </a:cubicBezTo>
                <a:lnTo>
                  <a:pt x="23812" y="23812"/>
                </a:lnTo>
                <a:cubicBezTo>
                  <a:pt x="23812" y="15056"/>
                  <a:pt x="30931" y="7938"/>
                  <a:pt x="39688" y="7938"/>
                </a:cubicBezTo>
                <a:lnTo>
                  <a:pt x="111125" y="7938"/>
                </a:lnTo>
                <a:cubicBezTo>
                  <a:pt x="119881" y="7938"/>
                  <a:pt x="127000" y="15056"/>
                  <a:pt x="127000" y="23812"/>
                </a:cubicBezTo>
                <a:lnTo>
                  <a:pt x="127000" y="103188"/>
                </a:lnTo>
                <a:cubicBezTo>
                  <a:pt x="127000" y="111944"/>
                  <a:pt x="119881" y="119063"/>
                  <a:pt x="111125" y="119063"/>
                </a:cubicBezTo>
                <a:lnTo>
                  <a:pt x="15875" y="119063"/>
                </a:lnTo>
                <a:cubicBezTo>
                  <a:pt x="7119" y="119063"/>
                  <a:pt x="0" y="111944"/>
                  <a:pt x="0" y="103188"/>
                </a:cubicBezTo>
                <a:close/>
                <a:moveTo>
                  <a:pt x="39688" y="31750"/>
                </a:moveTo>
                <a:lnTo>
                  <a:pt x="39688" y="47625"/>
                </a:lnTo>
                <a:cubicBezTo>
                  <a:pt x="39688" y="52015"/>
                  <a:pt x="43235" y="55563"/>
                  <a:pt x="47625" y="55563"/>
                </a:cubicBezTo>
                <a:lnTo>
                  <a:pt x="63500" y="55563"/>
                </a:lnTo>
                <a:cubicBezTo>
                  <a:pt x="67890" y="55563"/>
                  <a:pt x="71438" y="52015"/>
                  <a:pt x="71438" y="47625"/>
                </a:cubicBezTo>
                <a:lnTo>
                  <a:pt x="71438" y="31750"/>
                </a:lnTo>
                <a:cubicBezTo>
                  <a:pt x="71438" y="27360"/>
                  <a:pt x="67890" y="23812"/>
                  <a:pt x="63500" y="23812"/>
                </a:cubicBezTo>
                <a:lnTo>
                  <a:pt x="47625" y="23812"/>
                </a:lnTo>
                <a:cubicBezTo>
                  <a:pt x="43235" y="23812"/>
                  <a:pt x="39688" y="27360"/>
                  <a:pt x="39688" y="31750"/>
                </a:cubicBezTo>
                <a:close/>
                <a:moveTo>
                  <a:pt x="45641" y="91281"/>
                </a:moveTo>
                <a:cubicBezTo>
                  <a:pt x="42342" y="91281"/>
                  <a:pt x="39688" y="93935"/>
                  <a:pt x="39688" y="97234"/>
                </a:cubicBezTo>
                <a:cubicBezTo>
                  <a:pt x="39688" y="100533"/>
                  <a:pt x="42342" y="103188"/>
                  <a:pt x="45641" y="103188"/>
                </a:cubicBezTo>
                <a:lnTo>
                  <a:pt x="105172" y="103188"/>
                </a:lnTo>
                <a:cubicBezTo>
                  <a:pt x="108471" y="103188"/>
                  <a:pt x="111125" y="100533"/>
                  <a:pt x="111125" y="97234"/>
                </a:cubicBezTo>
                <a:cubicBezTo>
                  <a:pt x="111125" y="93935"/>
                  <a:pt x="108471" y="91281"/>
                  <a:pt x="105172" y="91281"/>
                </a:cubicBezTo>
                <a:lnTo>
                  <a:pt x="45641" y="91281"/>
                </a:lnTo>
                <a:close/>
                <a:moveTo>
                  <a:pt x="39688" y="73422"/>
                </a:moveTo>
                <a:cubicBezTo>
                  <a:pt x="39688" y="76721"/>
                  <a:pt x="42342" y="79375"/>
                  <a:pt x="45641" y="79375"/>
                </a:cubicBezTo>
                <a:lnTo>
                  <a:pt x="105172" y="79375"/>
                </a:lnTo>
                <a:cubicBezTo>
                  <a:pt x="108471" y="79375"/>
                  <a:pt x="111125" y="76721"/>
                  <a:pt x="111125" y="73422"/>
                </a:cubicBezTo>
                <a:cubicBezTo>
                  <a:pt x="111125" y="70123"/>
                  <a:pt x="108471" y="67469"/>
                  <a:pt x="105172" y="67469"/>
                </a:cubicBezTo>
                <a:lnTo>
                  <a:pt x="45641" y="67469"/>
                </a:lnTo>
                <a:cubicBezTo>
                  <a:pt x="42342" y="67469"/>
                  <a:pt x="39688" y="70123"/>
                  <a:pt x="39688" y="73422"/>
                </a:cubicBezTo>
                <a:close/>
                <a:moveTo>
                  <a:pt x="89297" y="43656"/>
                </a:moveTo>
                <a:cubicBezTo>
                  <a:pt x="85998" y="43656"/>
                  <a:pt x="83344" y="46310"/>
                  <a:pt x="83344" y="49609"/>
                </a:cubicBezTo>
                <a:cubicBezTo>
                  <a:pt x="83344" y="52908"/>
                  <a:pt x="85998" y="55563"/>
                  <a:pt x="89297" y="55563"/>
                </a:cubicBezTo>
                <a:lnTo>
                  <a:pt x="105172" y="55563"/>
                </a:lnTo>
                <a:cubicBezTo>
                  <a:pt x="108471" y="55563"/>
                  <a:pt x="111125" y="52908"/>
                  <a:pt x="111125" y="49609"/>
                </a:cubicBezTo>
                <a:cubicBezTo>
                  <a:pt x="111125" y="46310"/>
                  <a:pt x="108471" y="43656"/>
                  <a:pt x="105172" y="43656"/>
                </a:cubicBezTo>
                <a:lnTo>
                  <a:pt x="89297" y="43656"/>
                </a:lnTo>
                <a:close/>
              </a:path>
            </a:pathLst>
          </a:custGeom>
          <a:solidFill>
            <a:srgbClr val="FF95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1079500" y="4429125"/>
            <a:ext cx="67468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GDELT 2.0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857250" y="4683125"/>
            <a:ext cx="2151063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Global news &amp; events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3206750" y="4302125"/>
            <a:ext cx="2349500" cy="666750"/>
          </a:xfrm>
          <a:custGeom>
            <a:rect b="b" l="l" r="r" t="t"/>
            <a:pathLst>
              <a:path extrusionOk="0" h="666750" w="2349500">
                <a:moveTo>
                  <a:pt x="95252" y="0"/>
                </a:moveTo>
                <a:lnTo>
                  <a:pt x="2254248" y="0"/>
                </a:lnTo>
                <a:cubicBezTo>
                  <a:pt x="2306854" y="0"/>
                  <a:pt x="2349500" y="42646"/>
                  <a:pt x="2349500" y="95252"/>
                </a:cubicBezTo>
                <a:lnTo>
                  <a:pt x="2349500" y="571498"/>
                </a:lnTo>
                <a:cubicBezTo>
                  <a:pt x="2349500" y="624104"/>
                  <a:pt x="2306854" y="666750"/>
                  <a:pt x="2254248" y="666750"/>
                </a:cubicBezTo>
                <a:lnTo>
                  <a:pt x="95252" y="666750"/>
                </a:lnTo>
                <a:cubicBezTo>
                  <a:pt x="42681" y="666750"/>
                  <a:pt x="0" y="624069"/>
                  <a:pt x="0" y="5714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3349625" y="4460875"/>
            <a:ext cx="127000" cy="127000"/>
          </a:xfrm>
          <a:custGeom>
            <a:rect b="b" l="l" r="r" t="t"/>
            <a:pathLst>
              <a:path extrusionOk="0" h="127000" w="127000">
                <a:moveTo>
                  <a:pt x="113953" y="37629"/>
                </a:moveTo>
                <a:cubicBezTo>
                  <a:pt x="114027" y="38745"/>
                  <a:pt x="114027" y="39886"/>
                  <a:pt x="114027" y="41002"/>
                </a:cubicBezTo>
                <a:cubicBezTo>
                  <a:pt x="114027" y="75406"/>
                  <a:pt x="87833" y="115069"/>
                  <a:pt x="39960" y="115069"/>
                </a:cubicBezTo>
                <a:cubicBezTo>
                  <a:pt x="25202" y="115069"/>
                  <a:pt x="11509" y="110803"/>
                  <a:pt x="0" y="103386"/>
                </a:cubicBezTo>
                <a:cubicBezTo>
                  <a:pt x="2084" y="103634"/>
                  <a:pt x="4118" y="103708"/>
                  <a:pt x="6276" y="103708"/>
                </a:cubicBezTo>
                <a:cubicBezTo>
                  <a:pt x="18455" y="103708"/>
                  <a:pt x="29642" y="99591"/>
                  <a:pt x="38596" y="92596"/>
                </a:cubicBezTo>
                <a:cubicBezTo>
                  <a:pt x="27161" y="92348"/>
                  <a:pt x="17562" y="84857"/>
                  <a:pt x="14263" y="74538"/>
                </a:cubicBezTo>
                <a:cubicBezTo>
                  <a:pt x="15875" y="74786"/>
                  <a:pt x="17487" y="74935"/>
                  <a:pt x="19174" y="74935"/>
                </a:cubicBezTo>
                <a:cubicBezTo>
                  <a:pt x="21506" y="74935"/>
                  <a:pt x="23837" y="74612"/>
                  <a:pt x="26020" y="74042"/>
                </a:cubicBezTo>
                <a:cubicBezTo>
                  <a:pt x="14089" y="71636"/>
                  <a:pt x="5159" y="61144"/>
                  <a:pt x="5159" y="48493"/>
                </a:cubicBezTo>
                <a:lnTo>
                  <a:pt x="5159" y="48171"/>
                </a:lnTo>
                <a:cubicBezTo>
                  <a:pt x="8632" y="50105"/>
                  <a:pt x="12650" y="51321"/>
                  <a:pt x="16917" y="51470"/>
                </a:cubicBezTo>
                <a:cubicBezTo>
                  <a:pt x="9897" y="46806"/>
                  <a:pt x="5308" y="38819"/>
                  <a:pt x="5308" y="29790"/>
                </a:cubicBezTo>
                <a:cubicBezTo>
                  <a:pt x="5308" y="24954"/>
                  <a:pt x="6598" y="20513"/>
                  <a:pt x="8855" y="16644"/>
                </a:cubicBezTo>
                <a:cubicBezTo>
                  <a:pt x="21679" y="32445"/>
                  <a:pt x="40928" y="42763"/>
                  <a:pt x="62533" y="43879"/>
                </a:cubicBezTo>
                <a:cubicBezTo>
                  <a:pt x="62136" y="41945"/>
                  <a:pt x="61888" y="39936"/>
                  <a:pt x="61888" y="37926"/>
                </a:cubicBezTo>
                <a:cubicBezTo>
                  <a:pt x="61888" y="23589"/>
                  <a:pt x="73496" y="11906"/>
                  <a:pt x="87908" y="11906"/>
                </a:cubicBezTo>
                <a:cubicBezTo>
                  <a:pt x="95399" y="11906"/>
                  <a:pt x="102171" y="15056"/>
                  <a:pt x="106933" y="20117"/>
                </a:cubicBezTo>
                <a:cubicBezTo>
                  <a:pt x="112812" y="19000"/>
                  <a:pt x="118467" y="16818"/>
                  <a:pt x="123453" y="13841"/>
                </a:cubicBezTo>
                <a:cubicBezTo>
                  <a:pt x="121518" y="19893"/>
                  <a:pt x="117401" y="24954"/>
                  <a:pt x="112018" y="28178"/>
                </a:cubicBezTo>
                <a:cubicBezTo>
                  <a:pt x="117252" y="27608"/>
                  <a:pt x="122337" y="26169"/>
                  <a:pt x="127000" y="24160"/>
                </a:cubicBezTo>
                <a:cubicBezTo>
                  <a:pt x="123453" y="29319"/>
                  <a:pt x="119013" y="33908"/>
                  <a:pt x="113953" y="37629"/>
                </a:cubicBezTo>
                <a:close/>
              </a:path>
            </a:pathLst>
          </a:custGeom>
          <a:solidFill>
            <a:srgbClr val="007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3556000" y="4429125"/>
            <a:ext cx="849313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Twitter API v2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3333750" y="4683125"/>
            <a:ext cx="2151063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Social network data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6223000" y="1365250"/>
            <a:ext cx="5651500" cy="1238250"/>
          </a:xfrm>
          <a:custGeom>
            <a:rect b="b" l="l" r="r" t="t"/>
            <a:pathLst>
              <a:path extrusionOk="0" h="1238250" w="5651500">
                <a:moveTo>
                  <a:pt x="190505" y="0"/>
                </a:moveTo>
                <a:lnTo>
                  <a:pt x="5460995" y="0"/>
                </a:lnTo>
                <a:cubicBezTo>
                  <a:pt x="5566208" y="0"/>
                  <a:pt x="5651500" y="85292"/>
                  <a:pt x="5651500" y="190505"/>
                </a:cubicBezTo>
                <a:lnTo>
                  <a:pt x="5651500" y="1047745"/>
                </a:lnTo>
                <a:cubicBezTo>
                  <a:pt x="5651500" y="1152958"/>
                  <a:pt x="5566208" y="1238250"/>
                  <a:pt x="5460995" y="1238250"/>
                </a:cubicBezTo>
                <a:lnTo>
                  <a:pt x="190505" y="1238250"/>
                </a:lnTo>
                <a:cubicBezTo>
                  <a:pt x="85292" y="1238250"/>
                  <a:pt x="0" y="1152958"/>
                  <a:pt x="0" y="1047745"/>
                </a:cubicBezTo>
                <a:lnTo>
                  <a:pt x="0" y="190505"/>
                </a:lnTo>
                <a:cubicBezTo>
                  <a:pt x="0" y="85362"/>
                  <a:pt x="85362" y="0"/>
                  <a:pt x="19050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6413500" y="1555750"/>
            <a:ext cx="317500" cy="317500"/>
          </a:xfrm>
          <a:custGeom>
            <a:rect b="b" l="l" r="r" t="t"/>
            <a:pathLst>
              <a:path extrusionOk="0" h="317500" w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07AFF">
              <a:alpha val="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6484938" y="1643063"/>
            <a:ext cx="178594" cy="142875"/>
          </a:xfrm>
          <a:custGeom>
            <a:rect b="b" l="l" r="r" t="t"/>
            <a:pathLst>
              <a:path extrusionOk="0" h="142875" w="178594">
                <a:moveTo>
                  <a:pt x="116058" y="58741"/>
                </a:moveTo>
                <a:cubicBezTo>
                  <a:pt x="119462" y="57820"/>
                  <a:pt x="123034" y="59438"/>
                  <a:pt x="124569" y="62592"/>
                </a:cubicBezTo>
                <a:lnTo>
                  <a:pt x="129760" y="73084"/>
                </a:lnTo>
                <a:cubicBezTo>
                  <a:pt x="132634" y="73475"/>
                  <a:pt x="135452" y="74256"/>
                  <a:pt x="138103" y="75344"/>
                </a:cubicBezTo>
                <a:lnTo>
                  <a:pt x="147870" y="68842"/>
                </a:lnTo>
                <a:cubicBezTo>
                  <a:pt x="150800" y="66889"/>
                  <a:pt x="154679" y="67280"/>
                  <a:pt x="157162" y="69763"/>
                </a:cubicBezTo>
                <a:lnTo>
                  <a:pt x="162520" y="75121"/>
                </a:lnTo>
                <a:cubicBezTo>
                  <a:pt x="165004" y="77605"/>
                  <a:pt x="165395" y="81511"/>
                  <a:pt x="163441" y="84413"/>
                </a:cubicBezTo>
                <a:lnTo>
                  <a:pt x="156939" y="94152"/>
                </a:lnTo>
                <a:cubicBezTo>
                  <a:pt x="157469" y="95464"/>
                  <a:pt x="157944" y="96831"/>
                  <a:pt x="158335" y="98254"/>
                </a:cubicBezTo>
                <a:cubicBezTo>
                  <a:pt x="158725" y="99678"/>
                  <a:pt x="158976" y="101073"/>
                  <a:pt x="159172" y="102496"/>
                </a:cubicBezTo>
                <a:lnTo>
                  <a:pt x="169692" y="107686"/>
                </a:lnTo>
                <a:cubicBezTo>
                  <a:pt x="172845" y="109249"/>
                  <a:pt x="174464" y="112821"/>
                  <a:pt x="173543" y="116198"/>
                </a:cubicBezTo>
                <a:lnTo>
                  <a:pt x="171590" y="123509"/>
                </a:lnTo>
                <a:cubicBezTo>
                  <a:pt x="170669" y="126885"/>
                  <a:pt x="167515" y="129174"/>
                  <a:pt x="163999" y="128950"/>
                </a:cubicBezTo>
                <a:lnTo>
                  <a:pt x="152279" y="128197"/>
                </a:lnTo>
                <a:cubicBezTo>
                  <a:pt x="150521" y="130457"/>
                  <a:pt x="148484" y="132550"/>
                  <a:pt x="146168" y="134336"/>
                </a:cubicBezTo>
                <a:lnTo>
                  <a:pt x="146921" y="146028"/>
                </a:lnTo>
                <a:cubicBezTo>
                  <a:pt x="147145" y="149544"/>
                  <a:pt x="144856" y="152726"/>
                  <a:pt x="141480" y="153619"/>
                </a:cubicBezTo>
                <a:lnTo>
                  <a:pt x="134169" y="155572"/>
                </a:lnTo>
                <a:cubicBezTo>
                  <a:pt x="130764" y="156493"/>
                  <a:pt x="127220" y="154874"/>
                  <a:pt x="125657" y="151721"/>
                </a:cubicBezTo>
                <a:lnTo>
                  <a:pt x="120467" y="141229"/>
                </a:lnTo>
                <a:cubicBezTo>
                  <a:pt x="117593" y="140838"/>
                  <a:pt x="114774" y="140057"/>
                  <a:pt x="112123" y="138968"/>
                </a:cubicBezTo>
                <a:lnTo>
                  <a:pt x="102357" y="145470"/>
                </a:lnTo>
                <a:cubicBezTo>
                  <a:pt x="99426" y="147424"/>
                  <a:pt x="95548" y="147033"/>
                  <a:pt x="93064" y="144549"/>
                </a:cubicBezTo>
                <a:lnTo>
                  <a:pt x="87706" y="139192"/>
                </a:lnTo>
                <a:cubicBezTo>
                  <a:pt x="85223" y="136708"/>
                  <a:pt x="84832" y="132829"/>
                  <a:pt x="86785" y="129899"/>
                </a:cubicBezTo>
                <a:lnTo>
                  <a:pt x="93287" y="120132"/>
                </a:lnTo>
                <a:cubicBezTo>
                  <a:pt x="92757" y="118821"/>
                  <a:pt x="92283" y="117453"/>
                  <a:pt x="91892" y="116030"/>
                </a:cubicBezTo>
                <a:cubicBezTo>
                  <a:pt x="91501" y="114607"/>
                  <a:pt x="91250" y="113184"/>
                  <a:pt x="91055" y="111789"/>
                </a:cubicBezTo>
                <a:lnTo>
                  <a:pt x="80535" y="106598"/>
                </a:lnTo>
                <a:cubicBezTo>
                  <a:pt x="77381" y="105035"/>
                  <a:pt x="75791" y="101464"/>
                  <a:pt x="76684" y="98087"/>
                </a:cubicBezTo>
                <a:lnTo>
                  <a:pt x="78637" y="90776"/>
                </a:lnTo>
                <a:cubicBezTo>
                  <a:pt x="79558" y="87399"/>
                  <a:pt x="82711" y="85111"/>
                  <a:pt x="86227" y="85334"/>
                </a:cubicBezTo>
                <a:lnTo>
                  <a:pt x="97920" y="86088"/>
                </a:lnTo>
                <a:cubicBezTo>
                  <a:pt x="99678" y="83827"/>
                  <a:pt x="101715" y="81735"/>
                  <a:pt x="104031" y="79949"/>
                </a:cubicBezTo>
                <a:lnTo>
                  <a:pt x="103277" y="68284"/>
                </a:lnTo>
                <a:cubicBezTo>
                  <a:pt x="103054" y="64768"/>
                  <a:pt x="105342" y="61587"/>
                  <a:pt x="108719" y="60694"/>
                </a:cubicBezTo>
                <a:lnTo>
                  <a:pt x="116030" y="58741"/>
                </a:lnTo>
                <a:close/>
                <a:moveTo>
                  <a:pt x="125127" y="94878"/>
                </a:moveTo>
                <a:cubicBezTo>
                  <a:pt x="118351" y="94886"/>
                  <a:pt x="112855" y="100394"/>
                  <a:pt x="112863" y="107170"/>
                </a:cubicBezTo>
                <a:cubicBezTo>
                  <a:pt x="112871" y="113947"/>
                  <a:pt x="118379" y="119442"/>
                  <a:pt x="125155" y="119435"/>
                </a:cubicBezTo>
                <a:cubicBezTo>
                  <a:pt x="131932" y="119427"/>
                  <a:pt x="137427" y="113919"/>
                  <a:pt x="137420" y="107142"/>
                </a:cubicBezTo>
                <a:cubicBezTo>
                  <a:pt x="137412" y="100366"/>
                  <a:pt x="131904" y="94870"/>
                  <a:pt x="125127" y="94878"/>
                </a:cubicBezTo>
                <a:close/>
                <a:moveTo>
                  <a:pt x="62759" y="-12697"/>
                </a:moveTo>
                <a:lnTo>
                  <a:pt x="70070" y="-10744"/>
                </a:lnTo>
                <a:cubicBezTo>
                  <a:pt x="73447" y="-9823"/>
                  <a:pt x="75735" y="-6641"/>
                  <a:pt x="75512" y="-3153"/>
                </a:cubicBezTo>
                <a:lnTo>
                  <a:pt x="74758" y="8511"/>
                </a:lnTo>
                <a:cubicBezTo>
                  <a:pt x="77074" y="10297"/>
                  <a:pt x="79111" y="12362"/>
                  <a:pt x="80869" y="14650"/>
                </a:cubicBezTo>
                <a:lnTo>
                  <a:pt x="92590" y="13897"/>
                </a:lnTo>
                <a:cubicBezTo>
                  <a:pt x="96078" y="13674"/>
                  <a:pt x="99259" y="15962"/>
                  <a:pt x="100180" y="19338"/>
                </a:cubicBezTo>
                <a:lnTo>
                  <a:pt x="102133" y="26650"/>
                </a:lnTo>
                <a:cubicBezTo>
                  <a:pt x="103026" y="30026"/>
                  <a:pt x="101436" y="33598"/>
                  <a:pt x="98282" y="35161"/>
                </a:cubicBezTo>
                <a:lnTo>
                  <a:pt x="87762" y="40351"/>
                </a:lnTo>
                <a:cubicBezTo>
                  <a:pt x="87567" y="41774"/>
                  <a:pt x="87288" y="43197"/>
                  <a:pt x="86925" y="44593"/>
                </a:cubicBezTo>
                <a:cubicBezTo>
                  <a:pt x="86562" y="45988"/>
                  <a:pt x="86060" y="47383"/>
                  <a:pt x="85530" y="48695"/>
                </a:cubicBezTo>
                <a:lnTo>
                  <a:pt x="92032" y="58462"/>
                </a:lnTo>
                <a:cubicBezTo>
                  <a:pt x="93985" y="61392"/>
                  <a:pt x="93594" y="65270"/>
                  <a:pt x="91111" y="67754"/>
                </a:cubicBezTo>
                <a:lnTo>
                  <a:pt x="85753" y="73112"/>
                </a:lnTo>
                <a:cubicBezTo>
                  <a:pt x="83269" y="75595"/>
                  <a:pt x="79391" y="75986"/>
                  <a:pt x="76460" y="74033"/>
                </a:cubicBezTo>
                <a:lnTo>
                  <a:pt x="66694" y="67531"/>
                </a:lnTo>
                <a:cubicBezTo>
                  <a:pt x="64043" y="68619"/>
                  <a:pt x="61224" y="69400"/>
                  <a:pt x="58350" y="69791"/>
                </a:cubicBezTo>
                <a:lnTo>
                  <a:pt x="53160" y="80283"/>
                </a:lnTo>
                <a:cubicBezTo>
                  <a:pt x="51597" y="83437"/>
                  <a:pt x="48025" y="85027"/>
                  <a:pt x="44648" y="84134"/>
                </a:cubicBezTo>
                <a:lnTo>
                  <a:pt x="37337" y="82181"/>
                </a:lnTo>
                <a:cubicBezTo>
                  <a:pt x="33933" y="81260"/>
                  <a:pt x="31672" y="78079"/>
                  <a:pt x="31896" y="74591"/>
                </a:cubicBezTo>
                <a:lnTo>
                  <a:pt x="32649" y="62898"/>
                </a:lnTo>
                <a:cubicBezTo>
                  <a:pt x="30333" y="61113"/>
                  <a:pt x="28296" y="59048"/>
                  <a:pt x="26538" y="56759"/>
                </a:cubicBezTo>
                <a:lnTo>
                  <a:pt x="14818" y="57513"/>
                </a:lnTo>
                <a:cubicBezTo>
                  <a:pt x="11330" y="57736"/>
                  <a:pt x="8148" y="55448"/>
                  <a:pt x="7227" y="52071"/>
                </a:cubicBezTo>
                <a:lnTo>
                  <a:pt x="5274" y="44760"/>
                </a:lnTo>
                <a:cubicBezTo>
                  <a:pt x="4381" y="41384"/>
                  <a:pt x="5972" y="37812"/>
                  <a:pt x="9125" y="36249"/>
                </a:cubicBezTo>
                <a:lnTo>
                  <a:pt x="19645" y="31059"/>
                </a:lnTo>
                <a:cubicBezTo>
                  <a:pt x="19841" y="29635"/>
                  <a:pt x="20120" y="28240"/>
                  <a:pt x="20482" y="26817"/>
                </a:cubicBezTo>
                <a:cubicBezTo>
                  <a:pt x="20873" y="25394"/>
                  <a:pt x="21320" y="24026"/>
                  <a:pt x="21878" y="22715"/>
                </a:cubicBezTo>
                <a:lnTo>
                  <a:pt x="15376" y="12976"/>
                </a:lnTo>
                <a:cubicBezTo>
                  <a:pt x="13422" y="10046"/>
                  <a:pt x="13813" y="6167"/>
                  <a:pt x="16297" y="3683"/>
                </a:cubicBezTo>
                <a:lnTo>
                  <a:pt x="21654" y="-1674"/>
                </a:lnTo>
                <a:cubicBezTo>
                  <a:pt x="24138" y="-4158"/>
                  <a:pt x="28017" y="-4549"/>
                  <a:pt x="30947" y="-2595"/>
                </a:cubicBezTo>
                <a:lnTo>
                  <a:pt x="40714" y="3907"/>
                </a:lnTo>
                <a:cubicBezTo>
                  <a:pt x="43365" y="2818"/>
                  <a:pt x="46183" y="2037"/>
                  <a:pt x="49057" y="1646"/>
                </a:cubicBezTo>
                <a:lnTo>
                  <a:pt x="54248" y="-8846"/>
                </a:lnTo>
                <a:cubicBezTo>
                  <a:pt x="55811" y="-11999"/>
                  <a:pt x="59355" y="-13590"/>
                  <a:pt x="62759" y="-12697"/>
                </a:cubicBezTo>
                <a:close/>
                <a:moveTo>
                  <a:pt x="53690" y="23440"/>
                </a:moveTo>
                <a:cubicBezTo>
                  <a:pt x="46913" y="23440"/>
                  <a:pt x="41411" y="28942"/>
                  <a:pt x="41411" y="35719"/>
                </a:cubicBezTo>
                <a:cubicBezTo>
                  <a:pt x="41411" y="42495"/>
                  <a:pt x="46913" y="47997"/>
                  <a:pt x="53690" y="47997"/>
                </a:cubicBezTo>
                <a:cubicBezTo>
                  <a:pt x="60466" y="47997"/>
                  <a:pt x="65968" y="42495"/>
                  <a:pt x="65968" y="35719"/>
                </a:cubicBezTo>
                <a:cubicBezTo>
                  <a:pt x="65968" y="28942"/>
                  <a:pt x="60466" y="23440"/>
                  <a:pt x="53690" y="23440"/>
                </a:cubicBezTo>
                <a:close/>
              </a:path>
            </a:pathLst>
          </a:custGeom>
          <a:solidFill>
            <a:srgbClr val="007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6826250" y="1603375"/>
            <a:ext cx="1500188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Standardized Interface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6413500" y="2000250"/>
            <a:ext cx="5334000" cy="412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All data sources expose consistent query interfaces enabling agents to interact with SEC filings, social media APIs, and court records using unified commands and response formats.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6223000" y="2655550"/>
            <a:ext cx="5651500" cy="1318220"/>
          </a:xfrm>
          <a:custGeom>
            <a:rect b="b" l="l" r="r" t="t"/>
            <a:pathLst>
              <a:path extrusionOk="0" h="1444625" w="5651500">
                <a:moveTo>
                  <a:pt x="190503" y="0"/>
                </a:moveTo>
                <a:lnTo>
                  <a:pt x="5460997" y="0"/>
                </a:lnTo>
                <a:cubicBezTo>
                  <a:pt x="5566209" y="0"/>
                  <a:pt x="5651500" y="85291"/>
                  <a:pt x="5651500" y="190503"/>
                </a:cubicBezTo>
                <a:lnTo>
                  <a:pt x="5651500" y="1254122"/>
                </a:lnTo>
                <a:cubicBezTo>
                  <a:pt x="5651500" y="1359334"/>
                  <a:pt x="5566209" y="1444625"/>
                  <a:pt x="5460997" y="1444625"/>
                </a:cubicBezTo>
                <a:lnTo>
                  <a:pt x="190503" y="1444625"/>
                </a:lnTo>
                <a:cubicBezTo>
                  <a:pt x="85291" y="1444625"/>
                  <a:pt x="0" y="1359334"/>
                  <a:pt x="0" y="1254122"/>
                </a:cubicBezTo>
                <a:lnTo>
                  <a:pt x="0" y="190503"/>
                </a:lnTo>
                <a:cubicBezTo>
                  <a:pt x="0" y="85361"/>
                  <a:pt x="85361" y="0"/>
                  <a:pt x="19050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6413500" y="2952750"/>
            <a:ext cx="317500" cy="317500"/>
          </a:xfrm>
          <a:custGeom>
            <a:rect b="b" l="l" r="r" t="t"/>
            <a:pathLst>
              <a:path extrusionOk="0" h="317500" w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4C759">
              <a:alpha val="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6511727" y="3040063"/>
            <a:ext cx="125016" cy="142875"/>
          </a:xfrm>
          <a:custGeom>
            <a:rect b="b" l="l" r="r" t="t"/>
            <a:pathLst>
              <a:path extrusionOk="0" h="142875" w="125016">
                <a:moveTo>
                  <a:pt x="94543" y="-2763"/>
                </a:moveTo>
                <a:cubicBezTo>
                  <a:pt x="97864" y="-363"/>
                  <a:pt x="99092" y="3990"/>
                  <a:pt x="97585" y="7786"/>
                </a:cubicBezTo>
                <a:lnTo>
                  <a:pt x="75707" y="62508"/>
                </a:lnTo>
                <a:lnTo>
                  <a:pt x="116086" y="62508"/>
                </a:lnTo>
                <a:cubicBezTo>
                  <a:pt x="119853" y="62508"/>
                  <a:pt x="123202" y="64852"/>
                  <a:pt x="124485" y="68396"/>
                </a:cubicBezTo>
                <a:cubicBezTo>
                  <a:pt x="125769" y="71940"/>
                  <a:pt x="124681" y="75902"/>
                  <a:pt x="121807" y="78302"/>
                </a:cubicBezTo>
                <a:lnTo>
                  <a:pt x="41439" y="145275"/>
                </a:lnTo>
                <a:cubicBezTo>
                  <a:pt x="38286" y="147898"/>
                  <a:pt x="33793" y="148037"/>
                  <a:pt x="30473" y="145638"/>
                </a:cubicBezTo>
                <a:cubicBezTo>
                  <a:pt x="27152" y="143238"/>
                  <a:pt x="25924" y="138885"/>
                  <a:pt x="27431" y="135089"/>
                </a:cubicBezTo>
                <a:lnTo>
                  <a:pt x="49309" y="80367"/>
                </a:lnTo>
                <a:lnTo>
                  <a:pt x="8930" y="80367"/>
                </a:lnTo>
                <a:cubicBezTo>
                  <a:pt x="5162" y="80367"/>
                  <a:pt x="1814" y="78023"/>
                  <a:pt x="530" y="74479"/>
                </a:cubicBezTo>
                <a:cubicBezTo>
                  <a:pt x="-753" y="70935"/>
                  <a:pt x="335" y="66973"/>
                  <a:pt x="3209" y="64573"/>
                </a:cubicBezTo>
                <a:lnTo>
                  <a:pt x="83576" y="-2400"/>
                </a:lnTo>
                <a:cubicBezTo>
                  <a:pt x="86730" y="-5023"/>
                  <a:pt x="91222" y="-5162"/>
                  <a:pt x="94543" y="-2763"/>
                </a:cubicBezTo>
                <a:close/>
              </a:path>
            </a:pathLst>
          </a:custGeom>
          <a:solidFill>
            <a:srgbClr val="34C75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6826250" y="3000375"/>
            <a:ext cx="1920875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Rapid Connector Deployment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6413500" y="3397250"/>
            <a:ext cx="5334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New data sources can be integrated by developing MCP compliant connectors—reducing integration time from weeks to days and enabling continuous expansion of intelligence coverage.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6207125" y="4143375"/>
            <a:ext cx="5651500" cy="1108234"/>
          </a:xfrm>
          <a:custGeom>
            <a:rect b="b" l="l" r="r" t="t"/>
            <a:pathLst>
              <a:path extrusionOk="0" h="1238250" w="5651500">
                <a:moveTo>
                  <a:pt x="190505" y="0"/>
                </a:moveTo>
                <a:lnTo>
                  <a:pt x="5460995" y="0"/>
                </a:lnTo>
                <a:cubicBezTo>
                  <a:pt x="5566208" y="0"/>
                  <a:pt x="5651500" y="85292"/>
                  <a:pt x="5651500" y="190505"/>
                </a:cubicBezTo>
                <a:lnTo>
                  <a:pt x="5651500" y="1047745"/>
                </a:lnTo>
                <a:cubicBezTo>
                  <a:pt x="5651500" y="1152958"/>
                  <a:pt x="5566208" y="1238250"/>
                  <a:pt x="5460995" y="1238250"/>
                </a:cubicBezTo>
                <a:lnTo>
                  <a:pt x="190505" y="1238250"/>
                </a:lnTo>
                <a:cubicBezTo>
                  <a:pt x="85292" y="1238250"/>
                  <a:pt x="0" y="1152958"/>
                  <a:pt x="0" y="1047745"/>
                </a:cubicBezTo>
                <a:lnTo>
                  <a:pt x="0" y="190505"/>
                </a:lnTo>
                <a:cubicBezTo>
                  <a:pt x="0" y="85362"/>
                  <a:pt x="85362" y="0"/>
                  <a:pt x="19050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6389770" y="4318824"/>
            <a:ext cx="317500" cy="317500"/>
          </a:xfrm>
          <a:custGeom>
            <a:rect b="b" l="l" r="r" t="t"/>
            <a:pathLst>
              <a:path extrusionOk="0" h="317500" w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5856D6">
              <a:alpha val="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6485061" y="4406137"/>
            <a:ext cx="107156" cy="142875"/>
          </a:xfrm>
          <a:custGeom>
            <a:rect b="b" l="l" r="r" t="t"/>
            <a:pathLst>
              <a:path extrusionOk="0" h="142875" w="107156">
                <a:moveTo>
                  <a:pt x="35719" y="26789"/>
                </a:moveTo>
                <a:lnTo>
                  <a:pt x="35719" y="44648"/>
                </a:lnTo>
                <a:lnTo>
                  <a:pt x="71438" y="44648"/>
                </a:lnTo>
                <a:lnTo>
                  <a:pt x="71438" y="26789"/>
                </a:lnTo>
                <a:cubicBezTo>
                  <a:pt x="71438" y="16939"/>
                  <a:pt x="63429" y="8930"/>
                  <a:pt x="53578" y="8930"/>
                </a:cubicBezTo>
                <a:cubicBezTo>
                  <a:pt x="43728" y="8930"/>
                  <a:pt x="35719" y="16939"/>
                  <a:pt x="35719" y="26789"/>
                </a:cubicBezTo>
                <a:close/>
                <a:moveTo>
                  <a:pt x="17859" y="44648"/>
                </a:moveTo>
                <a:lnTo>
                  <a:pt x="17859" y="26789"/>
                </a:lnTo>
                <a:cubicBezTo>
                  <a:pt x="17859" y="7060"/>
                  <a:pt x="33849" y="-8930"/>
                  <a:pt x="53578" y="-8930"/>
                </a:cubicBezTo>
                <a:cubicBezTo>
                  <a:pt x="73307" y="-8930"/>
                  <a:pt x="89297" y="7060"/>
                  <a:pt x="89297" y="26789"/>
                </a:cubicBezTo>
                <a:lnTo>
                  <a:pt x="89297" y="44648"/>
                </a:lnTo>
                <a:cubicBezTo>
                  <a:pt x="99147" y="44648"/>
                  <a:pt x="107156" y="52657"/>
                  <a:pt x="107156" y="62508"/>
                </a:cubicBezTo>
                <a:lnTo>
                  <a:pt x="107156" y="125016"/>
                </a:lnTo>
                <a:cubicBezTo>
                  <a:pt x="107156" y="134866"/>
                  <a:pt x="99147" y="142875"/>
                  <a:pt x="89297" y="142875"/>
                </a:cubicBezTo>
                <a:lnTo>
                  <a:pt x="17859" y="142875"/>
                </a:lnTo>
                <a:cubicBezTo>
                  <a:pt x="8009" y="142875"/>
                  <a:pt x="0" y="134866"/>
                  <a:pt x="0" y="125016"/>
                </a:cubicBezTo>
                <a:lnTo>
                  <a:pt x="0" y="62508"/>
                </a:lnTo>
                <a:cubicBezTo>
                  <a:pt x="0" y="52657"/>
                  <a:pt x="8009" y="44648"/>
                  <a:pt x="17859" y="44648"/>
                </a:cubicBezTo>
                <a:close/>
              </a:path>
            </a:pathLst>
          </a:custGeom>
          <a:solidFill>
            <a:srgbClr val="5856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6731000" y="4381500"/>
            <a:ext cx="14685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Secure Authentication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6413500" y="4757050"/>
            <a:ext cx="53340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Built-in credential management and API key rotation ensure secure, compliant access to paid and restricted data sources without exposing sensitive authentication details.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6223000" y="5382943"/>
            <a:ext cx="5651500" cy="1317625"/>
          </a:xfrm>
          <a:custGeom>
            <a:rect b="b" l="l" r="r" t="t"/>
            <a:pathLst>
              <a:path extrusionOk="0" h="1317625" w="5651500">
                <a:moveTo>
                  <a:pt x="190502" y="0"/>
                </a:moveTo>
                <a:lnTo>
                  <a:pt x="5460998" y="0"/>
                </a:lnTo>
                <a:cubicBezTo>
                  <a:pt x="5566209" y="0"/>
                  <a:pt x="5651500" y="85291"/>
                  <a:pt x="5651500" y="190502"/>
                </a:cubicBezTo>
                <a:lnTo>
                  <a:pt x="5651500" y="1127123"/>
                </a:lnTo>
                <a:cubicBezTo>
                  <a:pt x="5651500" y="1232334"/>
                  <a:pt x="5566209" y="1317625"/>
                  <a:pt x="5460998" y="1317625"/>
                </a:cubicBezTo>
                <a:lnTo>
                  <a:pt x="190502" y="1317625"/>
                </a:lnTo>
                <a:cubicBezTo>
                  <a:pt x="85361" y="1317625"/>
                  <a:pt x="0" y="1232264"/>
                  <a:pt x="0" y="1127123"/>
                </a:cubicBezTo>
                <a:lnTo>
                  <a:pt x="0" y="190502"/>
                </a:lnTo>
                <a:cubicBezTo>
                  <a:pt x="0" y="85361"/>
                  <a:pt x="85361" y="0"/>
                  <a:pt x="190502" y="0"/>
                </a:cubicBezTo>
                <a:close/>
              </a:path>
            </a:pathLst>
          </a:custGeom>
          <a:gradFill>
            <a:gsLst>
              <a:gs pos="0">
                <a:srgbClr val="007AFF"/>
              </a:gs>
              <a:gs pos="100000">
                <a:srgbClr val="5856D6"/>
              </a:gs>
            </a:gsLst>
            <a:lin ang="2700000" scaled="0"/>
          </a:gra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6443266" y="5605193"/>
            <a:ext cx="138906" cy="158750"/>
          </a:xfrm>
          <a:custGeom>
            <a:rect b="b" l="l" r="r" t="t"/>
            <a:pathLst>
              <a:path extrusionOk="0" h="158750" w="138906">
                <a:moveTo>
                  <a:pt x="138906" y="63810"/>
                </a:moveTo>
                <a:cubicBezTo>
                  <a:pt x="134317" y="66849"/>
                  <a:pt x="129046" y="69298"/>
                  <a:pt x="123558" y="71251"/>
                </a:cubicBezTo>
                <a:cubicBezTo>
                  <a:pt x="108986" y="76460"/>
                  <a:pt x="89855" y="79375"/>
                  <a:pt x="69453" y="79375"/>
                </a:cubicBezTo>
                <a:cubicBezTo>
                  <a:pt x="49051" y="79375"/>
                  <a:pt x="29890" y="76429"/>
                  <a:pt x="15348" y="71251"/>
                </a:cubicBezTo>
                <a:cubicBezTo>
                  <a:pt x="9891" y="69298"/>
                  <a:pt x="4589" y="66849"/>
                  <a:pt x="0" y="63810"/>
                </a:cubicBezTo>
                <a:lnTo>
                  <a:pt x="0" y="89297"/>
                </a:lnTo>
                <a:cubicBezTo>
                  <a:pt x="0" y="103001"/>
                  <a:pt x="31099" y="114102"/>
                  <a:pt x="69453" y="114102"/>
                </a:cubicBezTo>
                <a:cubicBezTo>
                  <a:pt x="107807" y="114102"/>
                  <a:pt x="138906" y="103001"/>
                  <a:pt x="138906" y="89297"/>
                </a:cubicBezTo>
                <a:lnTo>
                  <a:pt x="138906" y="63810"/>
                </a:lnTo>
                <a:close/>
                <a:moveTo>
                  <a:pt x="138906" y="39688"/>
                </a:moveTo>
                <a:lnTo>
                  <a:pt x="138906" y="24805"/>
                </a:lnTo>
                <a:cubicBezTo>
                  <a:pt x="138906" y="11100"/>
                  <a:pt x="107807" y="0"/>
                  <a:pt x="69453" y="0"/>
                </a:cubicBezTo>
                <a:cubicBezTo>
                  <a:pt x="31099" y="0"/>
                  <a:pt x="0" y="11100"/>
                  <a:pt x="0" y="24805"/>
                </a:cubicBezTo>
                <a:lnTo>
                  <a:pt x="0" y="39688"/>
                </a:lnTo>
                <a:cubicBezTo>
                  <a:pt x="0" y="53392"/>
                  <a:pt x="31099" y="64492"/>
                  <a:pt x="69453" y="64492"/>
                </a:cubicBezTo>
                <a:cubicBezTo>
                  <a:pt x="107807" y="64492"/>
                  <a:pt x="138906" y="53392"/>
                  <a:pt x="138906" y="39688"/>
                </a:cubicBezTo>
                <a:close/>
                <a:moveTo>
                  <a:pt x="123558" y="120861"/>
                </a:moveTo>
                <a:cubicBezTo>
                  <a:pt x="109017" y="126039"/>
                  <a:pt x="89886" y="128984"/>
                  <a:pt x="69453" y="128984"/>
                </a:cubicBezTo>
                <a:cubicBezTo>
                  <a:pt x="49020" y="128984"/>
                  <a:pt x="29890" y="126039"/>
                  <a:pt x="15348" y="120861"/>
                </a:cubicBezTo>
                <a:cubicBezTo>
                  <a:pt x="9891" y="118907"/>
                  <a:pt x="4589" y="116458"/>
                  <a:pt x="0" y="113419"/>
                </a:cubicBezTo>
                <a:lnTo>
                  <a:pt x="0" y="133945"/>
                </a:lnTo>
                <a:cubicBezTo>
                  <a:pt x="0" y="147650"/>
                  <a:pt x="31099" y="158750"/>
                  <a:pt x="69453" y="158750"/>
                </a:cubicBezTo>
                <a:cubicBezTo>
                  <a:pt x="107807" y="158750"/>
                  <a:pt x="138906" y="147650"/>
                  <a:pt x="138906" y="133945"/>
                </a:cubicBezTo>
                <a:lnTo>
                  <a:pt x="138906" y="113419"/>
                </a:lnTo>
                <a:cubicBezTo>
                  <a:pt x="134317" y="116458"/>
                  <a:pt x="129046" y="118907"/>
                  <a:pt x="123558" y="12086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6707188" y="5573443"/>
            <a:ext cx="13335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Public Data Sources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6413500" y="5890943"/>
            <a:ext cx="5334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Leverages freely available datasets including SEC EDGAR API, OpenCorporates (theoretical 120M+ companies), GDELT 2.0 (theoretical 2.5TB news/events), and ICIJ Offshore Leaks Database.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75">
                <a:solidFill>
                  <a:srgbClr val="007AFF"/>
                </a:solidFill>
                <a:latin typeface="Liter"/>
                <a:ea typeface="Liter"/>
                <a:cs typeface="Liter"/>
                <a:sym typeface="Liter"/>
              </a:rPr>
              <a:t>Quality Assurance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Self-Correction &amp; Reflexion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317500" y="952500"/>
            <a:ext cx="11628438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Autonomous quality assurance through iterative refinement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317500" y="1365250"/>
            <a:ext cx="6858000" cy="5175250"/>
          </a:xfrm>
          <a:custGeom>
            <a:rect b="b" l="l" r="r" t="t"/>
            <a:pathLst>
              <a:path extrusionOk="0" h="5175250" w="6858000">
                <a:moveTo>
                  <a:pt x="190501" y="0"/>
                </a:moveTo>
                <a:lnTo>
                  <a:pt x="6667499" y="0"/>
                </a:lnTo>
                <a:cubicBezTo>
                  <a:pt x="6772710" y="0"/>
                  <a:pt x="6858000" y="85290"/>
                  <a:pt x="6858000" y="190501"/>
                </a:cubicBezTo>
                <a:lnTo>
                  <a:pt x="6858000" y="4984749"/>
                </a:lnTo>
                <a:cubicBezTo>
                  <a:pt x="6858000" y="5089960"/>
                  <a:pt x="6772710" y="5175250"/>
                  <a:pt x="6667499" y="5175250"/>
                </a:cubicBezTo>
                <a:lnTo>
                  <a:pt x="190501" y="5175250"/>
                </a:lnTo>
                <a:cubicBezTo>
                  <a:pt x="85290" y="5175250"/>
                  <a:pt x="0" y="5089960"/>
                  <a:pt x="0" y="4984749"/>
                </a:cubicBezTo>
                <a:lnTo>
                  <a:pt x="0" y="190501"/>
                </a:lnTo>
                <a:cubicBezTo>
                  <a:pt x="0" y="85361"/>
                  <a:pt x="85361" y="0"/>
                  <a:pt x="19050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571500" y="2317750"/>
            <a:ext cx="444500" cy="444500"/>
          </a:xfrm>
          <a:custGeom>
            <a:rect b="b" l="l" r="r" t="t"/>
            <a:pathLst>
              <a:path extrusionOk="0" h="444500" w="444500">
                <a:moveTo>
                  <a:pt x="126998" y="0"/>
                </a:moveTo>
                <a:lnTo>
                  <a:pt x="317502" y="0"/>
                </a:lnTo>
                <a:cubicBezTo>
                  <a:pt x="387641" y="0"/>
                  <a:pt x="444500" y="56859"/>
                  <a:pt x="444500" y="126998"/>
                </a:cubicBezTo>
                <a:lnTo>
                  <a:pt x="444500" y="317502"/>
                </a:lnTo>
                <a:cubicBezTo>
                  <a:pt x="444500" y="387641"/>
                  <a:pt x="387641" y="444500"/>
                  <a:pt x="317502" y="444500"/>
                </a:cubicBezTo>
                <a:lnTo>
                  <a:pt x="126998" y="444500"/>
                </a:lnTo>
                <a:cubicBezTo>
                  <a:pt x="56859" y="444500"/>
                  <a:pt x="0" y="387641"/>
                  <a:pt x="0" y="317502"/>
                </a:cubicBezTo>
                <a:lnTo>
                  <a:pt x="0" y="126998"/>
                </a:lnTo>
                <a:cubicBezTo>
                  <a:pt x="0" y="56906"/>
                  <a:pt x="56906" y="0"/>
                  <a:pt x="126998" y="0"/>
                </a:cubicBezTo>
                <a:close/>
              </a:path>
            </a:pathLst>
          </a:custGeom>
          <a:gradFill>
            <a:gsLst>
              <a:gs pos="0">
                <a:srgbClr val="FF9500"/>
              </a:gs>
              <a:gs pos="100000">
                <a:srgbClr val="FF6B00"/>
              </a:gs>
            </a:gsLst>
            <a:lin ang="2700000" scaled="0"/>
          </a:gra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698500" y="2444750"/>
            <a:ext cx="190500" cy="190500"/>
          </a:xfrm>
          <a:custGeom>
            <a:rect b="b" l="l" r="r" t="t"/>
            <a:pathLst>
              <a:path extrusionOk="0" h="190500" w="190500">
                <a:moveTo>
                  <a:pt x="178631" y="71438"/>
                </a:moveTo>
                <a:lnTo>
                  <a:pt x="181570" y="71438"/>
                </a:lnTo>
                <a:cubicBezTo>
                  <a:pt x="186519" y="71438"/>
                  <a:pt x="190500" y="67456"/>
                  <a:pt x="190500" y="62508"/>
                </a:cubicBezTo>
                <a:lnTo>
                  <a:pt x="190500" y="8930"/>
                </a:lnTo>
                <a:cubicBezTo>
                  <a:pt x="190500" y="5321"/>
                  <a:pt x="188342" y="2046"/>
                  <a:pt x="184993" y="670"/>
                </a:cubicBezTo>
                <a:cubicBezTo>
                  <a:pt x="181645" y="-707"/>
                  <a:pt x="177812" y="74"/>
                  <a:pt x="175245" y="2604"/>
                </a:cubicBezTo>
                <a:lnTo>
                  <a:pt x="156009" y="21878"/>
                </a:lnTo>
                <a:cubicBezTo>
                  <a:pt x="139526" y="8223"/>
                  <a:pt x="118318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ubicBezTo>
                  <a:pt x="29468" y="50416"/>
                  <a:pt x="59271" y="23812"/>
                  <a:pt x="95250" y="23812"/>
                </a:cubicBezTo>
                <a:cubicBezTo>
                  <a:pt x="111770" y="23812"/>
                  <a:pt x="126950" y="29394"/>
                  <a:pt x="139043" y="38807"/>
                </a:cubicBezTo>
                <a:lnTo>
                  <a:pt x="121667" y="56183"/>
                </a:lnTo>
                <a:cubicBezTo>
                  <a:pt x="119100" y="58750"/>
                  <a:pt x="118356" y="62582"/>
                  <a:pt x="119732" y="65931"/>
                </a:cubicBezTo>
                <a:cubicBezTo>
                  <a:pt x="121109" y="69279"/>
                  <a:pt x="124383" y="71438"/>
                  <a:pt x="127992" y="71438"/>
                </a:cubicBezTo>
                <a:lnTo>
                  <a:pt x="178631" y="71438"/>
                </a:lnTo>
                <a:close/>
                <a:moveTo>
                  <a:pt x="189570" y="108831"/>
                </a:moveTo>
                <a:cubicBezTo>
                  <a:pt x="190500" y="102319"/>
                  <a:pt x="185961" y="96292"/>
                  <a:pt x="179487" y="95362"/>
                </a:cubicBezTo>
                <a:cubicBezTo>
                  <a:pt x="173013" y="94431"/>
                  <a:pt x="166948" y="98971"/>
                  <a:pt x="166018" y="105445"/>
                </a:cubicBezTo>
                <a:cubicBezTo>
                  <a:pt x="161069" y="140047"/>
                  <a:pt x="131266" y="166650"/>
                  <a:pt x="95287" y="166650"/>
                </a:cubicBezTo>
                <a:cubicBezTo>
                  <a:pt x="78767" y="166650"/>
                  <a:pt x="63587" y="161069"/>
                  <a:pt x="51495" y="151656"/>
                </a:cubicBezTo>
                <a:lnTo>
                  <a:pt x="68833" y="134317"/>
                </a:lnTo>
                <a:cubicBezTo>
                  <a:pt x="71400" y="131750"/>
                  <a:pt x="72144" y="127918"/>
                  <a:pt x="70768" y="124569"/>
                </a:cubicBezTo>
                <a:cubicBezTo>
                  <a:pt x="69391" y="121221"/>
                  <a:pt x="66117" y="119063"/>
                  <a:pt x="62508" y="119063"/>
                </a:cubicBezTo>
                <a:lnTo>
                  <a:pt x="8930" y="119063"/>
                </a:lnTo>
                <a:cubicBezTo>
                  <a:pt x="3981" y="119063"/>
                  <a:pt x="0" y="123044"/>
                  <a:pt x="0" y="127992"/>
                </a:cubicBezTo>
                <a:lnTo>
                  <a:pt x="0" y="181570"/>
                </a:lnTo>
                <a:cubicBezTo>
                  <a:pt x="0" y="185179"/>
                  <a:pt x="2158" y="188454"/>
                  <a:pt x="5507" y="189830"/>
                </a:cubicBezTo>
                <a:cubicBezTo>
                  <a:pt x="8855" y="191207"/>
                  <a:pt x="12688" y="190426"/>
                  <a:pt x="15255" y="187896"/>
                </a:cubicBezTo>
                <a:lnTo>
                  <a:pt x="34528" y="168622"/>
                </a:lnTo>
                <a:cubicBezTo>
                  <a:pt x="50974" y="182277"/>
                  <a:pt x="72182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1143000" y="2413000"/>
            <a:ext cx="18891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The Reflexion Pattern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571500" y="2952750"/>
            <a:ext cx="6413500" cy="412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Agents continuously critique their own findings, identify knowledge gaps, and autonomously trigger new retrieval cycles ensuring comprehensive coverage and minimizing oversight risks.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571500" y="3556000"/>
            <a:ext cx="317500" cy="317500"/>
          </a:xfrm>
          <a:custGeom>
            <a:rect b="b" l="l" r="r" t="t"/>
            <a:pathLst>
              <a:path extrusionOk="0" h="317500" w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F9500">
              <a:alpha val="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704825" y="3619500"/>
            <a:ext cx="111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9500"/>
                </a:solidFill>
                <a:latin typeface="Liter"/>
                <a:ea typeface="Liter"/>
                <a:cs typeface="Liter"/>
                <a:sym typeface="Liter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1016000" y="3556000"/>
            <a:ext cx="5492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Self-Assessment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1016000" y="3778250"/>
            <a:ext cx="5492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Agent evaluates completeness and confidence of current findings against investigation objectives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571500" y="4095750"/>
            <a:ext cx="317500" cy="317500"/>
          </a:xfrm>
          <a:custGeom>
            <a:rect b="b" l="l" r="r" t="t"/>
            <a:pathLst>
              <a:path extrusionOk="0" h="317500" w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F9500">
              <a:alpha val="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693353" y="4159250"/>
            <a:ext cx="13493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9500"/>
                </a:solidFill>
                <a:latin typeface="Liter"/>
                <a:ea typeface="Liter"/>
                <a:cs typeface="Liter"/>
                <a:sym typeface="Liter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1016000" y="4095750"/>
            <a:ext cx="5762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Gap Identification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1016000" y="4318000"/>
            <a:ext cx="5762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System identifies missing information, unanswered questions, and areas requiring deeper investigation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571500" y="4635500"/>
            <a:ext cx="317500" cy="317500"/>
          </a:xfrm>
          <a:custGeom>
            <a:rect b="b" l="l" r="r" t="t"/>
            <a:pathLst>
              <a:path extrusionOk="0" h="317500" w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F9500">
              <a:alpha val="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692733" y="4699000"/>
            <a:ext cx="13493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9500"/>
                </a:solidFill>
                <a:latin typeface="Liter"/>
                <a:ea typeface="Liter"/>
                <a:cs typeface="Liter"/>
                <a:sym typeface="Liter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1016000" y="4635500"/>
            <a:ext cx="5413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Retrieval Triggering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1016000" y="4857750"/>
            <a:ext cx="5413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New search queries are formulated and dispatched to appropriate specialist agents for follow-up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571500" y="5175250"/>
            <a:ext cx="317500" cy="317500"/>
          </a:xfrm>
          <a:custGeom>
            <a:rect b="b" l="l" r="r" t="t"/>
            <a:pathLst>
              <a:path extrusionOk="0" h="317500" w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F9500">
              <a:alpha val="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692795" y="5238750"/>
            <a:ext cx="13493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9500"/>
                </a:solidFill>
                <a:latin typeface="Liter"/>
                <a:ea typeface="Liter"/>
                <a:cs typeface="Liter"/>
                <a:sym typeface="Liter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1016000" y="5175250"/>
            <a:ext cx="531018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Convergence Check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1016000" y="5397500"/>
            <a:ext cx="531018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Process repeats until confidence thresholds are met or diminishing returns indicate completion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7366000" y="1404938"/>
            <a:ext cx="4508500" cy="1889125"/>
          </a:xfrm>
          <a:custGeom>
            <a:rect b="b" l="l" r="r" t="t"/>
            <a:pathLst>
              <a:path extrusionOk="0" h="1889125" w="4508500">
                <a:moveTo>
                  <a:pt x="190499" y="0"/>
                </a:moveTo>
                <a:lnTo>
                  <a:pt x="4318001" y="0"/>
                </a:lnTo>
                <a:cubicBezTo>
                  <a:pt x="4423211" y="0"/>
                  <a:pt x="4508500" y="85289"/>
                  <a:pt x="4508500" y="190499"/>
                </a:cubicBezTo>
                <a:lnTo>
                  <a:pt x="4508500" y="1698626"/>
                </a:lnTo>
                <a:cubicBezTo>
                  <a:pt x="4508500" y="1803836"/>
                  <a:pt x="4423211" y="1889125"/>
                  <a:pt x="4318001" y="1889125"/>
                </a:cubicBezTo>
                <a:lnTo>
                  <a:pt x="190499" y="1889125"/>
                </a:lnTo>
                <a:cubicBezTo>
                  <a:pt x="85289" y="1889125"/>
                  <a:pt x="0" y="1803836"/>
                  <a:pt x="0" y="1698626"/>
                </a:cubicBezTo>
                <a:lnTo>
                  <a:pt x="0" y="190499"/>
                </a:lnTo>
                <a:cubicBezTo>
                  <a:pt x="0" y="85289"/>
                  <a:pt x="85289" y="0"/>
                  <a:pt x="190499" y="0"/>
                </a:cubicBezTo>
                <a:close/>
              </a:path>
            </a:pathLst>
          </a:custGeom>
          <a:gradFill>
            <a:gsLst>
              <a:gs pos="0">
                <a:srgbClr val="FF9500"/>
              </a:gs>
              <a:gs pos="100000">
                <a:srgbClr val="FF6B00"/>
              </a:gs>
            </a:gsLst>
            <a:lin ang="2700000" scaled="0"/>
          </a:gra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7556500" y="1595438"/>
            <a:ext cx="4206875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Example Reflexion Query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7556500" y="1944688"/>
            <a:ext cx="4127500" cy="873125"/>
          </a:xfrm>
          <a:custGeom>
            <a:rect b="b" l="l" r="r" t="t"/>
            <a:pathLst>
              <a:path extrusionOk="0" h="873125" w="4127500">
                <a:moveTo>
                  <a:pt x="126996" y="0"/>
                </a:moveTo>
                <a:lnTo>
                  <a:pt x="4000504" y="0"/>
                </a:lnTo>
                <a:cubicBezTo>
                  <a:pt x="4070642" y="0"/>
                  <a:pt x="4127500" y="56858"/>
                  <a:pt x="4127500" y="126996"/>
                </a:cubicBezTo>
                <a:lnTo>
                  <a:pt x="4127500" y="746129"/>
                </a:lnTo>
                <a:cubicBezTo>
                  <a:pt x="4127500" y="816267"/>
                  <a:pt x="4070642" y="873125"/>
                  <a:pt x="4000504" y="873125"/>
                </a:cubicBezTo>
                <a:lnTo>
                  <a:pt x="126996" y="873125"/>
                </a:lnTo>
                <a:cubicBezTo>
                  <a:pt x="56905" y="873125"/>
                  <a:pt x="0" y="816220"/>
                  <a:pt x="0" y="746129"/>
                </a:cubicBezTo>
                <a:lnTo>
                  <a:pt x="0" y="126996"/>
                </a:lnTo>
                <a:cubicBezTo>
                  <a:pt x="0" y="56905"/>
                  <a:pt x="56905" y="0"/>
                  <a:pt x="126996" y="0"/>
                </a:cubicBezTo>
                <a:close/>
              </a:path>
            </a:pathLst>
          </a:cu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7683500" y="2071688"/>
            <a:ext cx="3937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"Need to verify if CEO mentioned in Panama Papers database. Current findings show corporate connections but lack individual offshore entity verification."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7572375" y="2968625"/>
            <a:ext cx="111125" cy="111125"/>
          </a:xfrm>
          <a:custGeom>
            <a:rect b="b" l="l" r="r" t="t"/>
            <a:pathLst>
              <a:path extrusionOk="0" h="111125" w="111125">
                <a:moveTo>
                  <a:pt x="109085" y="60468"/>
                </a:moveTo>
                <a:cubicBezTo>
                  <a:pt x="111798" y="57755"/>
                  <a:pt x="111798" y="53349"/>
                  <a:pt x="109085" y="50636"/>
                </a:cubicBezTo>
                <a:lnTo>
                  <a:pt x="74358" y="15909"/>
                </a:lnTo>
                <a:cubicBezTo>
                  <a:pt x="71645" y="13196"/>
                  <a:pt x="67239" y="13196"/>
                  <a:pt x="64526" y="15909"/>
                </a:cubicBezTo>
                <a:cubicBezTo>
                  <a:pt x="61813" y="18622"/>
                  <a:pt x="61813" y="23028"/>
                  <a:pt x="64526" y="25741"/>
                </a:cubicBezTo>
                <a:lnTo>
                  <a:pt x="87402" y="48617"/>
                </a:lnTo>
                <a:lnTo>
                  <a:pt x="6945" y="48617"/>
                </a:lnTo>
                <a:cubicBezTo>
                  <a:pt x="3104" y="48617"/>
                  <a:pt x="0" y="51721"/>
                  <a:pt x="0" y="55563"/>
                </a:cubicBezTo>
                <a:cubicBezTo>
                  <a:pt x="0" y="59404"/>
                  <a:pt x="3104" y="62508"/>
                  <a:pt x="6945" y="62508"/>
                </a:cubicBezTo>
                <a:lnTo>
                  <a:pt x="87402" y="62508"/>
                </a:lnTo>
                <a:lnTo>
                  <a:pt x="64526" y="85384"/>
                </a:lnTo>
                <a:cubicBezTo>
                  <a:pt x="61813" y="88097"/>
                  <a:pt x="61813" y="92503"/>
                  <a:pt x="64526" y="95216"/>
                </a:cubicBezTo>
                <a:cubicBezTo>
                  <a:pt x="67239" y="97929"/>
                  <a:pt x="71645" y="97929"/>
                  <a:pt x="74358" y="95216"/>
                </a:cubicBezTo>
                <a:lnTo>
                  <a:pt x="109085" y="60489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7758906" y="2944813"/>
            <a:ext cx="1801813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Triggers ICIJ Offshore Leaks search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7366000" y="3452813"/>
            <a:ext cx="4508500" cy="1444625"/>
          </a:xfrm>
          <a:custGeom>
            <a:rect b="b" l="l" r="r" t="t"/>
            <a:pathLst>
              <a:path extrusionOk="0" h="1444625" w="4508500">
                <a:moveTo>
                  <a:pt x="190503" y="0"/>
                </a:moveTo>
                <a:lnTo>
                  <a:pt x="4317997" y="0"/>
                </a:lnTo>
                <a:cubicBezTo>
                  <a:pt x="4423209" y="0"/>
                  <a:pt x="4508500" y="85291"/>
                  <a:pt x="4508500" y="190503"/>
                </a:cubicBezTo>
                <a:lnTo>
                  <a:pt x="4508500" y="1254122"/>
                </a:lnTo>
                <a:cubicBezTo>
                  <a:pt x="4508500" y="1359334"/>
                  <a:pt x="4423209" y="1444625"/>
                  <a:pt x="4317997" y="1444625"/>
                </a:cubicBezTo>
                <a:lnTo>
                  <a:pt x="190503" y="1444625"/>
                </a:lnTo>
                <a:cubicBezTo>
                  <a:pt x="85291" y="1444625"/>
                  <a:pt x="0" y="1359334"/>
                  <a:pt x="0" y="1254122"/>
                </a:cubicBezTo>
                <a:lnTo>
                  <a:pt x="0" y="190503"/>
                </a:lnTo>
                <a:cubicBezTo>
                  <a:pt x="0" y="85361"/>
                  <a:pt x="85361" y="0"/>
                  <a:pt x="19050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7556500" y="3643313"/>
            <a:ext cx="317500" cy="317500"/>
          </a:xfrm>
          <a:custGeom>
            <a:rect b="b" l="l" r="r" t="t"/>
            <a:pathLst>
              <a:path extrusionOk="0" h="317500" w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07AFF">
              <a:alpha val="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7663656" y="3730625"/>
            <a:ext cx="107156" cy="142875"/>
          </a:xfrm>
          <a:custGeom>
            <a:rect b="b" l="l" r="r" t="t"/>
            <a:pathLst>
              <a:path extrusionOk="0" h="142875" w="107156">
                <a:moveTo>
                  <a:pt x="69735" y="18641"/>
                </a:moveTo>
                <a:cubicBezTo>
                  <a:pt x="72637" y="14650"/>
                  <a:pt x="71744" y="9069"/>
                  <a:pt x="67754" y="6167"/>
                </a:cubicBezTo>
                <a:cubicBezTo>
                  <a:pt x="63764" y="3265"/>
                  <a:pt x="58182" y="4158"/>
                  <a:pt x="55280" y="8148"/>
                </a:cubicBezTo>
                <a:lnTo>
                  <a:pt x="25701" y="48806"/>
                </a:lnTo>
                <a:lnTo>
                  <a:pt x="15236" y="38342"/>
                </a:lnTo>
                <a:cubicBezTo>
                  <a:pt x="11748" y="34854"/>
                  <a:pt x="6083" y="34854"/>
                  <a:pt x="2595" y="38342"/>
                </a:cubicBezTo>
                <a:cubicBezTo>
                  <a:pt x="-893" y="41830"/>
                  <a:pt x="-893" y="47495"/>
                  <a:pt x="2595" y="50983"/>
                </a:cubicBezTo>
                <a:lnTo>
                  <a:pt x="20455" y="68842"/>
                </a:lnTo>
                <a:cubicBezTo>
                  <a:pt x="22296" y="70684"/>
                  <a:pt x="24864" y="71633"/>
                  <a:pt x="27459" y="71438"/>
                </a:cubicBezTo>
                <a:cubicBezTo>
                  <a:pt x="30054" y="71242"/>
                  <a:pt x="32454" y="69903"/>
                  <a:pt x="33989" y="67782"/>
                </a:cubicBezTo>
                <a:lnTo>
                  <a:pt x="69707" y="18669"/>
                </a:lnTo>
                <a:close/>
                <a:moveTo>
                  <a:pt x="105454" y="56592"/>
                </a:moveTo>
                <a:cubicBezTo>
                  <a:pt x="108356" y="52601"/>
                  <a:pt x="107463" y="47020"/>
                  <a:pt x="103473" y="44118"/>
                </a:cubicBezTo>
                <a:cubicBezTo>
                  <a:pt x="99482" y="41216"/>
                  <a:pt x="93901" y="42109"/>
                  <a:pt x="90999" y="46100"/>
                </a:cubicBezTo>
                <a:lnTo>
                  <a:pt x="43560" y="111314"/>
                </a:lnTo>
                <a:lnTo>
                  <a:pt x="24166" y="91920"/>
                </a:lnTo>
                <a:cubicBezTo>
                  <a:pt x="20678" y="88432"/>
                  <a:pt x="15013" y="88432"/>
                  <a:pt x="11525" y="91920"/>
                </a:cubicBezTo>
                <a:cubicBezTo>
                  <a:pt x="8037" y="95408"/>
                  <a:pt x="8037" y="101073"/>
                  <a:pt x="11525" y="104561"/>
                </a:cubicBezTo>
                <a:lnTo>
                  <a:pt x="38314" y="131350"/>
                </a:lnTo>
                <a:cubicBezTo>
                  <a:pt x="40156" y="133192"/>
                  <a:pt x="42723" y="134141"/>
                  <a:pt x="45318" y="133945"/>
                </a:cubicBezTo>
                <a:cubicBezTo>
                  <a:pt x="47913" y="133750"/>
                  <a:pt x="50313" y="132411"/>
                  <a:pt x="51848" y="130290"/>
                </a:cubicBezTo>
                <a:lnTo>
                  <a:pt x="105426" y="56620"/>
                </a:lnTo>
                <a:close/>
              </a:path>
            </a:pathLst>
          </a:custGeom>
          <a:solidFill>
            <a:srgbClr val="007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7969250" y="3690937"/>
            <a:ext cx="1317625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Confidence Scoring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7556500" y="4087812"/>
            <a:ext cx="4191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Every finding is assigned a confidence score based on source reliability, corroboration level, and evidence strength enabling investigators to prioritize high-confidence intelligence.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7366000" y="5056188"/>
            <a:ext cx="4508500" cy="1444625"/>
          </a:xfrm>
          <a:custGeom>
            <a:rect b="b" l="l" r="r" t="t"/>
            <a:pathLst>
              <a:path extrusionOk="0" h="1444625" w="4508500">
                <a:moveTo>
                  <a:pt x="190503" y="0"/>
                </a:moveTo>
                <a:lnTo>
                  <a:pt x="4317997" y="0"/>
                </a:lnTo>
                <a:cubicBezTo>
                  <a:pt x="4423209" y="0"/>
                  <a:pt x="4508500" y="85291"/>
                  <a:pt x="4508500" y="190503"/>
                </a:cubicBezTo>
                <a:lnTo>
                  <a:pt x="4508500" y="1254122"/>
                </a:lnTo>
                <a:cubicBezTo>
                  <a:pt x="4508500" y="1359334"/>
                  <a:pt x="4423209" y="1444625"/>
                  <a:pt x="4317997" y="1444625"/>
                </a:cubicBezTo>
                <a:lnTo>
                  <a:pt x="190503" y="1444625"/>
                </a:lnTo>
                <a:cubicBezTo>
                  <a:pt x="85291" y="1444625"/>
                  <a:pt x="0" y="1359334"/>
                  <a:pt x="0" y="1254122"/>
                </a:cubicBezTo>
                <a:lnTo>
                  <a:pt x="0" y="190503"/>
                </a:lnTo>
                <a:cubicBezTo>
                  <a:pt x="0" y="85361"/>
                  <a:pt x="85361" y="0"/>
                  <a:pt x="19050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7556500" y="5246688"/>
            <a:ext cx="317500" cy="317500"/>
          </a:xfrm>
          <a:custGeom>
            <a:rect b="b" l="l" r="r" t="t"/>
            <a:pathLst>
              <a:path extrusionOk="0" h="317500" w="317500">
                <a:moveTo>
                  <a:pt x="95250" y="0"/>
                </a:moveTo>
                <a:lnTo>
                  <a:pt x="222250" y="0"/>
                </a:lnTo>
                <a:cubicBezTo>
                  <a:pt x="274820" y="0"/>
                  <a:pt x="317500" y="42680"/>
                  <a:pt x="317500" y="95250"/>
                </a:cubicBezTo>
                <a:lnTo>
                  <a:pt x="317500" y="222250"/>
                </a:lnTo>
                <a:cubicBezTo>
                  <a:pt x="317500" y="274820"/>
                  <a:pt x="274820" y="317500"/>
                  <a:pt x="222250" y="317500"/>
                </a:cubicBezTo>
                <a:lnTo>
                  <a:pt x="95250" y="317500"/>
                </a:lnTo>
                <a:cubicBezTo>
                  <a:pt x="42680" y="317500"/>
                  <a:pt x="0" y="274820"/>
                  <a:pt x="0" y="222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4C759">
              <a:alpha val="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7645797" y="5334000"/>
            <a:ext cx="142875" cy="142875"/>
          </a:xfrm>
          <a:custGeom>
            <a:rect b="b" l="l" r="r" t="t"/>
            <a:pathLst>
              <a:path extrusionOk="0" h="142875" w="142875">
                <a:moveTo>
                  <a:pt x="37337" y="10130"/>
                </a:moveTo>
                <a:cubicBezTo>
                  <a:pt x="40379" y="12250"/>
                  <a:pt x="41104" y="16436"/>
                  <a:pt x="38984" y="19450"/>
                </a:cubicBezTo>
                <a:lnTo>
                  <a:pt x="23357" y="41774"/>
                </a:lnTo>
                <a:cubicBezTo>
                  <a:pt x="22213" y="43393"/>
                  <a:pt x="20427" y="44425"/>
                  <a:pt x="18445" y="44593"/>
                </a:cubicBezTo>
                <a:cubicBezTo>
                  <a:pt x="16464" y="44760"/>
                  <a:pt x="14511" y="44090"/>
                  <a:pt x="13115" y="42695"/>
                </a:cubicBezTo>
                <a:lnTo>
                  <a:pt x="1953" y="31533"/>
                </a:lnTo>
                <a:cubicBezTo>
                  <a:pt x="-642" y="28910"/>
                  <a:pt x="-642" y="24668"/>
                  <a:pt x="1953" y="22045"/>
                </a:cubicBezTo>
                <a:cubicBezTo>
                  <a:pt x="4549" y="19422"/>
                  <a:pt x="8818" y="19450"/>
                  <a:pt x="11441" y="22045"/>
                </a:cubicBezTo>
                <a:lnTo>
                  <a:pt x="16966" y="27570"/>
                </a:lnTo>
                <a:lnTo>
                  <a:pt x="28017" y="11776"/>
                </a:lnTo>
                <a:cubicBezTo>
                  <a:pt x="30138" y="8734"/>
                  <a:pt x="34323" y="8009"/>
                  <a:pt x="37337" y="10130"/>
                </a:cubicBezTo>
                <a:close/>
                <a:moveTo>
                  <a:pt x="37337" y="54778"/>
                </a:moveTo>
                <a:cubicBezTo>
                  <a:pt x="40379" y="56899"/>
                  <a:pt x="41104" y="61085"/>
                  <a:pt x="38984" y="64098"/>
                </a:cubicBezTo>
                <a:lnTo>
                  <a:pt x="23357" y="86423"/>
                </a:lnTo>
                <a:cubicBezTo>
                  <a:pt x="22213" y="88041"/>
                  <a:pt x="20427" y="89074"/>
                  <a:pt x="18445" y="89241"/>
                </a:cubicBezTo>
                <a:cubicBezTo>
                  <a:pt x="16464" y="89408"/>
                  <a:pt x="14511" y="88739"/>
                  <a:pt x="13115" y="87344"/>
                </a:cubicBezTo>
                <a:lnTo>
                  <a:pt x="1953" y="76181"/>
                </a:lnTo>
                <a:cubicBezTo>
                  <a:pt x="-670" y="73558"/>
                  <a:pt x="-670" y="69317"/>
                  <a:pt x="1953" y="66722"/>
                </a:cubicBezTo>
                <a:cubicBezTo>
                  <a:pt x="4576" y="64126"/>
                  <a:pt x="8818" y="64098"/>
                  <a:pt x="11413" y="66722"/>
                </a:cubicBezTo>
                <a:lnTo>
                  <a:pt x="16939" y="72247"/>
                </a:lnTo>
                <a:lnTo>
                  <a:pt x="27989" y="56452"/>
                </a:lnTo>
                <a:cubicBezTo>
                  <a:pt x="30110" y="53411"/>
                  <a:pt x="34296" y="52685"/>
                  <a:pt x="37309" y="54806"/>
                </a:cubicBezTo>
                <a:close/>
                <a:moveTo>
                  <a:pt x="62508" y="26789"/>
                </a:moveTo>
                <a:cubicBezTo>
                  <a:pt x="62508" y="21850"/>
                  <a:pt x="66498" y="17859"/>
                  <a:pt x="71438" y="17859"/>
                </a:cubicBezTo>
                <a:lnTo>
                  <a:pt x="133945" y="17859"/>
                </a:lnTo>
                <a:cubicBezTo>
                  <a:pt x="138885" y="17859"/>
                  <a:pt x="142875" y="21850"/>
                  <a:pt x="142875" y="26789"/>
                </a:cubicBezTo>
                <a:cubicBezTo>
                  <a:pt x="142875" y="31728"/>
                  <a:pt x="138885" y="35719"/>
                  <a:pt x="133945" y="35719"/>
                </a:cubicBezTo>
                <a:lnTo>
                  <a:pt x="71438" y="35719"/>
                </a:lnTo>
                <a:cubicBezTo>
                  <a:pt x="66498" y="35719"/>
                  <a:pt x="62508" y="31728"/>
                  <a:pt x="62508" y="26789"/>
                </a:cubicBezTo>
                <a:close/>
                <a:moveTo>
                  <a:pt x="62508" y="71438"/>
                </a:moveTo>
                <a:cubicBezTo>
                  <a:pt x="62508" y="66498"/>
                  <a:pt x="66498" y="62508"/>
                  <a:pt x="71438" y="62508"/>
                </a:cubicBezTo>
                <a:lnTo>
                  <a:pt x="133945" y="62508"/>
                </a:lnTo>
                <a:cubicBezTo>
                  <a:pt x="138885" y="62508"/>
                  <a:pt x="142875" y="66498"/>
                  <a:pt x="142875" y="71438"/>
                </a:cubicBezTo>
                <a:cubicBezTo>
                  <a:pt x="142875" y="76377"/>
                  <a:pt x="138885" y="80367"/>
                  <a:pt x="133945" y="80367"/>
                </a:cubicBezTo>
                <a:lnTo>
                  <a:pt x="71438" y="80367"/>
                </a:lnTo>
                <a:cubicBezTo>
                  <a:pt x="66498" y="80367"/>
                  <a:pt x="62508" y="76377"/>
                  <a:pt x="62508" y="71438"/>
                </a:cubicBezTo>
                <a:close/>
                <a:moveTo>
                  <a:pt x="44648" y="116086"/>
                </a:moveTo>
                <a:cubicBezTo>
                  <a:pt x="44648" y="111147"/>
                  <a:pt x="48639" y="107156"/>
                  <a:pt x="53578" y="107156"/>
                </a:cubicBezTo>
                <a:lnTo>
                  <a:pt x="133945" y="107156"/>
                </a:lnTo>
                <a:cubicBezTo>
                  <a:pt x="138885" y="107156"/>
                  <a:pt x="142875" y="111147"/>
                  <a:pt x="142875" y="116086"/>
                </a:cubicBezTo>
                <a:cubicBezTo>
                  <a:pt x="142875" y="121025"/>
                  <a:pt x="138885" y="125016"/>
                  <a:pt x="133945" y="125016"/>
                </a:cubicBezTo>
                <a:lnTo>
                  <a:pt x="53578" y="125016"/>
                </a:lnTo>
                <a:cubicBezTo>
                  <a:pt x="48639" y="125016"/>
                  <a:pt x="44648" y="121025"/>
                  <a:pt x="44648" y="116086"/>
                </a:cubicBezTo>
                <a:close/>
                <a:moveTo>
                  <a:pt x="17859" y="104924"/>
                </a:moveTo>
                <a:cubicBezTo>
                  <a:pt x="24020" y="104924"/>
                  <a:pt x="29021" y="109925"/>
                  <a:pt x="29021" y="116086"/>
                </a:cubicBezTo>
                <a:cubicBezTo>
                  <a:pt x="29021" y="122246"/>
                  <a:pt x="24020" y="127248"/>
                  <a:pt x="17859" y="127248"/>
                </a:cubicBezTo>
                <a:cubicBezTo>
                  <a:pt x="11699" y="127248"/>
                  <a:pt x="6697" y="122246"/>
                  <a:pt x="6697" y="116086"/>
                </a:cubicBezTo>
                <a:cubicBezTo>
                  <a:pt x="6697" y="109925"/>
                  <a:pt x="11699" y="104924"/>
                  <a:pt x="17859" y="104924"/>
                </a:cubicBezTo>
                <a:close/>
              </a:path>
            </a:pathLst>
          </a:custGeom>
          <a:solidFill>
            <a:srgbClr val="34C75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7969250" y="5294313"/>
            <a:ext cx="1436688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Audit Trail Generation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7556500" y="5691188"/>
            <a:ext cx="4191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Complete documentation of all search queries, data sources accessed, and reasoning steps ensuring transparency and reproducibility for legal and compliance purposes.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1"/>
          <p:cNvSpPr/>
          <p:nvPr/>
        </p:nvSpPr>
        <p:spPr>
          <a:xfrm>
            <a:off x="337729" y="337729"/>
            <a:ext cx="11575645" cy="168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31">
                <a:solidFill>
                  <a:srgbClr val="007AFF"/>
                </a:solidFill>
                <a:latin typeface="Liter"/>
                <a:ea typeface="Liter"/>
                <a:cs typeface="Liter"/>
                <a:sym typeface="Liter"/>
              </a:rPr>
              <a:t>Capstone Demo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337729" y="574139"/>
            <a:ext cx="11668521" cy="33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93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Live Demonstration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337729" y="1013186"/>
            <a:ext cx="11592532" cy="236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7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Money laundering investigation with interactive knowledge graph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337729" y="1967269"/>
            <a:ext cx="5623180" cy="2178349"/>
          </a:xfrm>
          <a:custGeom>
            <a:rect b="b" l="l" r="r" t="t"/>
            <a:pathLst>
              <a:path extrusionOk="0" h="2178349" w="5623180">
                <a:moveTo>
                  <a:pt x="202630" y="0"/>
                </a:moveTo>
                <a:lnTo>
                  <a:pt x="5420550" y="0"/>
                </a:lnTo>
                <a:cubicBezTo>
                  <a:pt x="5532460" y="0"/>
                  <a:pt x="5623180" y="90721"/>
                  <a:pt x="5623180" y="202630"/>
                </a:cubicBezTo>
                <a:lnTo>
                  <a:pt x="5623180" y="1975719"/>
                </a:lnTo>
                <a:cubicBezTo>
                  <a:pt x="5623180" y="2087628"/>
                  <a:pt x="5532460" y="2178349"/>
                  <a:pt x="5420550" y="2178349"/>
                </a:cubicBezTo>
                <a:lnTo>
                  <a:pt x="202630" y="2178349"/>
                </a:lnTo>
                <a:cubicBezTo>
                  <a:pt x="90721" y="2178349"/>
                  <a:pt x="0" y="2087628"/>
                  <a:pt x="0" y="1975719"/>
                </a:cubicBezTo>
                <a:lnTo>
                  <a:pt x="0" y="202630"/>
                </a:lnTo>
                <a:cubicBezTo>
                  <a:pt x="0" y="90721"/>
                  <a:pt x="90721" y="0"/>
                  <a:pt x="202630" y="0"/>
                </a:cubicBezTo>
                <a:close/>
              </a:path>
            </a:pathLst>
          </a:custGeom>
          <a:gradFill>
            <a:gsLst>
              <a:gs pos="0">
                <a:srgbClr val="007AFF"/>
              </a:gs>
              <a:gs pos="100000">
                <a:srgbClr val="5856D6"/>
              </a:gs>
            </a:gsLst>
            <a:lin ang="2700000" scaled="0"/>
          </a:gra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607911" y="2237452"/>
            <a:ext cx="472820" cy="472820"/>
          </a:xfrm>
          <a:custGeom>
            <a:rect b="b" l="l" r="r" t="t"/>
            <a:pathLst>
              <a:path extrusionOk="0" h="472820" w="472820">
                <a:moveTo>
                  <a:pt x="135089" y="0"/>
                </a:moveTo>
                <a:lnTo>
                  <a:pt x="337731" y="0"/>
                </a:lnTo>
                <a:cubicBezTo>
                  <a:pt x="412338" y="0"/>
                  <a:pt x="472820" y="60482"/>
                  <a:pt x="472820" y="135089"/>
                </a:cubicBezTo>
                <a:lnTo>
                  <a:pt x="472820" y="337731"/>
                </a:lnTo>
                <a:cubicBezTo>
                  <a:pt x="472820" y="412338"/>
                  <a:pt x="412338" y="472820"/>
                  <a:pt x="337731" y="472820"/>
                </a:cubicBezTo>
                <a:lnTo>
                  <a:pt x="135089" y="472820"/>
                </a:lnTo>
                <a:cubicBezTo>
                  <a:pt x="60482" y="472820"/>
                  <a:pt x="0" y="412338"/>
                  <a:pt x="0" y="337731"/>
                </a:cubicBezTo>
                <a:lnTo>
                  <a:pt x="0" y="135089"/>
                </a:lnTo>
                <a:cubicBezTo>
                  <a:pt x="0" y="60532"/>
                  <a:pt x="60532" y="0"/>
                  <a:pt x="13508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1"/>
          <p:cNvSpPr/>
          <p:nvPr/>
        </p:nvSpPr>
        <p:spPr>
          <a:xfrm>
            <a:off x="743003" y="2372543"/>
            <a:ext cx="202637" cy="202637"/>
          </a:xfrm>
          <a:custGeom>
            <a:rect b="b" l="l" r="r" t="t"/>
            <a:pathLst>
              <a:path extrusionOk="0" h="202637" w="202637">
                <a:moveTo>
                  <a:pt x="3720" y="46939"/>
                </a:moveTo>
                <a:cubicBezTo>
                  <a:pt x="-1227" y="41992"/>
                  <a:pt x="-1227" y="33958"/>
                  <a:pt x="3720" y="29010"/>
                </a:cubicBezTo>
                <a:cubicBezTo>
                  <a:pt x="8667" y="24063"/>
                  <a:pt x="16702" y="24063"/>
                  <a:pt x="21649" y="29010"/>
                </a:cubicBezTo>
                <a:lnTo>
                  <a:pt x="84973" y="92334"/>
                </a:lnTo>
                <a:cubicBezTo>
                  <a:pt x="89920" y="97282"/>
                  <a:pt x="89920" y="105316"/>
                  <a:pt x="84973" y="110263"/>
                </a:cubicBezTo>
                <a:lnTo>
                  <a:pt x="21649" y="173587"/>
                </a:lnTo>
                <a:cubicBezTo>
                  <a:pt x="16702" y="178534"/>
                  <a:pt x="8667" y="178534"/>
                  <a:pt x="3720" y="173587"/>
                </a:cubicBezTo>
                <a:cubicBezTo>
                  <a:pt x="-1227" y="168640"/>
                  <a:pt x="-1227" y="160606"/>
                  <a:pt x="3720" y="155659"/>
                </a:cubicBezTo>
                <a:lnTo>
                  <a:pt x="58060" y="101319"/>
                </a:lnTo>
                <a:lnTo>
                  <a:pt x="3720" y="46939"/>
                </a:lnTo>
                <a:close/>
                <a:moveTo>
                  <a:pt x="88654" y="151978"/>
                </a:moveTo>
                <a:lnTo>
                  <a:pt x="189972" y="151978"/>
                </a:lnTo>
                <a:cubicBezTo>
                  <a:pt x="196978" y="151978"/>
                  <a:pt x="202637" y="157637"/>
                  <a:pt x="202637" y="164643"/>
                </a:cubicBezTo>
                <a:cubicBezTo>
                  <a:pt x="202637" y="171648"/>
                  <a:pt x="196978" y="177307"/>
                  <a:pt x="189972" y="177307"/>
                </a:cubicBezTo>
                <a:lnTo>
                  <a:pt x="88654" y="177307"/>
                </a:lnTo>
                <a:cubicBezTo>
                  <a:pt x="81649" y="177307"/>
                  <a:pt x="75989" y="171648"/>
                  <a:pt x="75989" y="164643"/>
                </a:cubicBezTo>
                <a:cubicBezTo>
                  <a:pt x="75989" y="157637"/>
                  <a:pt x="81649" y="151978"/>
                  <a:pt x="88654" y="15197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1215823" y="2254338"/>
            <a:ext cx="4179391" cy="168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1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Investigation Query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1215823" y="2456975"/>
            <a:ext cx="4204720" cy="236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30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"Investigate Company X for money laundering red flags"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1"/>
          <p:cNvSpPr/>
          <p:nvPr/>
        </p:nvSpPr>
        <p:spPr>
          <a:xfrm>
            <a:off x="607911" y="2879136"/>
            <a:ext cx="5082814" cy="996299"/>
          </a:xfrm>
          <a:custGeom>
            <a:rect b="b" l="l" r="r" t="t"/>
            <a:pathLst>
              <a:path extrusionOk="0" h="996299" w="5082814">
                <a:moveTo>
                  <a:pt x="135088" y="0"/>
                </a:moveTo>
                <a:lnTo>
                  <a:pt x="4947726" y="0"/>
                </a:lnTo>
                <a:cubicBezTo>
                  <a:pt x="5022333" y="0"/>
                  <a:pt x="5082814" y="60481"/>
                  <a:pt x="5082814" y="135088"/>
                </a:cubicBezTo>
                <a:lnTo>
                  <a:pt x="5082814" y="861211"/>
                </a:lnTo>
                <a:cubicBezTo>
                  <a:pt x="5082814" y="935818"/>
                  <a:pt x="5022333" y="996299"/>
                  <a:pt x="4947726" y="996299"/>
                </a:cubicBezTo>
                <a:lnTo>
                  <a:pt x="135088" y="996299"/>
                </a:lnTo>
                <a:cubicBezTo>
                  <a:pt x="60531" y="996299"/>
                  <a:pt x="0" y="935768"/>
                  <a:pt x="0" y="861211"/>
                </a:cubicBezTo>
                <a:lnTo>
                  <a:pt x="0" y="135088"/>
                </a:lnTo>
                <a:cubicBezTo>
                  <a:pt x="0" y="60531"/>
                  <a:pt x="60531" y="0"/>
                  <a:pt x="135088" y="0"/>
                </a:cubicBezTo>
                <a:close/>
              </a:path>
            </a:pathLst>
          </a:custGeom>
          <a:solidFill>
            <a:srgbClr val="FFFFFF">
              <a:alpha val="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776776" y="3048000"/>
            <a:ext cx="4812632" cy="65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4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The Lead Agent decomposes this request into parallel sub-tasks: corporate structure analysis, beneficial ownership mapping, sanctions screening, transaction pattern analysis, and adverse media monitoring.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1"/>
          <p:cNvSpPr/>
          <p:nvPr/>
        </p:nvSpPr>
        <p:spPr>
          <a:xfrm>
            <a:off x="337729" y="4348255"/>
            <a:ext cx="5623180" cy="1992598"/>
          </a:xfrm>
          <a:custGeom>
            <a:rect b="b" l="l" r="r" t="t"/>
            <a:pathLst>
              <a:path extrusionOk="0" h="1992598" w="5623180">
                <a:moveTo>
                  <a:pt x="202627" y="0"/>
                </a:moveTo>
                <a:lnTo>
                  <a:pt x="5420553" y="0"/>
                </a:lnTo>
                <a:cubicBezTo>
                  <a:pt x="5532461" y="0"/>
                  <a:pt x="5623180" y="90719"/>
                  <a:pt x="5623180" y="202627"/>
                </a:cubicBezTo>
                <a:lnTo>
                  <a:pt x="5623180" y="1789971"/>
                </a:lnTo>
                <a:cubicBezTo>
                  <a:pt x="5623180" y="1901879"/>
                  <a:pt x="5532461" y="1992598"/>
                  <a:pt x="5420553" y="1992598"/>
                </a:cubicBezTo>
                <a:lnTo>
                  <a:pt x="202627" y="1992598"/>
                </a:lnTo>
                <a:cubicBezTo>
                  <a:pt x="90794" y="1992598"/>
                  <a:pt x="0" y="1901804"/>
                  <a:pt x="0" y="1789971"/>
                </a:cubicBezTo>
                <a:lnTo>
                  <a:pt x="0" y="202627"/>
                </a:lnTo>
                <a:cubicBezTo>
                  <a:pt x="0" y="90794"/>
                  <a:pt x="90794" y="0"/>
                  <a:pt x="20262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561474" y="4584665"/>
            <a:ext cx="168864" cy="168864"/>
          </a:xfrm>
          <a:custGeom>
            <a:rect b="b" l="l" r="r" t="t"/>
            <a:pathLst>
              <a:path extrusionOk="0" h="168864" w="168864">
                <a:moveTo>
                  <a:pt x="84432" y="0"/>
                </a:moveTo>
                <a:cubicBezTo>
                  <a:pt x="131031" y="0"/>
                  <a:pt x="168864" y="37833"/>
                  <a:pt x="168864" y="84432"/>
                </a:cubicBezTo>
                <a:cubicBezTo>
                  <a:pt x="168864" y="131031"/>
                  <a:pt x="131031" y="168864"/>
                  <a:pt x="84432" y="168864"/>
                </a:cubicBezTo>
                <a:cubicBezTo>
                  <a:pt x="37833" y="168864"/>
                  <a:pt x="0" y="131031"/>
                  <a:pt x="0" y="84432"/>
                </a:cubicBezTo>
                <a:cubicBezTo>
                  <a:pt x="0" y="37833"/>
                  <a:pt x="37833" y="0"/>
                  <a:pt x="84432" y="0"/>
                </a:cubicBezTo>
                <a:close/>
                <a:moveTo>
                  <a:pt x="76517" y="39578"/>
                </a:moveTo>
                <a:lnTo>
                  <a:pt x="76517" y="84432"/>
                </a:lnTo>
                <a:cubicBezTo>
                  <a:pt x="76517" y="87071"/>
                  <a:pt x="77836" y="89544"/>
                  <a:pt x="80046" y="91028"/>
                </a:cubicBezTo>
                <a:lnTo>
                  <a:pt x="111708" y="112136"/>
                </a:lnTo>
                <a:cubicBezTo>
                  <a:pt x="115336" y="114577"/>
                  <a:pt x="120250" y="113588"/>
                  <a:pt x="122690" y="109927"/>
                </a:cubicBezTo>
                <a:cubicBezTo>
                  <a:pt x="125131" y="106266"/>
                  <a:pt x="124142" y="101385"/>
                  <a:pt x="120481" y="98944"/>
                </a:cubicBezTo>
                <a:lnTo>
                  <a:pt x="92348" y="80211"/>
                </a:lnTo>
                <a:lnTo>
                  <a:pt x="92348" y="39578"/>
                </a:lnTo>
                <a:cubicBezTo>
                  <a:pt x="92348" y="35191"/>
                  <a:pt x="88819" y="31662"/>
                  <a:pt x="84432" y="31662"/>
                </a:cubicBezTo>
                <a:cubicBezTo>
                  <a:pt x="80046" y="31662"/>
                  <a:pt x="76517" y="35191"/>
                  <a:pt x="76517" y="39578"/>
                </a:cubicBezTo>
                <a:close/>
              </a:path>
            </a:pathLst>
          </a:custGeom>
          <a:solidFill>
            <a:srgbClr val="007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1"/>
          <p:cNvSpPr/>
          <p:nvPr/>
        </p:nvSpPr>
        <p:spPr>
          <a:xfrm>
            <a:off x="852765" y="4550892"/>
            <a:ext cx="1350914" cy="236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97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Execution Timeline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1"/>
          <p:cNvSpPr/>
          <p:nvPr/>
        </p:nvSpPr>
        <p:spPr>
          <a:xfrm>
            <a:off x="540366" y="4922393"/>
            <a:ext cx="869651" cy="168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31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0-30 sec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1"/>
          <p:cNvSpPr/>
          <p:nvPr/>
        </p:nvSpPr>
        <p:spPr>
          <a:xfrm>
            <a:off x="1486006" y="4973053"/>
            <a:ext cx="3014227" cy="67546"/>
          </a:xfrm>
          <a:custGeom>
            <a:rect b="b" l="l" r="r" t="t"/>
            <a:pathLst>
              <a:path extrusionOk="0" h="67546" w="3014227">
                <a:moveTo>
                  <a:pt x="33773" y="0"/>
                </a:moveTo>
                <a:lnTo>
                  <a:pt x="2980454" y="0"/>
                </a:lnTo>
                <a:cubicBezTo>
                  <a:pt x="2999107" y="0"/>
                  <a:pt x="3014227" y="15121"/>
                  <a:pt x="3014227" y="33773"/>
                </a:cubicBezTo>
                <a:lnTo>
                  <a:pt x="3014227" y="33773"/>
                </a:lnTo>
                <a:cubicBezTo>
                  <a:pt x="3014227" y="52425"/>
                  <a:pt x="2999107" y="67546"/>
                  <a:pt x="2980454" y="67546"/>
                </a:cubicBezTo>
                <a:lnTo>
                  <a:pt x="33773" y="67546"/>
                </a:lnTo>
                <a:cubicBezTo>
                  <a:pt x="15121" y="67546"/>
                  <a:pt x="0" y="52425"/>
                  <a:pt x="0" y="33773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F5F5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1486006" y="4973053"/>
            <a:ext cx="3014227" cy="67546"/>
          </a:xfrm>
          <a:custGeom>
            <a:rect b="b" l="l" r="r" t="t"/>
            <a:pathLst>
              <a:path extrusionOk="0" h="67546" w="3014227">
                <a:moveTo>
                  <a:pt x="33773" y="0"/>
                </a:moveTo>
                <a:lnTo>
                  <a:pt x="2980454" y="0"/>
                </a:lnTo>
                <a:cubicBezTo>
                  <a:pt x="2999107" y="0"/>
                  <a:pt x="3014227" y="15121"/>
                  <a:pt x="3014227" y="33773"/>
                </a:cubicBezTo>
                <a:lnTo>
                  <a:pt x="3014227" y="33773"/>
                </a:lnTo>
                <a:cubicBezTo>
                  <a:pt x="3014227" y="52425"/>
                  <a:pt x="2999107" y="67546"/>
                  <a:pt x="2980454" y="67546"/>
                </a:cubicBezTo>
                <a:lnTo>
                  <a:pt x="33773" y="67546"/>
                </a:lnTo>
                <a:cubicBezTo>
                  <a:pt x="15121" y="67546"/>
                  <a:pt x="0" y="52425"/>
                  <a:pt x="0" y="33773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007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1"/>
          <p:cNvSpPr/>
          <p:nvPr/>
        </p:nvSpPr>
        <p:spPr>
          <a:xfrm>
            <a:off x="4637765" y="4922393"/>
            <a:ext cx="1173607" cy="168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1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Query decomposition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1"/>
          <p:cNvSpPr/>
          <p:nvPr/>
        </p:nvSpPr>
        <p:spPr>
          <a:xfrm>
            <a:off x="540366" y="5192576"/>
            <a:ext cx="869651" cy="168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31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30-90 sec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1"/>
          <p:cNvSpPr/>
          <p:nvPr/>
        </p:nvSpPr>
        <p:spPr>
          <a:xfrm>
            <a:off x="1486006" y="5243235"/>
            <a:ext cx="3056443" cy="67546"/>
          </a:xfrm>
          <a:custGeom>
            <a:rect b="b" l="l" r="r" t="t"/>
            <a:pathLst>
              <a:path extrusionOk="0" h="67546" w="3056443">
                <a:moveTo>
                  <a:pt x="33773" y="0"/>
                </a:moveTo>
                <a:lnTo>
                  <a:pt x="3022670" y="0"/>
                </a:lnTo>
                <a:cubicBezTo>
                  <a:pt x="3041323" y="0"/>
                  <a:pt x="3056443" y="15121"/>
                  <a:pt x="3056443" y="33773"/>
                </a:cubicBezTo>
                <a:lnTo>
                  <a:pt x="3056443" y="33773"/>
                </a:lnTo>
                <a:cubicBezTo>
                  <a:pt x="3056443" y="52425"/>
                  <a:pt x="3041323" y="67546"/>
                  <a:pt x="3022670" y="67546"/>
                </a:cubicBezTo>
                <a:lnTo>
                  <a:pt x="33773" y="67546"/>
                </a:lnTo>
                <a:cubicBezTo>
                  <a:pt x="15121" y="67546"/>
                  <a:pt x="0" y="52425"/>
                  <a:pt x="0" y="33773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F5F5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1"/>
          <p:cNvSpPr/>
          <p:nvPr/>
        </p:nvSpPr>
        <p:spPr>
          <a:xfrm>
            <a:off x="1486006" y="5243235"/>
            <a:ext cx="3056443" cy="67546"/>
          </a:xfrm>
          <a:custGeom>
            <a:rect b="b" l="l" r="r" t="t"/>
            <a:pathLst>
              <a:path extrusionOk="0" h="67546" w="3056443">
                <a:moveTo>
                  <a:pt x="33773" y="0"/>
                </a:moveTo>
                <a:lnTo>
                  <a:pt x="3022670" y="0"/>
                </a:lnTo>
                <a:cubicBezTo>
                  <a:pt x="3041323" y="0"/>
                  <a:pt x="3056443" y="15121"/>
                  <a:pt x="3056443" y="33773"/>
                </a:cubicBezTo>
                <a:lnTo>
                  <a:pt x="3056443" y="33773"/>
                </a:lnTo>
                <a:cubicBezTo>
                  <a:pt x="3056443" y="52425"/>
                  <a:pt x="3041323" y="67546"/>
                  <a:pt x="3022670" y="67546"/>
                </a:cubicBezTo>
                <a:lnTo>
                  <a:pt x="33773" y="67546"/>
                </a:lnTo>
                <a:cubicBezTo>
                  <a:pt x="15121" y="67546"/>
                  <a:pt x="0" y="52425"/>
                  <a:pt x="0" y="33773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34C75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1"/>
          <p:cNvSpPr/>
          <p:nvPr/>
        </p:nvSpPr>
        <p:spPr>
          <a:xfrm>
            <a:off x="4675363" y="5192576"/>
            <a:ext cx="1139834" cy="168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1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Parallel data retrieval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1"/>
          <p:cNvSpPr/>
          <p:nvPr/>
        </p:nvSpPr>
        <p:spPr>
          <a:xfrm>
            <a:off x="540366" y="5462759"/>
            <a:ext cx="869651" cy="168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31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90-180 sec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1"/>
          <p:cNvSpPr/>
          <p:nvPr/>
        </p:nvSpPr>
        <p:spPr>
          <a:xfrm>
            <a:off x="1486006" y="5513418"/>
            <a:ext cx="3064886" cy="67546"/>
          </a:xfrm>
          <a:custGeom>
            <a:rect b="b" l="l" r="r" t="t"/>
            <a:pathLst>
              <a:path extrusionOk="0" h="67546" w="3064886">
                <a:moveTo>
                  <a:pt x="33773" y="0"/>
                </a:moveTo>
                <a:lnTo>
                  <a:pt x="3031114" y="0"/>
                </a:lnTo>
                <a:cubicBezTo>
                  <a:pt x="3049766" y="0"/>
                  <a:pt x="3064886" y="15121"/>
                  <a:pt x="3064886" y="33773"/>
                </a:cubicBezTo>
                <a:lnTo>
                  <a:pt x="3064886" y="33773"/>
                </a:lnTo>
                <a:cubicBezTo>
                  <a:pt x="3064886" y="52425"/>
                  <a:pt x="3049766" y="67546"/>
                  <a:pt x="3031114" y="67546"/>
                </a:cubicBezTo>
                <a:lnTo>
                  <a:pt x="33773" y="67546"/>
                </a:lnTo>
                <a:cubicBezTo>
                  <a:pt x="15121" y="67546"/>
                  <a:pt x="0" y="52425"/>
                  <a:pt x="0" y="33773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F5F5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1"/>
          <p:cNvSpPr/>
          <p:nvPr/>
        </p:nvSpPr>
        <p:spPr>
          <a:xfrm>
            <a:off x="1486006" y="5513418"/>
            <a:ext cx="3064886" cy="67546"/>
          </a:xfrm>
          <a:custGeom>
            <a:rect b="b" l="l" r="r" t="t"/>
            <a:pathLst>
              <a:path extrusionOk="0" h="67546" w="3064886">
                <a:moveTo>
                  <a:pt x="33773" y="0"/>
                </a:moveTo>
                <a:lnTo>
                  <a:pt x="3031114" y="0"/>
                </a:lnTo>
                <a:cubicBezTo>
                  <a:pt x="3049766" y="0"/>
                  <a:pt x="3064886" y="15121"/>
                  <a:pt x="3064886" y="33773"/>
                </a:cubicBezTo>
                <a:lnTo>
                  <a:pt x="3064886" y="33773"/>
                </a:lnTo>
                <a:cubicBezTo>
                  <a:pt x="3064886" y="52425"/>
                  <a:pt x="3049766" y="67546"/>
                  <a:pt x="3031114" y="67546"/>
                </a:cubicBezTo>
                <a:lnTo>
                  <a:pt x="33773" y="67546"/>
                </a:lnTo>
                <a:cubicBezTo>
                  <a:pt x="15121" y="67546"/>
                  <a:pt x="0" y="52425"/>
                  <a:pt x="0" y="33773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FF95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1"/>
          <p:cNvSpPr/>
          <p:nvPr/>
        </p:nvSpPr>
        <p:spPr>
          <a:xfrm>
            <a:off x="4687764" y="5462759"/>
            <a:ext cx="1131391" cy="168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1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Analysis &amp; synthesis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1"/>
          <p:cNvSpPr/>
          <p:nvPr/>
        </p:nvSpPr>
        <p:spPr>
          <a:xfrm>
            <a:off x="540366" y="5732942"/>
            <a:ext cx="869651" cy="168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31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180+ sec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1"/>
          <p:cNvSpPr/>
          <p:nvPr/>
        </p:nvSpPr>
        <p:spPr>
          <a:xfrm>
            <a:off x="1486006" y="5783601"/>
            <a:ext cx="2946681" cy="67546"/>
          </a:xfrm>
          <a:custGeom>
            <a:rect b="b" l="l" r="r" t="t"/>
            <a:pathLst>
              <a:path extrusionOk="0" h="67546" w="2946681">
                <a:moveTo>
                  <a:pt x="33773" y="0"/>
                </a:moveTo>
                <a:lnTo>
                  <a:pt x="2912909" y="0"/>
                </a:lnTo>
                <a:cubicBezTo>
                  <a:pt x="2931561" y="0"/>
                  <a:pt x="2946681" y="15121"/>
                  <a:pt x="2946681" y="33773"/>
                </a:cubicBezTo>
                <a:lnTo>
                  <a:pt x="2946681" y="33773"/>
                </a:lnTo>
                <a:cubicBezTo>
                  <a:pt x="2946681" y="52425"/>
                  <a:pt x="2931561" y="67546"/>
                  <a:pt x="2912909" y="67546"/>
                </a:cubicBezTo>
                <a:lnTo>
                  <a:pt x="33773" y="67546"/>
                </a:lnTo>
                <a:cubicBezTo>
                  <a:pt x="15121" y="67546"/>
                  <a:pt x="0" y="52425"/>
                  <a:pt x="0" y="33773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F5F5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1486006" y="5783601"/>
            <a:ext cx="2946681" cy="67546"/>
          </a:xfrm>
          <a:custGeom>
            <a:rect b="b" l="l" r="r" t="t"/>
            <a:pathLst>
              <a:path extrusionOk="0" h="67546" w="2946681">
                <a:moveTo>
                  <a:pt x="33773" y="0"/>
                </a:moveTo>
                <a:lnTo>
                  <a:pt x="2912909" y="0"/>
                </a:lnTo>
                <a:cubicBezTo>
                  <a:pt x="2931561" y="0"/>
                  <a:pt x="2946681" y="15121"/>
                  <a:pt x="2946681" y="33773"/>
                </a:cubicBezTo>
                <a:lnTo>
                  <a:pt x="2946681" y="33773"/>
                </a:lnTo>
                <a:cubicBezTo>
                  <a:pt x="2946681" y="52425"/>
                  <a:pt x="2931561" y="67546"/>
                  <a:pt x="2912909" y="67546"/>
                </a:cubicBezTo>
                <a:lnTo>
                  <a:pt x="33773" y="67546"/>
                </a:lnTo>
                <a:cubicBezTo>
                  <a:pt x="15121" y="67546"/>
                  <a:pt x="0" y="52425"/>
                  <a:pt x="0" y="33773"/>
                </a:cubicBezTo>
                <a:lnTo>
                  <a:pt x="0" y="33773"/>
                </a:lnTo>
                <a:cubicBezTo>
                  <a:pt x="0" y="15121"/>
                  <a:pt x="15121" y="0"/>
                  <a:pt x="33773" y="0"/>
                </a:cubicBezTo>
                <a:close/>
              </a:path>
            </a:pathLst>
          </a:custGeom>
          <a:solidFill>
            <a:srgbClr val="5856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4564942" y="5732942"/>
            <a:ext cx="1249596" cy="168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1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Reflexion &amp; refinement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540366" y="6003125"/>
            <a:ext cx="5268565" cy="135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1"/>
          <p:cNvSpPr/>
          <p:nvPr/>
        </p:nvSpPr>
        <p:spPr>
          <a:xfrm>
            <a:off x="6229178" y="1452233"/>
            <a:ext cx="5623180" cy="2127690"/>
          </a:xfrm>
          <a:custGeom>
            <a:rect b="b" l="l" r="r" t="t"/>
            <a:pathLst>
              <a:path extrusionOk="0" h="2127690" w="5623180">
                <a:moveTo>
                  <a:pt x="202641" y="0"/>
                </a:moveTo>
                <a:lnTo>
                  <a:pt x="5420539" y="0"/>
                </a:lnTo>
                <a:cubicBezTo>
                  <a:pt x="5532455" y="0"/>
                  <a:pt x="5623180" y="90726"/>
                  <a:pt x="5623180" y="202641"/>
                </a:cubicBezTo>
                <a:lnTo>
                  <a:pt x="5623180" y="1925049"/>
                </a:lnTo>
                <a:cubicBezTo>
                  <a:pt x="5623180" y="2036964"/>
                  <a:pt x="5532455" y="2127690"/>
                  <a:pt x="5420539" y="2127690"/>
                </a:cubicBezTo>
                <a:lnTo>
                  <a:pt x="202641" y="2127690"/>
                </a:lnTo>
                <a:cubicBezTo>
                  <a:pt x="90726" y="2127690"/>
                  <a:pt x="0" y="2036964"/>
                  <a:pt x="0" y="1925049"/>
                </a:cubicBezTo>
                <a:lnTo>
                  <a:pt x="0" y="202641"/>
                </a:lnTo>
                <a:cubicBezTo>
                  <a:pt x="0" y="90726"/>
                  <a:pt x="90726" y="0"/>
                  <a:pt x="20264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1"/>
          <p:cNvSpPr/>
          <p:nvPr/>
        </p:nvSpPr>
        <p:spPr>
          <a:xfrm>
            <a:off x="6431816" y="1654870"/>
            <a:ext cx="337729" cy="337729"/>
          </a:xfrm>
          <a:custGeom>
            <a:rect b="b" l="l" r="r" t="t"/>
            <a:pathLst>
              <a:path extrusionOk="0" h="337729" w="337729">
                <a:moveTo>
                  <a:pt x="101319" y="0"/>
                </a:moveTo>
                <a:lnTo>
                  <a:pt x="236410" y="0"/>
                </a:lnTo>
                <a:cubicBezTo>
                  <a:pt x="292367" y="0"/>
                  <a:pt x="337729" y="45362"/>
                  <a:pt x="337729" y="101319"/>
                </a:cubicBezTo>
                <a:lnTo>
                  <a:pt x="337729" y="236410"/>
                </a:lnTo>
                <a:cubicBezTo>
                  <a:pt x="337729" y="292367"/>
                  <a:pt x="292367" y="337729"/>
                  <a:pt x="236410" y="337729"/>
                </a:cubicBezTo>
                <a:lnTo>
                  <a:pt x="101319" y="337729"/>
                </a:lnTo>
                <a:cubicBezTo>
                  <a:pt x="45362" y="337729"/>
                  <a:pt x="0" y="292367"/>
                  <a:pt x="0" y="236410"/>
                </a:cubicBezTo>
                <a:lnTo>
                  <a:pt x="0" y="101319"/>
                </a:lnTo>
                <a:cubicBezTo>
                  <a:pt x="0" y="45399"/>
                  <a:pt x="45399" y="0"/>
                  <a:pt x="101319" y="0"/>
                </a:cubicBezTo>
                <a:close/>
              </a:path>
            </a:pathLst>
          </a:custGeom>
          <a:solidFill>
            <a:srgbClr val="007AFF">
              <a:alpha val="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1"/>
          <p:cNvSpPr/>
          <p:nvPr/>
        </p:nvSpPr>
        <p:spPr>
          <a:xfrm>
            <a:off x="6526802" y="1747745"/>
            <a:ext cx="151978" cy="151978"/>
          </a:xfrm>
          <a:custGeom>
            <a:rect b="b" l="l" r="r" t="t"/>
            <a:pathLst>
              <a:path extrusionOk="0" h="151978" w="151978">
                <a:moveTo>
                  <a:pt x="0" y="23747"/>
                </a:moveTo>
                <a:cubicBezTo>
                  <a:pt x="0" y="15880"/>
                  <a:pt x="6382" y="9499"/>
                  <a:pt x="14248" y="9499"/>
                </a:cubicBezTo>
                <a:lnTo>
                  <a:pt x="42744" y="9499"/>
                </a:lnTo>
                <a:cubicBezTo>
                  <a:pt x="50610" y="9499"/>
                  <a:pt x="56992" y="15880"/>
                  <a:pt x="56992" y="23747"/>
                </a:cubicBezTo>
                <a:lnTo>
                  <a:pt x="56992" y="28496"/>
                </a:lnTo>
                <a:lnTo>
                  <a:pt x="94986" y="28496"/>
                </a:lnTo>
                <a:lnTo>
                  <a:pt x="94986" y="23747"/>
                </a:lnTo>
                <a:cubicBezTo>
                  <a:pt x="94986" y="15880"/>
                  <a:pt x="101368" y="9499"/>
                  <a:pt x="109234" y="9499"/>
                </a:cubicBezTo>
                <a:lnTo>
                  <a:pt x="137730" y="9499"/>
                </a:lnTo>
                <a:cubicBezTo>
                  <a:pt x="145596" y="9499"/>
                  <a:pt x="151978" y="15880"/>
                  <a:pt x="151978" y="23747"/>
                </a:cubicBezTo>
                <a:lnTo>
                  <a:pt x="151978" y="52242"/>
                </a:lnTo>
                <a:cubicBezTo>
                  <a:pt x="151978" y="60108"/>
                  <a:pt x="145596" y="66490"/>
                  <a:pt x="137730" y="66490"/>
                </a:cubicBezTo>
                <a:lnTo>
                  <a:pt x="109234" y="66490"/>
                </a:lnTo>
                <a:cubicBezTo>
                  <a:pt x="101368" y="66490"/>
                  <a:pt x="94986" y="60108"/>
                  <a:pt x="94986" y="52242"/>
                </a:cubicBezTo>
                <a:lnTo>
                  <a:pt x="94986" y="47493"/>
                </a:lnTo>
                <a:lnTo>
                  <a:pt x="56992" y="47493"/>
                </a:lnTo>
                <a:lnTo>
                  <a:pt x="56992" y="52242"/>
                </a:lnTo>
                <a:cubicBezTo>
                  <a:pt x="56992" y="54409"/>
                  <a:pt x="56487" y="56487"/>
                  <a:pt x="55626" y="58327"/>
                </a:cubicBezTo>
                <a:lnTo>
                  <a:pt x="75989" y="85488"/>
                </a:lnTo>
                <a:lnTo>
                  <a:pt x="99735" y="85488"/>
                </a:lnTo>
                <a:cubicBezTo>
                  <a:pt x="107601" y="85488"/>
                  <a:pt x="113983" y="91869"/>
                  <a:pt x="113983" y="99735"/>
                </a:cubicBezTo>
                <a:lnTo>
                  <a:pt x="113983" y="128231"/>
                </a:lnTo>
                <a:cubicBezTo>
                  <a:pt x="113983" y="136097"/>
                  <a:pt x="107601" y="142479"/>
                  <a:pt x="99735" y="142479"/>
                </a:cubicBezTo>
                <a:lnTo>
                  <a:pt x="71240" y="142479"/>
                </a:lnTo>
                <a:cubicBezTo>
                  <a:pt x="63374" y="142479"/>
                  <a:pt x="56992" y="136097"/>
                  <a:pt x="56992" y="128231"/>
                </a:cubicBezTo>
                <a:lnTo>
                  <a:pt x="56992" y="99735"/>
                </a:lnTo>
                <a:cubicBezTo>
                  <a:pt x="56992" y="97569"/>
                  <a:pt x="57496" y="95491"/>
                  <a:pt x="58357" y="93650"/>
                </a:cubicBezTo>
                <a:lnTo>
                  <a:pt x="37994" y="66490"/>
                </a:lnTo>
                <a:lnTo>
                  <a:pt x="14248" y="66490"/>
                </a:lnTo>
                <a:cubicBezTo>
                  <a:pt x="6382" y="66490"/>
                  <a:pt x="0" y="60108"/>
                  <a:pt x="0" y="52242"/>
                </a:cubicBezTo>
                <a:lnTo>
                  <a:pt x="0" y="23747"/>
                </a:lnTo>
                <a:close/>
              </a:path>
            </a:pathLst>
          </a:custGeom>
          <a:solidFill>
            <a:srgbClr val="007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6870863" y="1705529"/>
            <a:ext cx="2009485" cy="236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97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Interactive Knowledge Graph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1"/>
          <p:cNvSpPr/>
          <p:nvPr/>
        </p:nvSpPr>
        <p:spPr>
          <a:xfrm>
            <a:off x="6431816" y="2127690"/>
            <a:ext cx="5285452" cy="439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4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Visual network representation showing entities, relationships, and risk indicators with drill-down capabilities for detailed evidence inspection.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1"/>
          <p:cNvSpPr/>
          <p:nvPr/>
        </p:nvSpPr>
        <p:spPr>
          <a:xfrm>
            <a:off x="6431816" y="2701828"/>
            <a:ext cx="2558294" cy="675457"/>
          </a:xfrm>
          <a:custGeom>
            <a:rect b="b" l="l" r="r" t="t"/>
            <a:pathLst>
              <a:path extrusionOk="0" h="675457" w="2558294">
                <a:moveTo>
                  <a:pt x="101319" y="0"/>
                </a:moveTo>
                <a:lnTo>
                  <a:pt x="2456975" y="0"/>
                </a:lnTo>
                <a:cubicBezTo>
                  <a:pt x="2512932" y="0"/>
                  <a:pt x="2558294" y="45362"/>
                  <a:pt x="2558294" y="101319"/>
                </a:cubicBezTo>
                <a:lnTo>
                  <a:pt x="2558294" y="574139"/>
                </a:lnTo>
                <a:cubicBezTo>
                  <a:pt x="2558294" y="630095"/>
                  <a:pt x="2512932" y="675457"/>
                  <a:pt x="2456975" y="675457"/>
                </a:cubicBezTo>
                <a:lnTo>
                  <a:pt x="101319" y="675457"/>
                </a:lnTo>
                <a:cubicBezTo>
                  <a:pt x="45362" y="675457"/>
                  <a:pt x="0" y="630095"/>
                  <a:pt x="0" y="574139"/>
                </a:cubicBezTo>
                <a:lnTo>
                  <a:pt x="0" y="101319"/>
                </a:lnTo>
                <a:cubicBezTo>
                  <a:pt x="0" y="45399"/>
                  <a:pt x="45399" y="0"/>
                  <a:pt x="101319" y="0"/>
                </a:cubicBezTo>
                <a:close/>
              </a:path>
            </a:pathLst>
          </a:custGeom>
          <a:solidFill>
            <a:srgbClr val="F5F5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1"/>
          <p:cNvSpPr/>
          <p:nvPr/>
        </p:nvSpPr>
        <p:spPr>
          <a:xfrm>
            <a:off x="6482475" y="2803147"/>
            <a:ext cx="2456975" cy="270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96">
                <a:solidFill>
                  <a:srgbClr val="007AFF"/>
                </a:solidFill>
                <a:latin typeface="Liter"/>
                <a:ea typeface="Liter"/>
                <a:cs typeface="Liter"/>
                <a:sym typeface="Liter"/>
              </a:rPr>
              <a:t>Nodes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1"/>
          <p:cNvSpPr/>
          <p:nvPr/>
        </p:nvSpPr>
        <p:spPr>
          <a:xfrm>
            <a:off x="6503583" y="3107102"/>
            <a:ext cx="2414759" cy="168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1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Entities &amp; documents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1"/>
          <p:cNvSpPr/>
          <p:nvPr/>
        </p:nvSpPr>
        <p:spPr>
          <a:xfrm>
            <a:off x="9090504" y="2701828"/>
            <a:ext cx="2558294" cy="675457"/>
          </a:xfrm>
          <a:custGeom>
            <a:rect b="b" l="l" r="r" t="t"/>
            <a:pathLst>
              <a:path extrusionOk="0" h="675457" w="2558294">
                <a:moveTo>
                  <a:pt x="101319" y="0"/>
                </a:moveTo>
                <a:lnTo>
                  <a:pt x="2456975" y="0"/>
                </a:lnTo>
                <a:cubicBezTo>
                  <a:pt x="2512932" y="0"/>
                  <a:pt x="2558294" y="45362"/>
                  <a:pt x="2558294" y="101319"/>
                </a:cubicBezTo>
                <a:lnTo>
                  <a:pt x="2558294" y="574139"/>
                </a:lnTo>
                <a:cubicBezTo>
                  <a:pt x="2558294" y="630095"/>
                  <a:pt x="2512932" y="675457"/>
                  <a:pt x="2456975" y="675457"/>
                </a:cubicBezTo>
                <a:lnTo>
                  <a:pt x="101319" y="675457"/>
                </a:lnTo>
                <a:cubicBezTo>
                  <a:pt x="45362" y="675457"/>
                  <a:pt x="0" y="630095"/>
                  <a:pt x="0" y="574139"/>
                </a:cubicBezTo>
                <a:lnTo>
                  <a:pt x="0" y="101319"/>
                </a:lnTo>
                <a:cubicBezTo>
                  <a:pt x="0" y="45399"/>
                  <a:pt x="45399" y="0"/>
                  <a:pt x="101319" y="0"/>
                </a:cubicBezTo>
                <a:close/>
              </a:path>
            </a:pathLst>
          </a:custGeom>
          <a:solidFill>
            <a:srgbClr val="F5F5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9141164" y="2803147"/>
            <a:ext cx="2456975" cy="270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96">
                <a:solidFill>
                  <a:srgbClr val="34C759"/>
                </a:solidFill>
                <a:latin typeface="Liter"/>
                <a:ea typeface="Liter"/>
                <a:cs typeface="Liter"/>
                <a:sym typeface="Liter"/>
              </a:rPr>
              <a:t>Edges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1"/>
          <p:cNvSpPr/>
          <p:nvPr/>
        </p:nvSpPr>
        <p:spPr>
          <a:xfrm>
            <a:off x="9162272" y="3107102"/>
            <a:ext cx="2414759" cy="168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1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Relationships &amp; flows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1"/>
          <p:cNvSpPr/>
          <p:nvPr/>
        </p:nvSpPr>
        <p:spPr>
          <a:xfrm>
            <a:off x="6229178" y="3748787"/>
            <a:ext cx="5623180" cy="1621097"/>
          </a:xfrm>
          <a:custGeom>
            <a:rect b="b" l="l" r="r" t="t"/>
            <a:pathLst>
              <a:path extrusionOk="0" h="1621097" w="5623180">
                <a:moveTo>
                  <a:pt x="202637" y="0"/>
                </a:moveTo>
                <a:lnTo>
                  <a:pt x="5420543" y="0"/>
                </a:lnTo>
                <a:cubicBezTo>
                  <a:pt x="5532456" y="0"/>
                  <a:pt x="5623180" y="90724"/>
                  <a:pt x="5623180" y="202637"/>
                </a:cubicBezTo>
                <a:lnTo>
                  <a:pt x="5623180" y="1418460"/>
                </a:lnTo>
                <a:cubicBezTo>
                  <a:pt x="5623180" y="1530373"/>
                  <a:pt x="5532456" y="1621097"/>
                  <a:pt x="5420543" y="1621097"/>
                </a:cubicBezTo>
                <a:lnTo>
                  <a:pt x="202637" y="1621097"/>
                </a:lnTo>
                <a:cubicBezTo>
                  <a:pt x="90724" y="1621097"/>
                  <a:pt x="0" y="1530373"/>
                  <a:pt x="0" y="1418460"/>
                </a:cubicBezTo>
                <a:lnTo>
                  <a:pt x="0" y="202637"/>
                </a:lnTo>
                <a:cubicBezTo>
                  <a:pt x="0" y="90799"/>
                  <a:pt x="90799" y="0"/>
                  <a:pt x="20263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1"/>
          <p:cNvSpPr/>
          <p:nvPr/>
        </p:nvSpPr>
        <p:spPr>
          <a:xfrm>
            <a:off x="6431816" y="3951424"/>
            <a:ext cx="337729" cy="337729"/>
          </a:xfrm>
          <a:custGeom>
            <a:rect b="b" l="l" r="r" t="t"/>
            <a:pathLst>
              <a:path extrusionOk="0" h="337729" w="337729">
                <a:moveTo>
                  <a:pt x="101319" y="0"/>
                </a:moveTo>
                <a:lnTo>
                  <a:pt x="236410" y="0"/>
                </a:lnTo>
                <a:cubicBezTo>
                  <a:pt x="292367" y="0"/>
                  <a:pt x="337729" y="45362"/>
                  <a:pt x="337729" y="101319"/>
                </a:cubicBezTo>
                <a:lnTo>
                  <a:pt x="337729" y="236410"/>
                </a:lnTo>
                <a:cubicBezTo>
                  <a:pt x="337729" y="292367"/>
                  <a:pt x="292367" y="337729"/>
                  <a:pt x="236410" y="337729"/>
                </a:cubicBezTo>
                <a:lnTo>
                  <a:pt x="101319" y="337729"/>
                </a:lnTo>
                <a:cubicBezTo>
                  <a:pt x="45362" y="337729"/>
                  <a:pt x="0" y="292367"/>
                  <a:pt x="0" y="236410"/>
                </a:cubicBezTo>
                <a:lnTo>
                  <a:pt x="0" y="101319"/>
                </a:lnTo>
                <a:cubicBezTo>
                  <a:pt x="0" y="45399"/>
                  <a:pt x="45399" y="0"/>
                  <a:pt x="101319" y="0"/>
                </a:cubicBezTo>
                <a:close/>
              </a:path>
            </a:pathLst>
          </a:custGeom>
          <a:solidFill>
            <a:srgbClr val="FF3B30">
              <a:alpha val="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1"/>
          <p:cNvSpPr/>
          <p:nvPr/>
        </p:nvSpPr>
        <p:spPr>
          <a:xfrm>
            <a:off x="6526802" y="4044299"/>
            <a:ext cx="151978" cy="151978"/>
          </a:xfrm>
          <a:custGeom>
            <a:rect b="b" l="l" r="r" t="t"/>
            <a:pathLst>
              <a:path extrusionOk="0" h="151978" w="151978">
                <a:moveTo>
                  <a:pt x="75989" y="0"/>
                </a:moveTo>
                <a:cubicBezTo>
                  <a:pt x="80352" y="0"/>
                  <a:pt x="84360" y="2404"/>
                  <a:pt x="86437" y="6233"/>
                </a:cubicBezTo>
                <a:lnTo>
                  <a:pt x="150553" y="124966"/>
                </a:lnTo>
                <a:cubicBezTo>
                  <a:pt x="152542" y="128647"/>
                  <a:pt x="152453" y="133099"/>
                  <a:pt x="150316" y="136691"/>
                </a:cubicBezTo>
                <a:cubicBezTo>
                  <a:pt x="148178" y="140283"/>
                  <a:pt x="144290" y="142479"/>
                  <a:pt x="140105" y="142479"/>
                </a:cubicBezTo>
                <a:lnTo>
                  <a:pt x="11873" y="142479"/>
                </a:lnTo>
                <a:cubicBezTo>
                  <a:pt x="7688" y="142479"/>
                  <a:pt x="3829" y="140283"/>
                  <a:pt x="1662" y="136691"/>
                </a:cubicBezTo>
                <a:cubicBezTo>
                  <a:pt x="-505" y="133099"/>
                  <a:pt x="-564" y="128647"/>
                  <a:pt x="1425" y="124966"/>
                </a:cubicBezTo>
                <a:lnTo>
                  <a:pt x="65540" y="6233"/>
                </a:lnTo>
                <a:cubicBezTo>
                  <a:pt x="67618" y="2404"/>
                  <a:pt x="71625" y="0"/>
                  <a:pt x="75989" y="0"/>
                </a:cubicBezTo>
                <a:close/>
                <a:moveTo>
                  <a:pt x="75989" y="49868"/>
                </a:moveTo>
                <a:cubicBezTo>
                  <a:pt x="72041" y="49868"/>
                  <a:pt x="68865" y="53044"/>
                  <a:pt x="68865" y="56992"/>
                </a:cubicBezTo>
                <a:lnTo>
                  <a:pt x="68865" y="90237"/>
                </a:lnTo>
                <a:cubicBezTo>
                  <a:pt x="68865" y="94185"/>
                  <a:pt x="72041" y="97361"/>
                  <a:pt x="75989" y="97361"/>
                </a:cubicBezTo>
                <a:cubicBezTo>
                  <a:pt x="79937" y="97361"/>
                  <a:pt x="83113" y="94185"/>
                  <a:pt x="83113" y="90237"/>
                </a:cubicBezTo>
                <a:lnTo>
                  <a:pt x="83113" y="56992"/>
                </a:lnTo>
                <a:cubicBezTo>
                  <a:pt x="83113" y="53044"/>
                  <a:pt x="79937" y="49868"/>
                  <a:pt x="75989" y="49868"/>
                </a:cubicBezTo>
                <a:close/>
                <a:moveTo>
                  <a:pt x="83914" y="113983"/>
                </a:moveTo>
                <a:cubicBezTo>
                  <a:pt x="84095" y="111042"/>
                  <a:pt x="82628" y="108243"/>
                  <a:pt x="80106" y="106717"/>
                </a:cubicBezTo>
                <a:cubicBezTo>
                  <a:pt x="77584" y="105192"/>
                  <a:pt x="74424" y="105192"/>
                  <a:pt x="71902" y="106717"/>
                </a:cubicBezTo>
                <a:cubicBezTo>
                  <a:pt x="69380" y="108243"/>
                  <a:pt x="67913" y="111042"/>
                  <a:pt x="68093" y="113983"/>
                </a:cubicBezTo>
                <a:cubicBezTo>
                  <a:pt x="67913" y="116925"/>
                  <a:pt x="69380" y="119724"/>
                  <a:pt x="71902" y="121250"/>
                </a:cubicBezTo>
                <a:cubicBezTo>
                  <a:pt x="74424" y="122775"/>
                  <a:pt x="77584" y="122775"/>
                  <a:pt x="80106" y="121250"/>
                </a:cubicBezTo>
                <a:cubicBezTo>
                  <a:pt x="82628" y="119724"/>
                  <a:pt x="84095" y="116925"/>
                  <a:pt x="83914" y="113983"/>
                </a:cubicBezTo>
                <a:close/>
              </a:path>
            </a:pathLst>
          </a:custGeom>
          <a:solidFill>
            <a:srgbClr val="FF3B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1"/>
          <p:cNvSpPr/>
          <p:nvPr/>
        </p:nvSpPr>
        <p:spPr>
          <a:xfrm>
            <a:off x="6870863" y="4002083"/>
            <a:ext cx="1536665" cy="236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97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Risk Score Dashboard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1"/>
          <p:cNvSpPr/>
          <p:nvPr/>
        </p:nvSpPr>
        <p:spPr>
          <a:xfrm>
            <a:off x="6431816" y="4424244"/>
            <a:ext cx="5285452" cy="439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4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Composite risk scoring across multiple dimensions: regulatory, financial, reputational, and network-based indicators with trend analysis.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1"/>
          <p:cNvSpPr/>
          <p:nvPr/>
        </p:nvSpPr>
        <p:spPr>
          <a:xfrm>
            <a:off x="6431816" y="5032155"/>
            <a:ext cx="4601551" cy="101319"/>
          </a:xfrm>
          <a:custGeom>
            <a:rect b="b" l="l" r="r" t="t"/>
            <a:pathLst>
              <a:path extrusionOk="0" h="101319" w="4601551">
                <a:moveTo>
                  <a:pt x="50659" y="0"/>
                </a:moveTo>
                <a:lnTo>
                  <a:pt x="4550892" y="0"/>
                </a:lnTo>
                <a:cubicBezTo>
                  <a:pt x="4578870" y="0"/>
                  <a:pt x="4601551" y="22681"/>
                  <a:pt x="4601551" y="50659"/>
                </a:cubicBezTo>
                <a:lnTo>
                  <a:pt x="4601551" y="50659"/>
                </a:lnTo>
                <a:cubicBezTo>
                  <a:pt x="4601551" y="78638"/>
                  <a:pt x="4578870" y="101319"/>
                  <a:pt x="4550892" y="101319"/>
                </a:cubicBezTo>
                <a:lnTo>
                  <a:pt x="50659" y="101319"/>
                </a:lnTo>
                <a:cubicBezTo>
                  <a:pt x="22700" y="101319"/>
                  <a:pt x="0" y="78619"/>
                  <a:pt x="0" y="50659"/>
                </a:cubicBezTo>
                <a:lnTo>
                  <a:pt x="0" y="50659"/>
                </a:lnTo>
                <a:cubicBezTo>
                  <a:pt x="0" y="22700"/>
                  <a:pt x="22700" y="0"/>
                  <a:pt x="50659" y="0"/>
                </a:cubicBezTo>
                <a:close/>
              </a:path>
            </a:pathLst>
          </a:custGeom>
          <a:solidFill>
            <a:srgbClr val="F5F5F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1"/>
          <p:cNvSpPr/>
          <p:nvPr/>
        </p:nvSpPr>
        <p:spPr>
          <a:xfrm>
            <a:off x="6431816" y="5032155"/>
            <a:ext cx="3453274" cy="101319"/>
          </a:xfrm>
          <a:custGeom>
            <a:rect b="b" l="l" r="r" t="t"/>
            <a:pathLst>
              <a:path extrusionOk="0" h="101319" w="3453274">
                <a:moveTo>
                  <a:pt x="50659" y="0"/>
                </a:moveTo>
                <a:lnTo>
                  <a:pt x="3402615" y="0"/>
                </a:lnTo>
                <a:cubicBezTo>
                  <a:pt x="3430593" y="0"/>
                  <a:pt x="3453274" y="22681"/>
                  <a:pt x="3453274" y="50659"/>
                </a:cubicBezTo>
                <a:lnTo>
                  <a:pt x="3453274" y="50659"/>
                </a:lnTo>
                <a:cubicBezTo>
                  <a:pt x="3453274" y="78638"/>
                  <a:pt x="3430593" y="101319"/>
                  <a:pt x="3402615" y="101319"/>
                </a:cubicBezTo>
                <a:lnTo>
                  <a:pt x="50659" y="101319"/>
                </a:lnTo>
                <a:cubicBezTo>
                  <a:pt x="22700" y="101319"/>
                  <a:pt x="0" y="78619"/>
                  <a:pt x="0" y="50659"/>
                </a:cubicBezTo>
                <a:lnTo>
                  <a:pt x="0" y="50659"/>
                </a:lnTo>
                <a:cubicBezTo>
                  <a:pt x="0" y="22700"/>
                  <a:pt x="22700" y="0"/>
                  <a:pt x="50659" y="0"/>
                </a:cubicBezTo>
                <a:close/>
              </a:path>
            </a:pathLst>
          </a:custGeom>
          <a:gradFill>
            <a:gsLst>
              <a:gs pos="0">
                <a:srgbClr val="34C759"/>
              </a:gs>
              <a:gs pos="50000">
                <a:srgbClr val="FF9500"/>
              </a:gs>
              <a:gs pos="100000">
                <a:srgbClr val="FF3B3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1"/>
          <p:cNvSpPr/>
          <p:nvPr/>
        </p:nvSpPr>
        <p:spPr>
          <a:xfrm>
            <a:off x="11100649" y="4998382"/>
            <a:ext cx="607911" cy="168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31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Risk Score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1"/>
          <p:cNvSpPr/>
          <p:nvPr/>
        </p:nvSpPr>
        <p:spPr>
          <a:xfrm>
            <a:off x="6241381" y="5471199"/>
            <a:ext cx="5623180" cy="1221648"/>
          </a:xfrm>
          <a:custGeom>
            <a:rect b="b" l="l" r="r" t="t"/>
            <a:pathLst>
              <a:path extrusionOk="0" h="1317141" w="5623180">
                <a:moveTo>
                  <a:pt x="202642" y="0"/>
                </a:moveTo>
                <a:lnTo>
                  <a:pt x="5420538" y="0"/>
                </a:lnTo>
                <a:cubicBezTo>
                  <a:pt x="5532379" y="0"/>
                  <a:pt x="5623180" y="90801"/>
                  <a:pt x="5623180" y="202642"/>
                </a:cubicBezTo>
                <a:lnTo>
                  <a:pt x="5623180" y="1114499"/>
                </a:lnTo>
                <a:cubicBezTo>
                  <a:pt x="5623180" y="1226415"/>
                  <a:pt x="5532454" y="1317141"/>
                  <a:pt x="5420538" y="1317141"/>
                </a:cubicBezTo>
                <a:lnTo>
                  <a:pt x="202642" y="1317141"/>
                </a:lnTo>
                <a:cubicBezTo>
                  <a:pt x="90726" y="1317141"/>
                  <a:pt x="0" y="1226415"/>
                  <a:pt x="0" y="1114499"/>
                </a:cubicBezTo>
                <a:lnTo>
                  <a:pt x="0" y="202642"/>
                </a:lnTo>
                <a:cubicBezTo>
                  <a:pt x="0" y="90801"/>
                  <a:pt x="90801" y="0"/>
                  <a:pt x="20264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1"/>
          <p:cNvSpPr/>
          <p:nvPr/>
        </p:nvSpPr>
        <p:spPr>
          <a:xfrm>
            <a:off x="6431816" y="5599004"/>
            <a:ext cx="337729" cy="337729"/>
          </a:xfrm>
          <a:custGeom>
            <a:rect b="b" l="l" r="r" t="t"/>
            <a:pathLst>
              <a:path extrusionOk="0" h="337729" w="337729">
                <a:moveTo>
                  <a:pt x="101319" y="0"/>
                </a:moveTo>
                <a:lnTo>
                  <a:pt x="236410" y="0"/>
                </a:lnTo>
                <a:cubicBezTo>
                  <a:pt x="292367" y="0"/>
                  <a:pt x="337729" y="45362"/>
                  <a:pt x="337729" y="101319"/>
                </a:cubicBezTo>
                <a:lnTo>
                  <a:pt x="337729" y="236410"/>
                </a:lnTo>
                <a:cubicBezTo>
                  <a:pt x="337729" y="292367"/>
                  <a:pt x="292367" y="337729"/>
                  <a:pt x="236410" y="337729"/>
                </a:cubicBezTo>
                <a:lnTo>
                  <a:pt x="101319" y="337729"/>
                </a:lnTo>
                <a:cubicBezTo>
                  <a:pt x="45362" y="337729"/>
                  <a:pt x="0" y="292367"/>
                  <a:pt x="0" y="236410"/>
                </a:cubicBezTo>
                <a:lnTo>
                  <a:pt x="0" y="101319"/>
                </a:lnTo>
                <a:cubicBezTo>
                  <a:pt x="0" y="45399"/>
                  <a:pt x="45399" y="0"/>
                  <a:pt x="101319" y="0"/>
                </a:cubicBezTo>
                <a:close/>
              </a:path>
            </a:pathLst>
          </a:custGeom>
          <a:solidFill>
            <a:srgbClr val="5856D6">
              <a:alpha val="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1"/>
          <p:cNvSpPr/>
          <p:nvPr/>
        </p:nvSpPr>
        <p:spPr>
          <a:xfrm>
            <a:off x="6545799" y="5680014"/>
            <a:ext cx="113983" cy="151978"/>
          </a:xfrm>
          <a:custGeom>
            <a:rect b="b" l="l" r="r" t="t"/>
            <a:pathLst>
              <a:path extrusionOk="0" h="151978" w="113983">
                <a:moveTo>
                  <a:pt x="0" y="18997"/>
                </a:moveTo>
                <a:cubicBezTo>
                  <a:pt x="0" y="8519"/>
                  <a:pt x="8519" y="0"/>
                  <a:pt x="18997" y="0"/>
                </a:cubicBezTo>
                <a:lnTo>
                  <a:pt x="63374" y="0"/>
                </a:lnTo>
                <a:cubicBezTo>
                  <a:pt x="68420" y="0"/>
                  <a:pt x="73258" y="1989"/>
                  <a:pt x="76820" y="5551"/>
                </a:cubicBezTo>
                <a:lnTo>
                  <a:pt x="108433" y="37193"/>
                </a:lnTo>
                <a:cubicBezTo>
                  <a:pt x="111995" y="40755"/>
                  <a:pt x="113983" y="45593"/>
                  <a:pt x="113983" y="50639"/>
                </a:cubicBezTo>
                <a:lnTo>
                  <a:pt x="113983" y="132981"/>
                </a:lnTo>
                <a:cubicBezTo>
                  <a:pt x="113983" y="143459"/>
                  <a:pt x="105464" y="151978"/>
                  <a:pt x="94986" y="151978"/>
                </a:cubicBezTo>
                <a:lnTo>
                  <a:pt x="18997" y="151978"/>
                </a:lnTo>
                <a:cubicBezTo>
                  <a:pt x="8519" y="151978"/>
                  <a:pt x="0" y="143459"/>
                  <a:pt x="0" y="132981"/>
                </a:cubicBezTo>
                <a:lnTo>
                  <a:pt x="0" y="18997"/>
                </a:lnTo>
                <a:close/>
                <a:moveTo>
                  <a:pt x="61741" y="17365"/>
                </a:moveTo>
                <a:lnTo>
                  <a:pt x="61741" y="45118"/>
                </a:lnTo>
                <a:cubicBezTo>
                  <a:pt x="61741" y="49066"/>
                  <a:pt x="64917" y="52242"/>
                  <a:pt x="68865" y="52242"/>
                </a:cubicBezTo>
                <a:lnTo>
                  <a:pt x="96619" y="52242"/>
                </a:lnTo>
                <a:lnTo>
                  <a:pt x="61741" y="17365"/>
                </a:lnTo>
                <a:close/>
                <a:moveTo>
                  <a:pt x="35620" y="75989"/>
                </a:moveTo>
                <a:cubicBezTo>
                  <a:pt x="31672" y="75989"/>
                  <a:pt x="28496" y="79165"/>
                  <a:pt x="28496" y="83113"/>
                </a:cubicBezTo>
                <a:cubicBezTo>
                  <a:pt x="28496" y="87061"/>
                  <a:pt x="31672" y="90237"/>
                  <a:pt x="35620" y="90237"/>
                </a:cubicBezTo>
                <a:lnTo>
                  <a:pt x="78364" y="90237"/>
                </a:lnTo>
                <a:cubicBezTo>
                  <a:pt x="82311" y="90237"/>
                  <a:pt x="85488" y="87061"/>
                  <a:pt x="85488" y="83113"/>
                </a:cubicBezTo>
                <a:cubicBezTo>
                  <a:pt x="85488" y="79165"/>
                  <a:pt x="82311" y="75989"/>
                  <a:pt x="78364" y="75989"/>
                </a:cubicBezTo>
                <a:lnTo>
                  <a:pt x="35620" y="75989"/>
                </a:lnTo>
                <a:close/>
                <a:moveTo>
                  <a:pt x="35620" y="104485"/>
                </a:moveTo>
                <a:cubicBezTo>
                  <a:pt x="31672" y="104485"/>
                  <a:pt x="28496" y="107661"/>
                  <a:pt x="28496" y="111609"/>
                </a:cubicBezTo>
                <a:cubicBezTo>
                  <a:pt x="28496" y="115557"/>
                  <a:pt x="31672" y="118733"/>
                  <a:pt x="35620" y="118733"/>
                </a:cubicBezTo>
                <a:lnTo>
                  <a:pt x="78364" y="118733"/>
                </a:lnTo>
                <a:cubicBezTo>
                  <a:pt x="82311" y="118733"/>
                  <a:pt x="85488" y="115557"/>
                  <a:pt x="85488" y="111609"/>
                </a:cubicBezTo>
                <a:cubicBezTo>
                  <a:pt x="85488" y="107661"/>
                  <a:pt x="82311" y="104485"/>
                  <a:pt x="78364" y="104485"/>
                </a:cubicBezTo>
                <a:lnTo>
                  <a:pt x="35620" y="104485"/>
                </a:lnTo>
                <a:close/>
              </a:path>
            </a:pathLst>
          </a:custGeom>
          <a:solidFill>
            <a:srgbClr val="5856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1"/>
          <p:cNvSpPr/>
          <p:nvPr/>
        </p:nvSpPr>
        <p:spPr>
          <a:xfrm>
            <a:off x="6870863" y="5632307"/>
            <a:ext cx="13257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97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Evidence Citations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1"/>
          <p:cNvSpPr/>
          <p:nvPr/>
        </p:nvSpPr>
        <p:spPr>
          <a:xfrm>
            <a:off x="6431841" y="6035334"/>
            <a:ext cx="5285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4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Every finding hyperlinked to source documents with confidence intervals, enabling investigators to verify claims and build court-admissible case files.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images.stockcake.com/e234d6cf6b230a019feb25ed229d99cba9177c60.jpg" id="477" name="Google Shape;477;p12"/>
          <p:cNvPicPr preferRelativeResize="0"/>
          <p:nvPr/>
        </p:nvPicPr>
        <p:blipFill rotWithShape="1">
          <a:blip r:embed="rId3">
            <a:alphaModFix amt="15000"/>
          </a:blip>
          <a:srcRect b="21874" l="0" r="0" t="21875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478" name="Google Shape;478;p12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FFFFFF">
                  <a:alpha val="94901"/>
                </a:srgbClr>
              </a:gs>
              <a:gs pos="50000">
                <a:srgbClr val="FFFFFF">
                  <a:alpha val="89803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2"/>
          <p:cNvSpPr/>
          <p:nvPr/>
        </p:nvSpPr>
        <p:spPr>
          <a:xfrm>
            <a:off x="4853880" y="61912"/>
            <a:ext cx="2486025" cy="381000"/>
          </a:xfrm>
          <a:custGeom>
            <a:rect b="b" l="l" r="r" t="t"/>
            <a:pathLst>
              <a:path extrusionOk="0" h="381000" w="2486025">
                <a:moveTo>
                  <a:pt x="190500" y="0"/>
                </a:moveTo>
                <a:lnTo>
                  <a:pt x="2295525" y="0"/>
                </a:lnTo>
                <a:cubicBezTo>
                  <a:pt x="2400665" y="0"/>
                  <a:pt x="2486025" y="85360"/>
                  <a:pt x="2486025" y="190500"/>
                </a:cubicBezTo>
                <a:lnTo>
                  <a:pt x="2486025" y="190500"/>
                </a:lnTo>
                <a:cubicBezTo>
                  <a:pt x="2486025" y="295640"/>
                  <a:pt x="2400665" y="381000"/>
                  <a:pt x="2295525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gradFill>
            <a:gsLst>
              <a:gs pos="0">
                <a:srgbClr val="007AFF">
                  <a:alpha val="9803"/>
                </a:srgbClr>
              </a:gs>
              <a:gs pos="100000">
                <a:srgbClr val="5856D6">
                  <a:alpha val="9803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2"/>
          <p:cNvSpPr/>
          <p:nvPr/>
        </p:nvSpPr>
        <p:spPr>
          <a:xfrm>
            <a:off x="5011043" y="161925"/>
            <a:ext cx="2169914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07AFF"/>
                </a:solidFill>
                <a:latin typeface="Liter"/>
                <a:ea typeface="Liter"/>
                <a:cs typeface="Liter"/>
                <a:sym typeface="Liter"/>
              </a:rPr>
              <a:t>The Future of Intelligence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2"/>
          <p:cNvSpPr/>
          <p:nvPr/>
        </p:nvSpPr>
        <p:spPr>
          <a:xfrm>
            <a:off x="2585219" y="1128713"/>
            <a:ext cx="70199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Transforming Investigative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Intelligence at Scale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2"/>
          <p:cNvSpPr/>
          <p:nvPr/>
        </p:nvSpPr>
        <p:spPr>
          <a:xfrm>
            <a:off x="2381250" y="2862263"/>
            <a:ext cx="7429500" cy="1114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Weeks of manual research condensed into minutes of autonomous analysis while maintaining the highest standards of evidence integrity, auditability, and legal compliance.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2"/>
          <p:cNvSpPr/>
          <p:nvPr/>
        </p:nvSpPr>
        <p:spPr>
          <a:xfrm>
            <a:off x="1839144" y="4433888"/>
            <a:ext cx="2638425" cy="1714500"/>
          </a:xfrm>
          <a:custGeom>
            <a:rect b="b" l="l" r="r" t="t"/>
            <a:pathLst>
              <a:path extrusionOk="0" h="1714500" w="2638425">
                <a:moveTo>
                  <a:pt x="228594" y="0"/>
                </a:moveTo>
                <a:lnTo>
                  <a:pt x="2409831" y="0"/>
                </a:lnTo>
                <a:cubicBezTo>
                  <a:pt x="2535995" y="0"/>
                  <a:pt x="2638425" y="102430"/>
                  <a:pt x="2638425" y="228594"/>
                </a:cubicBezTo>
                <a:lnTo>
                  <a:pt x="2638425" y="1485906"/>
                </a:lnTo>
                <a:cubicBezTo>
                  <a:pt x="2638425" y="1612070"/>
                  <a:pt x="2535995" y="1714500"/>
                  <a:pt x="2409831" y="1714500"/>
                </a:cubicBezTo>
                <a:lnTo>
                  <a:pt x="228594" y="1714500"/>
                </a:lnTo>
                <a:cubicBezTo>
                  <a:pt x="102430" y="1714500"/>
                  <a:pt x="0" y="1612070"/>
                  <a:pt x="0" y="1485906"/>
                </a:cubicBezTo>
                <a:lnTo>
                  <a:pt x="0" y="228594"/>
                </a:lnTo>
                <a:cubicBezTo>
                  <a:pt x="0" y="102430"/>
                  <a:pt x="102430" y="0"/>
                  <a:pt x="228594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2"/>
          <p:cNvSpPr/>
          <p:nvPr/>
        </p:nvSpPr>
        <p:spPr>
          <a:xfrm>
            <a:off x="2889796" y="4662488"/>
            <a:ext cx="533400" cy="533400"/>
          </a:xfrm>
          <a:custGeom>
            <a:rect b="b" l="l" r="r" t="t"/>
            <a:pathLst>
              <a:path extrusionOk="0" h="533400" w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>
            <a:gsLst>
              <a:gs pos="0">
                <a:srgbClr val="007AFF"/>
              </a:gs>
              <a:gs pos="100000">
                <a:srgbClr val="5856D6"/>
              </a:gs>
            </a:gsLst>
            <a:lin ang="2700000" scaled="0"/>
          </a:gra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2"/>
          <p:cNvSpPr/>
          <p:nvPr/>
        </p:nvSpPr>
        <p:spPr>
          <a:xfrm>
            <a:off x="3042196" y="4814888"/>
            <a:ext cx="228600" cy="228600"/>
          </a:xfrm>
          <a:custGeom>
            <a:rect b="b" l="l" r="r" t="t"/>
            <a:pathLst>
              <a:path extrusionOk="0" h="228600" w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2"/>
          <p:cNvSpPr/>
          <p:nvPr/>
        </p:nvSpPr>
        <p:spPr>
          <a:xfrm>
            <a:off x="2024881" y="5348288"/>
            <a:ext cx="2266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Autonomous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2"/>
          <p:cNvSpPr/>
          <p:nvPr/>
        </p:nvSpPr>
        <p:spPr>
          <a:xfrm>
            <a:off x="2029644" y="5691188"/>
            <a:ext cx="22574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Self-directed multi-agent swarm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4778648" y="4433888"/>
            <a:ext cx="2638425" cy="1714500"/>
          </a:xfrm>
          <a:custGeom>
            <a:rect b="b" l="l" r="r" t="t"/>
            <a:pathLst>
              <a:path extrusionOk="0" h="1714500" w="2638425">
                <a:moveTo>
                  <a:pt x="228594" y="0"/>
                </a:moveTo>
                <a:lnTo>
                  <a:pt x="2409831" y="0"/>
                </a:lnTo>
                <a:cubicBezTo>
                  <a:pt x="2535995" y="0"/>
                  <a:pt x="2638425" y="102430"/>
                  <a:pt x="2638425" y="228594"/>
                </a:cubicBezTo>
                <a:lnTo>
                  <a:pt x="2638425" y="1485906"/>
                </a:lnTo>
                <a:cubicBezTo>
                  <a:pt x="2638425" y="1612070"/>
                  <a:pt x="2535995" y="1714500"/>
                  <a:pt x="2409831" y="1714500"/>
                </a:cubicBezTo>
                <a:lnTo>
                  <a:pt x="228594" y="1714500"/>
                </a:lnTo>
                <a:cubicBezTo>
                  <a:pt x="102430" y="1714500"/>
                  <a:pt x="0" y="1612070"/>
                  <a:pt x="0" y="1485906"/>
                </a:cubicBezTo>
                <a:lnTo>
                  <a:pt x="0" y="228594"/>
                </a:lnTo>
                <a:cubicBezTo>
                  <a:pt x="0" y="102430"/>
                  <a:pt x="102430" y="0"/>
                  <a:pt x="228594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5829300" y="4662488"/>
            <a:ext cx="533400" cy="533400"/>
          </a:xfrm>
          <a:custGeom>
            <a:rect b="b" l="l" r="r" t="t"/>
            <a:pathLst>
              <a:path extrusionOk="0" h="533400" w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>
            <a:gsLst>
              <a:gs pos="0">
                <a:srgbClr val="34C759"/>
              </a:gs>
              <a:gs pos="100000">
                <a:srgbClr val="30D158"/>
              </a:gs>
            </a:gsLst>
            <a:lin ang="2700000" scaled="0"/>
          </a:gra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5981700" y="4814888"/>
            <a:ext cx="228600" cy="228600"/>
          </a:xfrm>
          <a:custGeom>
            <a:rect b="b" l="l" r="r" t="t"/>
            <a:pathLst>
              <a:path extrusionOk="0" h="228600" w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2"/>
          <p:cNvSpPr/>
          <p:nvPr/>
        </p:nvSpPr>
        <p:spPr>
          <a:xfrm>
            <a:off x="4964385" y="5348288"/>
            <a:ext cx="2266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Compliant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2"/>
          <p:cNvSpPr/>
          <p:nvPr/>
        </p:nvSpPr>
        <p:spPr>
          <a:xfrm>
            <a:off x="4969148" y="5691188"/>
            <a:ext cx="22574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Court-admissible evidence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2"/>
          <p:cNvSpPr/>
          <p:nvPr/>
        </p:nvSpPr>
        <p:spPr>
          <a:xfrm>
            <a:off x="7718152" y="4433888"/>
            <a:ext cx="2638425" cy="1714500"/>
          </a:xfrm>
          <a:custGeom>
            <a:rect b="b" l="l" r="r" t="t"/>
            <a:pathLst>
              <a:path extrusionOk="0" h="1714500" w="2638425">
                <a:moveTo>
                  <a:pt x="228594" y="0"/>
                </a:moveTo>
                <a:lnTo>
                  <a:pt x="2409831" y="0"/>
                </a:lnTo>
                <a:cubicBezTo>
                  <a:pt x="2535995" y="0"/>
                  <a:pt x="2638425" y="102430"/>
                  <a:pt x="2638425" y="228594"/>
                </a:cubicBezTo>
                <a:lnTo>
                  <a:pt x="2638425" y="1485906"/>
                </a:lnTo>
                <a:cubicBezTo>
                  <a:pt x="2638425" y="1612070"/>
                  <a:pt x="2535995" y="1714500"/>
                  <a:pt x="2409831" y="1714500"/>
                </a:cubicBezTo>
                <a:lnTo>
                  <a:pt x="228594" y="1714500"/>
                </a:lnTo>
                <a:cubicBezTo>
                  <a:pt x="102430" y="1714500"/>
                  <a:pt x="0" y="1612070"/>
                  <a:pt x="0" y="1485906"/>
                </a:cubicBezTo>
                <a:lnTo>
                  <a:pt x="0" y="228594"/>
                </a:lnTo>
                <a:cubicBezTo>
                  <a:pt x="0" y="102430"/>
                  <a:pt x="102430" y="0"/>
                  <a:pt x="228594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8768804" y="4662488"/>
            <a:ext cx="533400" cy="533400"/>
          </a:xfrm>
          <a:custGeom>
            <a:rect b="b" l="l" r="r" t="t"/>
            <a:pathLst>
              <a:path extrusionOk="0" h="533400" w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>
            <a:gsLst>
              <a:gs pos="0">
                <a:srgbClr val="FF9500"/>
              </a:gs>
              <a:gs pos="100000">
                <a:srgbClr val="FF6B00"/>
              </a:gs>
            </a:gsLst>
            <a:lin ang="2700000" scaled="0"/>
          </a:gradFill>
          <a:ln>
            <a:noFill/>
          </a:ln>
          <a:effectLst>
            <a:outerShdw blurRad="101600" rotWithShape="0" algn="bl" dir="2700000" dist="50800">
              <a:srgbClr val="FFFFFF">
                <a:alpha val="7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2"/>
          <p:cNvSpPr/>
          <p:nvPr/>
        </p:nvSpPr>
        <p:spPr>
          <a:xfrm>
            <a:off x="8921204" y="4814888"/>
            <a:ext cx="228600" cy="228600"/>
          </a:xfrm>
          <a:custGeom>
            <a:rect b="b" l="l" r="r" t="t"/>
            <a:pathLst>
              <a:path extrusionOk="0" h="228600" w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7903890" y="5348288"/>
            <a:ext cx="2266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D1D1F"/>
                </a:solidFill>
                <a:latin typeface="Liter"/>
                <a:ea typeface="Liter"/>
                <a:cs typeface="Liter"/>
                <a:sym typeface="Liter"/>
              </a:rPr>
              <a:t>Scalable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2"/>
          <p:cNvSpPr/>
          <p:nvPr/>
        </p:nvSpPr>
        <p:spPr>
          <a:xfrm>
            <a:off x="7908652" y="5691188"/>
            <a:ext cx="22574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Unlimited parallel investigations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2"/>
          <p:cNvSpPr/>
          <p:nvPr/>
        </p:nvSpPr>
        <p:spPr>
          <a:xfrm>
            <a:off x="3579688" y="6643688"/>
            <a:ext cx="114300" cy="114300"/>
          </a:xfrm>
          <a:custGeom>
            <a:rect b="b" l="l" r="r" t="t"/>
            <a:pathLst>
              <a:path extrusionOk="0" h="114300" w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007A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2"/>
          <p:cNvSpPr/>
          <p:nvPr/>
        </p:nvSpPr>
        <p:spPr>
          <a:xfrm>
            <a:off x="3774951" y="6605588"/>
            <a:ext cx="24669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Autonomous OSINT Investigation Swarm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6432724" y="6624638"/>
            <a:ext cx="9525" cy="152400"/>
          </a:xfrm>
          <a:custGeom>
            <a:rect b="b" l="l" r="r" t="t"/>
            <a:pathLst>
              <a:path extrusionOk="0" h="152400" w="9525">
                <a:moveTo>
                  <a:pt x="0" y="0"/>
                </a:moveTo>
                <a:lnTo>
                  <a:pt x="9525" y="0"/>
                </a:lnTo>
                <a:lnTo>
                  <a:pt x="9525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86868B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2"/>
          <p:cNvSpPr/>
          <p:nvPr/>
        </p:nvSpPr>
        <p:spPr>
          <a:xfrm>
            <a:off x="6637511" y="6605588"/>
            <a:ext cx="20097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AI-Powered Intelligence Platform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2026-02-08T18:23:39Z</dcterms:created>
  <dc:creator>Kimi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{"Label":"Autonomous OSINT Investigation Swarm","ContentProducer":"001191110108MACG2KBH8F10000","ProduceID":"19c3e7c8-33b2-8431-8000-0000633e43b9","ReservedCode1":"","ContentPropagator":"001191110108MACG2KBH8F20000","PropagateID":"19c3e7c8-33b2-8431-8000-0000633e43b9","ReservedCode2":""}</vt:lpwstr>
  </property>
</Properties>
</file>